
<file path=[Content_Types].xml><?xml version="1.0" encoding="utf-8"?>
<Types xmlns="http://schemas.openxmlformats.org/package/2006/content-types">
  <Default Extension="fna&amp;_nc_ss=7b2a8&amp;oh=03_Q7cD6gGZE7jaWjLyNEyRzvjocO3cJmvZK_PLZNXIvLyBCuNW5w&amp;oe=6B052927" ContentType="image/jpeg"/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6" r:id="rId11"/>
    <p:sldId id="337" r:id="rId12"/>
    <p:sldId id="338" r:id="rId13"/>
    <p:sldId id="339" r:id="rId14"/>
    <p:sldId id="357" r:id="rId15"/>
    <p:sldId id="358" r:id="rId16"/>
    <p:sldId id="341" r:id="rId17"/>
    <p:sldId id="342" r:id="rId18"/>
    <p:sldId id="340" r:id="rId19"/>
    <p:sldId id="343" r:id="rId20"/>
    <p:sldId id="344" r:id="rId21"/>
    <p:sldId id="359" r:id="rId22"/>
    <p:sldId id="361" r:id="rId23"/>
    <p:sldId id="360" r:id="rId24"/>
    <p:sldId id="356" r:id="rId25"/>
    <p:sldId id="352" r:id="rId26"/>
    <p:sldId id="346" r:id="rId27"/>
    <p:sldId id="355" r:id="rId28"/>
    <p:sldId id="353" r:id="rId29"/>
    <p:sldId id="350" r:id="rId30"/>
    <p:sldId id="354" r:id="rId31"/>
    <p:sldId id="351" r:id="rId32"/>
    <p:sldId id="345" r:id="rId33"/>
    <p:sldId id="349" r:id="rId34"/>
    <p:sldId id="348" r:id="rId3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774A"/>
    <a:srgbClr val="C8B8DA"/>
    <a:srgbClr val="F09E3A"/>
    <a:srgbClr val="196797"/>
    <a:srgbClr val="005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F311C-DA6B-44BB-9FB9-93AA85C9F4BD}" v="62" dt="2026-10-28T01:01:22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476" autoAdjust="0"/>
  </p:normalViewPr>
  <p:slideViewPr>
    <p:cSldViewPr snapToGrid="0">
      <p:cViewPr varScale="1">
        <p:scale>
          <a:sx n="58" d="100"/>
          <a:sy n="58" d="100"/>
        </p:scale>
        <p:origin x="7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lcaria" userId="069d7e81-a184-449a-8682-79cd0874737e" providerId="ADAL" clId="{0D782A21-24D2-4A1B-AFF5-EED025CB62C5}"/>
    <pc:docChg chg="undo custSel modSld">
      <pc:chgData name="Christian Alcaria" userId="069d7e81-a184-449a-8682-79cd0874737e" providerId="ADAL" clId="{0D782A21-24D2-4A1B-AFF5-EED025CB62C5}" dt="2026-10-28T01:01:22.048" v="340"/>
      <pc:docMkLst>
        <pc:docMk/>
      </pc:docMkLst>
      <pc:sldChg chg="modSp mod">
        <pc:chgData name="Christian Alcaria" userId="069d7e81-a184-449a-8682-79cd0874737e" providerId="ADAL" clId="{0D782A21-24D2-4A1B-AFF5-EED025CB62C5}" dt="2026-10-27T23:49:37.775" v="2"/>
        <pc:sldMkLst>
          <pc:docMk/>
          <pc:sldMk cId="3687078150" sldId="332"/>
        </pc:sldMkLst>
        <pc:spChg chg="mod">
          <ac:chgData name="Christian Alcaria" userId="069d7e81-a184-449a-8682-79cd0874737e" providerId="ADAL" clId="{0D782A21-24D2-4A1B-AFF5-EED025CB62C5}" dt="2026-10-27T23:49:37.775" v="2"/>
          <ac:spMkLst>
            <pc:docMk/>
            <pc:sldMk cId="3687078150" sldId="332"/>
            <ac:spMk id="46" creationId="{C19184C0-B924-A449-D57C-54BD022691DB}"/>
          </ac:spMkLst>
        </pc:spChg>
      </pc:sldChg>
      <pc:sldChg chg="modSp mod">
        <pc:chgData name="Christian Alcaria" userId="069d7e81-a184-449a-8682-79cd0874737e" providerId="ADAL" clId="{0D782A21-24D2-4A1B-AFF5-EED025CB62C5}" dt="2026-10-27T23:51:57.866" v="122" actId="20577"/>
        <pc:sldMkLst>
          <pc:docMk/>
          <pc:sldMk cId="4023784431" sldId="333"/>
        </pc:sldMkLst>
        <pc:graphicFrameChg chg="modGraphic">
          <ac:chgData name="Christian Alcaria" userId="069d7e81-a184-449a-8682-79cd0874737e" providerId="ADAL" clId="{0D782A21-24D2-4A1B-AFF5-EED025CB62C5}" dt="2026-10-27T23:51:57.866" v="122" actId="20577"/>
          <ac:graphicFrameMkLst>
            <pc:docMk/>
            <pc:sldMk cId="4023784431" sldId="333"/>
            <ac:graphicFrameMk id="3" creationId="{8B085AB2-F2C8-385A-12DA-615F16DE800F}"/>
          </ac:graphicFrameMkLst>
        </pc:graphicFrameChg>
      </pc:sldChg>
      <pc:sldChg chg="modSp mod">
        <pc:chgData name="Christian Alcaria" userId="069d7e81-a184-449a-8682-79cd0874737e" providerId="ADAL" clId="{0D782A21-24D2-4A1B-AFF5-EED025CB62C5}" dt="2026-10-27T23:53:46.269" v="131" actId="20577"/>
        <pc:sldMkLst>
          <pc:docMk/>
          <pc:sldMk cId="2485351726" sldId="339"/>
        </pc:sldMkLst>
        <pc:spChg chg="mod">
          <ac:chgData name="Christian Alcaria" userId="069d7e81-a184-449a-8682-79cd0874737e" providerId="ADAL" clId="{0D782A21-24D2-4A1B-AFF5-EED025CB62C5}" dt="2026-10-27T23:53:46.269" v="131" actId="20577"/>
          <ac:spMkLst>
            <pc:docMk/>
            <pc:sldMk cId="2485351726" sldId="339"/>
            <ac:spMk id="8" creationId="{5F370C4B-CA22-3164-EF90-71BD437A5A9A}"/>
          </ac:spMkLst>
        </pc:spChg>
      </pc:sldChg>
      <pc:sldChg chg="modSp mod">
        <pc:chgData name="Christian Alcaria" userId="069d7e81-a184-449a-8682-79cd0874737e" providerId="ADAL" clId="{0D782A21-24D2-4A1B-AFF5-EED025CB62C5}" dt="2026-10-27T23:55:17.570" v="138" actId="20577"/>
        <pc:sldMkLst>
          <pc:docMk/>
          <pc:sldMk cId="2941117462" sldId="342"/>
        </pc:sldMkLst>
        <pc:spChg chg="mod">
          <ac:chgData name="Christian Alcaria" userId="069d7e81-a184-449a-8682-79cd0874737e" providerId="ADAL" clId="{0D782A21-24D2-4A1B-AFF5-EED025CB62C5}" dt="2026-10-27T23:55:17.570" v="138" actId="20577"/>
          <ac:spMkLst>
            <pc:docMk/>
            <pc:sldMk cId="2941117462" sldId="342"/>
            <ac:spMk id="41" creationId="{78F11AFB-93D7-ECA4-7185-3284D926B7E8}"/>
          </ac:spMkLst>
        </pc:spChg>
      </pc:sldChg>
      <pc:sldChg chg="modSp mod">
        <pc:chgData name="Christian Alcaria" userId="069d7e81-a184-449a-8682-79cd0874737e" providerId="ADAL" clId="{0D782A21-24D2-4A1B-AFF5-EED025CB62C5}" dt="2026-10-28T00:15:09.424" v="237" actId="20577"/>
        <pc:sldMkLst>
          <pc:docMk/>
          <pc:sldMk cId="1625281965" sldId="346"/>
        </pc:sldMkLst>
        <pc:spChg chg="mod">
          <ac:chgData name="Christian Alcaria" userId="069d7e81-a184-449a-8682-79cd0874737e" providerId="ADAL" clId="{0D782A21-24D2-4A1B-AFF5-EED025CB62C5}" dt="2026-10-28T00:15:09.424" v="237" actId="20577"/>
          <ac:spMkLst>
            <pc:docMk/>
            <pc:sldMk cId="1625281965" sldId="346"/>
            <ac:spMk id="16" creationId="{7F61945C-776F-F054-CC71-56BECE73A0F5}"/>
          </ac:spMkLst>
        </pc:spChg>
      </pc:sldChg>
      <pc:sldChg chg="modSp mod">
        <pc:chgData name="Christian Alcaria" userId="069d7e81-a184-449a-8682-79cd0874737e" providerId="ADAL" clId="{0D782A21-24D2-4A1B-AFF5-EED025CB62C5}" dt="2026-10-28T00:37:33.396" v="332" actId="20577"/>
        <pc:sldMkLst>
          <pc:docMk/>
          <pc:sldMk cId="2937510344" sldId="350"/>
        </pc:sldMkLst>
        <pc:graphicFrameChg chg="mod modGraphic">
          <ac:chgData name="Christian Alcaria" userId="069d7e81-a184-449a-8682-79cd0874737e" providerId="ADAL" clId="{0D782A21-24D2-4A1B-AFF5-EED025CB62C5}" dt="2026-10-28T00:37:33.396" v="332" actId="20577"/>
          <ac:graphicFrameMkLst>
            <pc:docMk/>
            <pc:sldMk cId="2937510344" sldId="350"/>
            <ac:graphicFrameMk id="100" creationId="{2555693F-B5A5-EE5F-FBD9-B93E83D29F89}"/>
          </ac:graphicFrameMkLst>
        </pc:graphicFrameChg>
      </pc:sldChg>
      <pc:sldChg chg="modSp mod">
        <pc:chgData name="Christian Alcaria" userId="069d7e81-a184-449a-8682-79cd0874737e" providerId="ADAL" clId="{0D782A21-24D2-4A1B-AFF5-EED025CB62C5}" dt="2026-10-28T00:13:21.474" v="212" actId="20577"/>
        <pc:sldMkLst>
          <pc:docMk/>
          <pc:sldMk cId="3879028525" sldId="352"/>
        </pc:sldMkLst>
        <pc:spChg chg="mod">
          <ac:chgData name="Christian Alcaria" userId="069d7e81-a184-449a-8682-79cd0874737e" providerId="ADAL" clId="{0D782A21-24D2-4A1B-AFF5-EED025CB62C5}" dt="2026-10-28T00:11:41.642" v="201" actId="20577"/>
          <ac:spMkLst>
            <pc:docMk/>
            <pc:sldMk cId="3879028525" sldId="352"/>
            <ac:spMk id="81" creationId="{50313A87-511B-3C87-269A-391F71959EDE}"/>
          </ac:spMkLst>
        </pc:spChg>
        <pc:spChg chg="mod">
          <ac:chgData name="Christian Alcaria" userId="069d7e81-a184-449a-8682-79cd0874737e" providerId="ADAL" clId="{0D782A21-24D2-4A1B-AFF5-EED025CB62C5}" dt="2026-10-28T00:12:14.966" v="204" actId="20577"/>
          <ac:spMkLst>
            <pc:docMk/>
            <pc:sldMk cId="3879028525" sldId="352"/>
            <ac:spMk id="85" creationId="{F8039733-6A71-5C3A-2630-EF3D1494CF97}"/>
          </ac:spMkLst>
        </pc:spChg>
        <pc:spChg chg="mod">
          <ac:chgData name="Christian Alcaria" userId="069d7e81-a184-449a-8682-79cd0874737e" providerId="ADAL" clId="{0D782A21-24D2-4A1B-AFF5-EED025CB62C5}" dt="2026-10-28T00:12:50.057" v="209" actId="20577"/>
          <ac:spMkLst>
            <pc:docMk/>
            <pc:sldMk cId="3879028525" sldId="352"/>
            <ac:spMk id="87" creationId="{6A31EB8B-2FAE-AC70-3D71-0BA44431214D}"/>
          </ac:spMkLst>
        </pc:spChg>
        <pc:spChg chg="mod">
          <ac:chgData name="Christian Alcaria" userId="069d7e81-a184-449a-8682-79cd0874737e" providerId="ADAL" clId="{0D782A21-24D2-4A1B-AFF5-EED025CB62C5}" dt="2026-10-28T00:13:21.474" v="212" actId="20577"/>
          <ac:spMkLst>
            <pc:docMk/>
            <pc:sldMk cId="3879028525" sldId="352"/>
            <ac:spMk id="89" creationId="{E5E1D8FF-F005-0485-55B1-8DDA11F570DC}"/>
          </ac:spMkLst>
        </pc:spChg>
      </pc:sldChg>
      <pc:sldChg chg="modSp mod">
        <pc:chgData name="Christian Alcaria" userId="069d7e81-a184-449a-8682-79cd0874737e" providerId="ADAL" clId="{0D782A21-24D2-4A1B-AFF5-EED025CB62C5}" dt="2026-10-28T00:35:06.854" v="303" actId="20577"/>
        <pc:sldMkLst>
          <pc:docMk/>
          <pc:sldMk cId="3056496831" sldId="353"/>
        </pc:sldMkLst>
        <pc:spChg chg="mod">
          <ac:chgData name="Christian Alcaria" userId="069d7e81-a184-449a-8682-79cd0874737e" providerId="ADAL" clId="{0D782A21-24D2-4A1B-AFF5-EED025CB62C5}" dt="2026-10-28T00:18:49.825" v="278" actId="20577"/>
          <ac:spMkLst>
            <pc:docMk/>
            <pc:sldMk cId="3056496831" sldId="353"/>
            <ac:spMk id="81" creationId="{9A4E88A2-0BED-1913-4402-A52538D1BAEF}"/>
          </ac:spMkLst>
        </pc:spChg>
        <pc:spChg chg="mod">
          <ac:chgData name="Christian Alcaria" userId="069d7e81-a184-449a-8682-79cd0874737e" providerId="ADAL" clId="{0D782A21-24D2-4A1B-AFF5-EED025CB62C5}" dt="2026-10-28T00:33:46.264" v="286" actId="20577"/>
          <ac:spMkLst>
            <pc:docMk/>
            <pc:sldMk cId="3056496831" sldId="353"/>
            <ac:spMk id="83" creationId="{D8FAC475-6812-90C4-902C-75D423116D9A}"/>
          </ac:spMkLst>
        </pc:spChg>
        <pc:spChg chg="mod">
          <ac:chgData name="Christian Alcaria" userId="069d7e81-a184-449a-8682-79cd0874737e" providerId="ADAL" clId="{0D782A21-24D2-4A1B-AFF5-EED025CB62C5}" dt="2026-10-28T00:34:19.133" v="295" actId="20577"/>
          <ac:spMkLst>
            <pc:docMk/>
            <pc:sldMk cId="3056496831" sldId="353"/>
            <ac:spMk id="85" creationId="{18341937-FBFB-3FCE-BED9-B9A9F25FA54E}"/>
          </ac:spMkLst>
        </pc:spChg>
        <pc:spChg chg="mod">
          <ac:chgData name="Christian Alcaria" userId="069d7e81-a184-449a-8682-79cd0874737e" providerId="ADAL" clId="{0D782A21-24D2-4A1B-AFF5-EED025CB62C5}" dt="2026-10-28T00:34:42.139" v="299" actId="20577"/>
          <ac:spMkLst>
            <pc:docMk/>
            <pc:sldMk cId="3056496831" sldId="353"/>
            <ac:spMk id="87" creationId="{65C22035-3936-7ACF-48CD-FEE6D3E8816A}"/>
          </ac:spMkLst>
        </pc:spChg>
        <pc:spChg chg="mod">
          <ac:chgData name="Christian Alcaria" userId="069d7e81-a184-449a-8682-79cd0874737e" providerId="ADAL" clId="{0D782A21-24D2-4A1B-AFF5-EED025CB62C5}" dt="2026-10-28T00:35:06.854" v="303" actId="20577"/>
          <ac:spMkLst>
            <pc:docMk/>
            <pc:sldMk cId="3056496831" sldId="353"/>
            <ac:spMk id="89" creationId="{9A7CA89D-C276-AE19-3AE2-27C0936CF7D2}"/>
          </ac:spMkLst>
        </pc:spChg>
      </pc:sldChg>
      <pc:sldChg chg="modSp mod">
        <pc:chgData name="Christian Alcaria" userId="069d7e81-a184-449a-8682-79cd0874737e" providerId="ADAL" clId="{0D782A21-24D2-4A1B-AFF5-EED025CB62C5}" dt="2026-10-28T01:01:22.048" v="340"/>
        <pc:sldMkLst>
          <pc:docMk/>
          <pc:sldMk cId="4239860559" sldId="354"/>
        </pc:sldMkLst>
        <pc:spChg chg="mod">
          <ac:chgData name="Christian Alcaria" userId="069d7e81-a184-449a-8682-79cd0874737e" providerId="ADAL" clId="{0D782A21-24D2-4A1B-AFF5-EED025CB62C5}" dt="2026-10-28T00:38:39.402" v="334"/>
          <ac:spMkLst>
            <pc:docMk/>
            <pc:sldMk cId="4239860559" sldId="354"/>
            <ac:spMk id="81" creationId="{2005A9D8-F6B9-6F25-06D4-4769331E93DB}"/>
          </ac:spMkLst>
        </pc:spChg>
        <pc:spChg chg="mod">
          <ac:chgData name="Christian Alcaria" userId="069d7e81-a184-449a-8682-79cd0874737e" providerId="ADAL" clId="{0D782A21-24D2-4A1B-AFF5-EED025CB62C5}" dt="2026-10-28T00:38:49.326" v="335"/>
          <ac:spMkLst>
            <pc:docMk/>
            <pc:sldMk cId="4239860559" sldId="354"/>
            <ac:spMk id="83" creationId="{5C57E6B0-C947-0949-F129-DD41F6B9D1EE}"/>
          </ac:spMkLst>
        </pc:spChg>
        <pc:spChg chg="mod">
          <ac:chgData name="Christian Alcaria" userId="069d7e81-a184-449a-8682-79cd0874737e" providerId="ADAL" clId="{0D782A21-24D2-4A1B-AFF5-EED025CB62C5}" dt="2026-10-28T00:47:04.758" v="339" actId="20577"/>
          <ac:spMkLst>
            <pc:docMk/>
            <pc:sldMk cId="4239860559" sldId="354"/>
            <ac:spMk id="85" creationId="{238596D9-9C49-AAC1-5D90-6AE9FF6EAC3A}"/>
          </ac:spMkLst>
        </pc:spChg>
        <pc:spChg chg="mod">
          <ac:chgData name="Christian Alcaria" userId="069d7e81-a184-449a-8682-79cd0874737e" providerId="ADAL" clId="{0D782A21-24D2-4A1B-AFF5-EED025CB62C5}" dt="2026-10-28T01:01:22.048" v="340"/>
          <ac:spMkLst>
            <pc:docMk/>
            <pc:sldMk cId="4239860559" sldId="354"/>
            <ac:spMk id="87" creationId="{5895C9C6-8AB7-C9C3-7E78-8C8268DBB18F}"/>
          </ac:spMkLst>
        </pc:spChg>
      </pc:sldChg>
      <pc:sldChg chg="modSp mod">
        <pc:chgData name="Christian Alcaria" userId="069d7e81-a184-449a-8682-79cd0874737e" providerId="ADAL" clId="{0D782A21-24D2-4A1B-AFF5-EED025CB62C5}" dt="2026-10-28T00:17:48.921" v="270" actId="20577"/>
        <pc:sldMkLst>
          <pc:docMk/>
          <pc:sldMk cId="759491858" sldId="355"/>
        </pc:sldMkLst>
        <pc:graphicFrameChg chg="mod modGraphic">
          <ac:chgData name="Christian Alcaria" userId="069d7e81-a184-449a-8682-79cd0874737e" providerId="ADAL" clId="{0D782A21-24D2-4A1B-AFF5-EED025CB62C5}" dt="2026-10-28T00:17:48.921" v="270" actId="20577"/>
          <ac:graphicFrameMkLst>
            <pc:docMk/>
            <pc:sldMk cId="759491858" sldId="355"/>
            <ac:graphicFrameMk id="100" creationId="{317A7700-35B1-8D24-8C17-661E40D85976}"/>
          </ac:graphicFrameMkLst>
        </pc:graphicFrameChg>
      </pc:sldChg>
      <pc:sldChg chg="addSp delSp modSp mod">
        <pc:chgData name="Christian Alcaria" userId="069d7e81-a184-449a-8682-79cd0874737e" providerId="ADAL" clId="{0D782A21-24D2-4A1B-AFF5-EED025CB62C5}" dt="2026-10-28T00:10:39.231" v="198" actId="108"/>
        <pc:sldMkLst>
          <pc:docMk/>
          <pc:sldMk cId="1586722298" sldId="356"/>
        </pc:sldMkLst>
        <pc:graphicFrameChg chg="mod modGraphic">
          <ac:chgData name="Christian Alcaria" userId="069d7e81-a184-449a-8682-79cd0874737e" providerId="ADAL" clId="{0D782A21-24D2-4A1B-AFF5-EED025CB62C5}" dt="2026-10-28T00:10:39.231" v="198" actId="108"/>
          <ac:graphicFrameMkLst>
            <pc:docMk/>
            <pc:sldMk cId="1586722298" sldId="356"/>
            <ac:graphicFrameMk id="100" creationId="{C33A31C3-E194-0F35-5A67-B26F92A56C67}"/>
          </ac:graphicFrameMkLst>
        </pc:graphicFrameChg>
        <pc:picChg chg="add del">
          <ac:chgData name="Christian Alcaria" userId="069d7e81-a184-449a-8682-79cd0874737e" providerId="ADAL" clId="{0D782A21-24D2-4A1B-AFF5-EED025CB62C5}" dt="2026-10-28T00:06:27.559" v="149" actId="22"/>
          <ac:picMkLst>
            <pc:docMk/>
            <pc:sldMk cId="1586722298" sldId="356"/>
            <ac:picMk id="5" creationId="{04286A11-EBBF-5788-C426-46508460D991}"/>
          </ac:picMkLst>
        </pc:picChg>
      </pc:sldChg>
      <pc:sldChg chg="addSp delSp modSp mod">
        <pc:chgData name="Christian Alcaria" userId="069d7e81-a184-449a-8682-79cd0874737e" providerId="ADAL" clId="{0D782A21-24D2-4A1B-AFF5-EED025CB62C5}" dt="2026-10-28T00:01:54.492" v="147" actId="22"/>
        <pc:sldMkLst>
          <pc:docMk/>
          <pc:sldMk cId="3711302442" sldId="359"/>
        </pc:sldMkLst>
        <pc:picChg chg="add del mod">
          <ac:chgData name="Christian Alcaria" userId="069d7e81-a184-449a-8682-79cd0874737e" providerId="ADAL" clId="{0D782A21-24D2-4A1B-AFF5-EED025CB62C5}" dt="2026-10-28T00:01:29" v="146" actId="478"/>
          <ac:picMkLst>
            <pc:docMk/>
            <pc:sldMk cId="3711302442" sldId="359"/>
            <ac:picMk id="5" creationId="{02B95B4A-6626-B474-0DCE-408DB495F809}"/>
          </ac:picMkLst>
        </pc:picChg>
        <pc:picChg chg="add">
          <ac:chgData name="Christian Alcaria" userId="069d7e81-a184-449a-8682-79cd0874737e" providerId="ADAL" clId="{0D782A21-24D2-4A1B-AFF5-EED025CB62C5}" dt="2026-10-28T00:01:54.492" v="147" actId="22"/>
          <ac:picMkLst>
            <pc:docMk/>
            <pc:sldMk cId="3711302442" sldId="359"/>
            <ac:picMk id="7" creationId="{471CCEA8-25D7-064B-9A86-E5F8398156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481E-2481-D796-B70B-B2945CA6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118B6-BB0D-3932-F804-58C826396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AF589-CC7A-95B3-095C-B4695A6B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41BD-B846-0CA3-D6F1-33BC3C0A6E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769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4D25-4029-DDDF-F86D-B009B443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5B7E5-842F-5856-45C0-056309776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CAE6-AB7B-2D43-F6B4-1FED93DC8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3BEA-1ED3-86E4-FE6C-59C3462E8A3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3729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A45E-9021-AF8D-49B4-2CB48516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7DF0A-5851-0FBB-4FE2-4A1E476C7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12EE3-61FB-789E-AC4D-FB16C1B67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2DDA9-2D73-0D51-E2FC-B33ABEA8BE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32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A6F9-24B8-24D2-F0C1-F85EF981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35824-FB59-2E53-A047-98F9111B0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E91FE-90DF-B19E-4B68-D0B8BBDB8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00BE4-6770-22E3-97B9-0A834F18D1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450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F786-E507-E283-F519-B8AF2103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0ADB8-8A30-854B-684B-058982F28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08B35-95A5-9EE2-4E96-3F1CC45B9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F05B-8B52-4489-BA2C-A519571B05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6199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E03E-A94E-3C87-4102-4DB25595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96885-0D4B-E743-B6A9-265594838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56C0A-6EB2-A2F2-92C4-553A0858B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55AFF-3346-A5F0-161F-5208F9FEB38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0041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E010-1F76-BEF9-F50E-92D28098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F3FF9-B3E8-4A00-6075-D8B1C4CDB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B6973-115F-948B-8073-024D5AD22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AD660-C919-0E13-B611-598736A7E4F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5092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DC55-016D-909A-AC11-B7EDF3ED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C3B68-D49E-AFA1-8851-CF4D1DE5B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BABA3-CECF-236E-3C79-A584FE6ED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8C351-D9C3-48D5-89E2-78DC928D9D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4894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B1BF5-E926-2CFF-8221-B3D6F695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F1AF4-A190-EF3E-83EC-F1DD8E143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A5FDC-15A3-FC6E-209B-042BDB30B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B7CF-B966-15E1-8884-31377E049BD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7343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8677-D24D-A5BF-EA36-359C3F8D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3D0E9-4CEA-55F9-81C3-E769B7B86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F8450-694E-2808-09C5-A815CF6A5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FE36-1EB2-6D46-0A67-92ECD0FF73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7073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7560-2B62-B9E2-5AF1-CE011BA15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2752B-36BB-53A8-3C07-FD673D635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2D30B-FF98-C2AB-8F73-F101EE5F5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1DCB3-CCA2-9932-C467-D6722637DE7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8354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542A-739F-C4BA-747A-AADEBE1A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566CD-98F0-1576-BAA2-88F7F3485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98A00-F7C0-59C6-31FA-E3E26584E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3E67-08A5-253F-6F41-7268E96630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191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4D55A-CDC9-9552-1FD8-DED56740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845D3-40B3-ACFC-0BA0-E39715F58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9D2F9-1F02-4996-92E3-468648ED2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51169-9A5C-236E-1589-1F086D1AF9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2374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25AD-F8FF-DEAA-7825-91863293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C4FBC-26EB-9973-3858-D4C1FFBE8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A25A7-5F42-9D6B-8935-5F5E9A376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B8F8C-D86E-66BC-1081-499EB83F89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1154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05A1-AB66-C563-1ED9-885C399B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565C8-03E8-53DC-ABA7-F9EC16A48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3C822-81E3-81E5-BA2C-20C9C2BD5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4102C-E00B-03B3-856B-C001EC91A4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2177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948F-CA12-F381-8695-94E9024E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D5DEB-BF77-BBD2-247C-381489CAF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28A92-1631-21DB-8EFE-0F5DEE940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9044C-E13E-54D6-1950-EF5DB95237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7845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7141F-A0F5-5DA5-1149-6E686278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A3FCC-E222-BAE3-16C0-4F243BAC6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73BD1-A260-8B6B-2FB8-5F8960B8F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287C6-7EA8-DA5F-80B6-D9E9361F23F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708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3471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ABAD-D45D-A184-256A-5C3D7732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0F743-BB0E-77A9-628E-62F9FDB57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A6F3A-91E5-53F5-65B2-2814D9FC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E0345-9048-1F38-76C0-E381230BCC4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11308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7081-EECB-8088-E42B-0440C46F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CBDC1-91A8-3923-DF04-F43F68104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8CBE0-69A7-C103-D047-AF835454E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A0351-EA0C-C9C8-2A9C-C228E58539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170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C4393-6A4F-93EA-1970-ECB48FB2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2E63A-DC71-0BDD-347A-8D65E6544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414AF-D137-F3CD-A5CB-BD63510D2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8D292-95AB-A9F7-D5E2-4F355EDA5FE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2396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C42C-C317-36A3-D930-581F7E98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4D79C-6603-E38B-8895-7252EF8AD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94077-E0A4-CA4D-4032-678979F5F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2556A-8CCF-4F5F-1834-CD3560338F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9200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FD0D-6AD5-13CF-5527-041DEF4D7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A2DF6-E7A8-280A-5607-D6870934F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3AE23-2F70-9348-8004-662EBD86B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D1BC8-C013-F089-28A5-4057387EAE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965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1748-BECA-BAA2-B40D-6E9D6871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29D14-AB92-D1BA-6D48-2622A0C25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D7607-4096-24E3-1C9A-42903E68F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larger groups add a requirements analyst and test designer. Roles are workshop responsibilities, not a hierarchy. Give every student a contribution.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D8CB9-F8D7-B46F-E80E-C1A98ECA26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858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ustomer Log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79" y="1910661"/>
            <a:ext cx="10075817" cy="1822951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024" y="3663940"/>
            <a:ext cx="9091747" cy="96379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3D49E3EF-4EA4-7A98-AFBC-422170047FE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681181" y="740229"/>
            <a:ext cx="3810000" cy="116694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t>click to add logo</a:t>
            </a:r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68BDF-C671-DE92-7752-F5CAAD3575B0}"/>
              </a:ext>
            </a:extLst>
          </p:cNvPr>
          <p:cNvSpPr>
            <a:spLocks noGrp="1"/>
          </p:cNvSpPr>
          <p:nvPr/>
        </p:nvSpPr>
        <p:spPr>
          <a:xfrm>
            <a:off x="685983" y="811713"/>
            <a:ext cx="1515851" cy="1007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0208E-6D84-40D2-8AD1-756EA2E6A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6024" y="777152"/>
            <a:ext cx="1302242" cy="1087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179" y="2086896"/>
            <a:ext cx="8781200" cy="16127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8306" y="3625619"/>
            <a:ext cx="8781200" cy="89413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9F370-D576-4835-9F76-34138ED603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366" y="1968016"/>
            <a:ext cx="2211263" cy="18461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51" y="2924280"/>
            <a:ext cx="11259571" cy="16127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278" y="4396221"/>
            <a:ext cx="11233444" cy="89413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946DD2-2690-F2D6-F6B6-1A0133CB0675}"/>
              </a:ext>
            </a:extLst>
          </p:cNvPr>
          <p:cNvSpPr>
            <a:spLocks noGrp="1"/>
          </p:cNvSpPr>
          <p:nvPr/>
        </p:nvSpPr>
        <p:spPr>
          <a:xfrm>
            <a:off x="0" y="1778939"/>
            <a:ext cx="12218127" cy="1115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2516F01-51B8-1BC2-8F9E-43F3690491C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280482" y="1972638"/>
            <a:ext cx="2633769" cy="760288"/>
          </a:xfrm>
        </p:spPr>
        <p:txBody>
          <a:bodyPr anchor="ctr"/>
          <a:lstStyle>
            <a:lvl1pPr marL="0" indent="0" algn="l">
              <a:lnSpc>
                <a:spcPct val="70000"/>
              </a:lnSpc>
              <a:spcBef>
                <a:spcPts val="0"/>
              </a:spcBef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t>Logo             Here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287280B-41D0-4CAF-9C41-A5C2338E9494}"/>
              </a:ext>
            </a:extLst>
          </p:cNvPr>
          <p:cNvSpPr>
            <a:spLocks noGrp="1"/>
          </p:cNvSpPr>
          <p:nvPr/>
        </p:nvSpPr>
        <p:spPr>
          <a:xfrm>
            <a:off x="1797142" y="2507329"/>
            <a:ext cx="26713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129B196-F755-477E-B458-86E90A4AAC7E}"/>
              </a:ext>
            </a:extLst>
          </p:cNvPr>
          <p:cNvSpPr>
            <a:spLocks noGrp="1"/>
          </p:cNvSpPr>
          <p:nvPr/>
        </p:nvSpPr>
        <p:spPr>
          <a:xfrm>
            <a:off x="1930708" y="2374445"/>
            <a:ext cx="0" cy="26576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E6E13E-0D7D-4038-BAAA-495A2C9113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407" y="1792998"/>
            <a:ext cx="1302242" cy="1087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97CB-3448-0E85-BB79-001BCADE5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17" y="1576251"/>
            <a:ext cx="7791005" cy="1612659"/>
          </a:xfrm>
          <a:prstGeom prst="rect">
            <a:avLst/>
          </a:prstGeom>
        </p:spPr>
        <p:txBody>
          <a:bodyPr anchor="b"/>
          <a:lstStyle>
            <a:lvl1pPr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Divider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2556B-A2A9-9C82-9025-2BD00C4938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8596" y="3103733"/>
            <a:ext cx="5422273" cy="1500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Divider Slide Subtitle</a:t>
            </a:r>
          </a:p>
        </p:txBody>
      </p:sp>
      <p:sp>
        <p:nvSpPr>
          <p:cNvPr id="10" name="Slide Number Placeholder 23">
            <a:extLst>
              <a:ext uri="{FF2B5EF4-FFF2-40B4-BE49-F238E27FC236}">
                <a16:creationId xmlns:a16="http://schemas.microsoft.com/office/drawing/2014/main" id="{82EA1C9F-A83F-F03B-CCCA-D693351EF5B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0A9D0D3D-D15B-D7E7-1A13-DE17419E57F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3563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60C1B-C19E-417B-B762-8C89F223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6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ernat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3">
            <a:extLst>
              <a:ext uri="{FF2B5EF4-FFF2-40B4-BE49-F238E27FC236}">
                <a16:creationId xmlns:a16="http://schemas.microsoft.com/office/drawing/2014/main" id="{82EA1C9F-A83F-F03B-CCCA-D693351EF5B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0A9D0D3D-D15B-D7E7-1A13-DE17419E57F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599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5210A3-F720-69D2-1418-2A2B8080C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419" y="1576251"/>
            <a:ext cx="6668545" cy="1612659"/>
          </a:xfrm>
          <a:prstGeom prst="rect">
            <a:avLst/>
          </a:prstGeom>
        </p:spPr>
        <p:txBody>
          <a:bodyPr anchor="b"/>
          <a:lstStyle>
            <a:lvl1pPr algn="r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Divider Slide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81CDFA5-487A-F387-BA1C-D7702BD1CA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55502" y="3103733"/>
            <a:ext cx="5422273" cy="1500187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Divider Slide 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E72F47-98DA-46A3-807D-5DF2643C7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6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0047187-A7F9-4491-A897-450229776CCF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681045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B8104F1-781B-43B0-9595-AB2BCA2CE63B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607822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8002" y="1219200"/>
            <a:ext cx="6502187" cy="4773770"/>
          </a:xfrm>
        </p:spPr>
        <p:txBody>
          <a:bodyPr>
            <a:normAutofit/>
          </a:bodyPr>
          <a:lstStyle>
            <a:lvl1pPr marL="514350" indent="-514350">
              <a:lnSpc>
                <a:spcPct val="125000"/>
              </a:lnSpc>
              <a:buFont typeface="+mj-lt"/>
              <a:buAutoNum type="arabicPeriod"/>
              <a:defRPr sz="3200"/>
            </a:lvl1pPr>
          </a:lstStyle>
          <a:p>
            <a:pPr lvl="0">
              <a:buNone/>
            </a:pPr>
            <a:r>
              <a:t>Click to add agenda items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34D6083-84A4-A5DB-6228-6EEB92A4A64A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9FCBEE8-AFB9-589E-6ECA-624D0CCA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4" y="276701"/>
            <a:ext cx="6923615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D97B40-3D3A-4C2E-9B64-6D582BD0B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9D76D4B-1B11-4859-A835-4AC5D80595A1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681045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930D599-EB84-4745-B902-3C191047F6BB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607822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8002" y="1588468"/>
            <a:ext cx="6900617" cy="47737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28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34D6083-84A4-A5DB-6228-6EEB92A4A64A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sp>
        <p:nvSpPr>
          <p:cNvPr id="15" name="Content Placeholder 25">
            <a:extLst>
              <a:ext uri="{FF2B5EF4-FFF2-40B4-BE49-F238E27FC236}">
                <a16:creationId xmlns:a16="http://schemas.microsoft.com/office/drawing/2014/main" id="{101070C2-B05F-C760-FFF0-D83086B19F3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58720" y="578074"/>
            <a:ext cx="3564796" cy="57841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C71E170-5B10-C135-2D33-C51AD5FDCA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8002" y="1038383"/>
            <a:ext cx="6900617" cy="36511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Slide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6F4CCB4-FDDA-F666-6092-EDC21EBB9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5" y="276701"/>
            <a:ext cx="6960996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78B35-167A-407B-9180-B0384351D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C023554-2614-4514-9FF0-594169E7A700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1129967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PH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93BC6907-6DE8-E971-19F0-A1219696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4" y="276701"/>
            <a:ext cx="11389971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5A23D84-3F8E-D9B7-04DD-6208A4FA90E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8002" y="1038383"/>
            <a:ext cx="11389833" cy="36511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Slide Subtitle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22C711E-9243-438C-A515-9323794FC7A7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10530055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PH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/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8002" y="1643063"/>
            <a:ext cx="11314418" cy="44196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5E53536D-5A6C-381E-34E8-3C0FC336E80C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4788C-506E-4EA8-83DA-8220FB1E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48671C-305A-3729-8B06-6E845F849236}"/>
              </a:ext>
            </a:extLst>
          </p:cNvPr>
          <p:cNvSpPr>
            <a:spLocks noGrp="1"/>
          </p:cNvSpPr>
          <p:nvPr/>
        </p:nvSpPr>
        <p:spPr>
          <a:xfrm>
            <a:off x="0" y="2875002"/>
            <a:ext cx="121919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1" name="Date Placeholder 8">
            <a:extLst>
              <a:ext uri="{FF2B5EF4-FFF2-40B4-BE49-F238E27FC236}">
                <a16:creationId xmlns:a16="http://schemas.microsoft.com/office/drawing/2014/main" id="{B9022593-03FE-E188-37E9-AFA36508346F}"/>
              </a:ext>
            </a:extLst>
          </p:cNvPr>
          <p:cNvSpPr>
            <a:spLocks noGrp="1"/>
          </p:cNvSpPr>
          <p:nvPr/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 defTabSz="914400"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99772556-380A-C941-8820-D9DA311A1F3C}" type="datetime4">
              <a:rPr lang="en-US" sz="1400"/>
              <a:t>October 28, 2026</a:t>
            </a:fld>
            <a:endParaRPr sz="1400"/>
          </a:p>
        </p:txBody>
      </p:sp>
      <p:sp>
        <p:nvSpPr>
          <p:cNvPr id="22" name="Slide Number Placeholder 23">
            <a:extLst>
              <a:ext uri="{FF2B5EF4-FFF2-40B4-BE49-F238E27FC236}">
                <a16:creationId xmlns:a16="http://schemas.microsoft.com/office/drawing/2014/main" id="{B4E2C96F-84D7-1B0F-8E06-5E267DAA95DA}"/>
              </a:ext>
            </a:extLst>
          </p:cNvPr>
          <p:cNvSpPr>
            <a:spLocks noGrp="1"/>
          </p:cNvSpPr>
          <p:nvPr/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18252151-2B7E-3C46-8FEA-BD351472BD71}" type="slidenum">
              <a:rPr sz="1400"/>
              <a:t>‹#›</a:t>
            </a:fld>
            <a:endParaRPr sz="1400"/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DC57F1BE-B71E-70CF-4FC3-95D0D6FCF409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03E24-7D13-49FC-A7A9-B74CDC3D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8063" y="5040721"/>
            <a:ext cx="1655869" cy="13824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E2563-330F-BDD0-0160-6EA8B9049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320" y="183578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CCDEFDDD-8BAA-4CE7-8C79-9308A90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ED3F5-258C-C8FB-5C6A-FE87BEBEFB3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6546C-B800-6DA2-A81F-6DF832B4136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E1FD2-2BF8-3635-1161-3B614014E5B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F8928-93E4-274E-9983-0B427259B1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chemeClr val="tx1">
              <a:lumMod val="50000"/>
            </a:schemeClr>
          </a:solidFill>
          <a:latin typeface="Calibri"/>
          <a:ea typeface="Calibri"/>
          <a:cs typeface="Calibri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christian-matthew-alcaria-093a5a1a9/?isSelfProfile=true" TargetMode="External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2.jpeg"/><Relationship Id="rId9" Type="http://schemas.openxmlformats.org/officeDocument/2006/relationships/image" Target="../media/image16.org&amp;utm_campaign=index&amp;utm_content=thumbnai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fna&amp;_nc_ss=7b2a8&amp;oh=03_Q7cD6gGZE7jaWjLyNEyRzvjocO3cJmvZK_PLZNXIvLyBCuNW5w&amp;oe=6B052927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3cloudsolutions.com/awards/" TargetMode="External"/><Relationship Id="rId2" Type="http://schemas.openxmlformats.org/officeDocument/2006/relationships/hyperlink" Target="https://3cloudsolutions.com/resources/3cloud-acquires-pragmatic-works-consulting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prnewswire.com/" TargetMode="External"/><Relationship Id="rId5" Type="http://schemas.openxmlformats.org/officeDocument/2006/relationships/hyperlink" Target="https://techcommunity.microsoft.com/blog/partnernews/partner-case-study--3cloud/4445266" TargetMode="External"/><Relationship Id="rId4" Type="http://schemas.openxmlformats.org/officeDocument/2006/relationships/hyperlink" Target="https://3cloudsolutions.com/resources/microsoft-recognizes-3cloud-as-top-azure-partner-worldwide-with-multiple-partner-of-the-year-award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8FD5-4A39-2967-A374-DBDB3520D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Day One:</a:t>
            </a:r>
            <a:br>
              <a:rPr lang="en-PH" dirty="0"/>
            </a:br>
            <a:r>
              <a:rPr lang="en-PH" dirty="0"/>
              <a:t>Welcome to Data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B55A4-471F-548E-28E2-291BEA876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H" i="1" dirty="0"/>
              <a:t>Christian Alcaria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2CC5-401C-8336-0614-B5DE44DAD892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3D305-C5E5-5F5A-42B9-B2A588E7AAFD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04732-906E-A44D-5C10-237AB040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275" y="150822"/>
            <a:ext cx="1601864" cy="11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16" descr="Alteryx - Credly">
            <a:extLst>
              <a:ext uri="{FF2B5EF4-FFF2-40B4-BE49-F238E27FC236}">
                <a16:creationId xmlns:a16="http://schemas.microsoft.com/office/drawing/2014/main" id="{4F15BCDD-846A-30F9-B066-5B02CF59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02" y="5006710"/>
            <a:ext cx="484632" cy="484632"/>
          </a:xfrm>
          <a:prstGeom prst="rect">
            <a:avLst/>
          </a:prstGeom>
        </p:spPr>
      </p:pic>
      <p:pic>
        <p:nvPicPr>
          <p:cNvPr id="113" name="Picture 112" descr="Snowflake | LinkedIn">
            <a:extLst>
              <a:ext uri="{FF2B5EF4-FFF2-40B4-BE49-F238E27FC236}">
                <a16:creationId xmlns:a16="http://schemas.microsoft.com/office/drawing/2014/main" id="{639EFFD7-6BD0-8409-8E9C-3EF24A1A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702" y="4357026"/>
            <a:ext cx="484632" cy="484632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8E254BFD-85E7-60B8-FBBC-119A085DD22E}"/>
              </a:ext>
            </a:extLst>
          </p:cNvPr>
          <p:cNvSpPr/>
          <p:nvPr/>
        </p:nvSpPr>
        <p:spPr>
          <a:xfrm>
            <a:off x="6604702" y="3707342"/>
            <a:ext cx="484632" cy="484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108" descr="Databricks Company Profile Funding &amp; Investors | YourStory">
            <a:extLst>
              <a:ext uri="{FF2B5EF4-FFF2-40B4-BE49-F238E27FC236}">
                <a16:creationId xmlns:a16="http://schemas.microsoft.com/office/drawing/2014/main" id="{B9B808A6-753C-18BA-CABA-5780561E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98" t="9783" r="9209" b="10124"/>
          <a:stretch>
            <a:fillRect/>
          </a:stretch>
        </p:blipFill>
        <p:spPr>
          <a:xfrm>
            <a:off x="6604702" y="1758290"/>
            <a:ext cx="484632" cy="484632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5E377C48-2F5C-A9D7-162A-AF7397B30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702" y="2407974"/>
            <a:ext cx="484632" cy="484632"/>
          </a:xfrm>
          <a:prstGeom prst="rect">
            <a:avLst/>
          </a:prstGeom>
        </p:spPr>
      </p:pic>
      <p:pic>
        <p:nvPicPr>
          <p:cNvPr id="106" name="Picture 105" descr="dbt for Mac, Windows, and Linux - WebCatalog">
            <a:extLst>
              <a:ext uri="{FF2B5EF4-FFF2-40B4-BE49-F238E27FC236}">
                <a16:creationId xmlns:a16="http://schemas.microsoft.com/office/drawing/2014/main" id="{E9BA1E78-4D58-0C2D-AF88-A99E70CC2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702" y="3057658"/>
            <a:ext cx="484632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81E650-E917-683C-ABA7-219586420B1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Your Facilitator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918F4-4D7E-D651-AB98-D51D41011F60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4F63-82D5-676C-4871-904C6D0B029D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822427-FC32-A75C-463A-5C1DD7C0F1AB}"/>
              </a:ext>
            </a:extLst>
          </p:cNvPr>
          <p:cNvSpPr/>
          <p:nvPr/>
        </p:nvSpPr>
        <p:spPr>
          <a:xfrm>
            <a:off x="0" y="5938787"/>
            <a:ext cx="3407343" cy="919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823A15-51E7-DBB9-E93A-FE769CAD8B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rcRect l="5614" r="11345"/>
          <a:stretch>
            <a:fillRect/>
          </a:stretch>
        </p:blipFill>
        <p:spPr>
          <a:xfrm>
            <a:off x="-1" y="2743200"/>
            <a:ext cx="3416969" cy="4114800"/>
          </a:xfrm>
          <a:prstGeom prst="rect">
            <a:avLst/>
          </a:prstGeom>
        </p:spPr>
      </p:pic>
      <p:sp>
        <p:nvSpPr>
          <p:cNvPr id="21" name="text">
            <a:extLst>
              <a:ext uri="{FF2B5EF4-FFF2-40B4-BE49-F238E27FC236}">
                <a16:creationId xmlns:a16="http://schemas.microsoft.com/office/drawing/2014/main" id="{BA8E81B6-C388-0BAF-08D1-6AEBA8B1CF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16968" y="5938787"/>
            <a:ext cx="8378007" cy="4866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dirty="0"/>
              <a:t>      </a:t>
            </a:r>
            <a:r>
              <a:rPr sz="24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Christian Alcari</a:t>
            </a:r>
            <a:r>
              <a:rPr lang="en-US" sz="24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b="0" dirty="0">
                <a:solidFill>
                  <a:schemeClr val="tx1"/>
                </a:solidFill>
              </a:rPr>
              <a:t>, 3Cloud </a:t>
            </a:r>
            <a:r>
              <a:rPr lang="en-US" sz="24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Lead Consultant / Data Engineer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endParaRPr lang="en-US" sz="24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Picture 23" descr="File:LinkedIn icon.svg - Wikimedia Commons">
            <a:hlinkClick r:id="rId8"/>
            <a:extLst>
              <a:ext uri="{FF2B5EF4-FFF2-40B4-BE49-F238E27FC236}">
                <a16:creationId xmlns:a16="http://schemas.microsoft.com/office/drawing/2014/main" id="{5E2B9F5E-B388-0979-957D-D2B76CB516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3719" y="6044976"/>
            <a:ext cx="274320" cy="274320"/>
          </a:xfrm>
          <a:prstGeom prst="rect">
            <a:avLst/>
          </a:prstGeom>
        </p:spPr>
      </p:pic>
      <p:sp>
        <p:nvSpPr>
          <p:cNvPr id="31" name="text">
            <a:extLst>
              <a:ext uri="{FF2B5EF4-FFF2-40B4-BE49-F238E27FC236}">
                <a16:creationId xmlns:a16="http://schemas.microsoft.com/office/drawing/2014/main" id="{3947DA86-8208-9652-DBD6-F1EE317EDA4D}"/>
              </a:ext>
            </a:extLst>
          </p:cNvPr>
          <p:cNvSpPr>
            <a:spLocks noGrp="1"/>
          </p:cNvSpPr>
          <p:nvPr/>
        </p:nvSpPr>
        <p:spPr>
          <a:xfrm>
            <a:off x="3416968" y="1360432"/>
            <a:ext cx="2601583" cy="578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Professional Profile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/>
              <a:t>Microsoft &amp; Data Platform Specialist</a:t>
            </a:r>
            <a:endParaRPr lang="en-US" sz="12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E3861EA-3C47-E36D-2F3C-67F2116D7A2F}"/>
              </a:ext>
            </a:extLst>
          </p:cNvPr>
          <p:cNvSpPr/>
          <p:nvPr/>
        </p:nvSpPr>
        <p:spPr>
          <a:xfrm>
            <a:off x="3416968" y="1905707"/>
            <a:ext cx="2601583" cy="578172"/>
          </a:xfrm>
          <a:prstGeom prst="roundRect">
            <a:avLst>
              <a:gd name="adj" fmla="val 9154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C14D18-E9F8-96F6-C469-53377AD17C21}"/>
              </a:ext>
            </a:extLst>
          </p:cNvPr>
          <p:cNvSpPr txBox="1"/>
          <p:nvPr/>
        </p:nvSpPr>
        <p:spPr>
          <a:xfrm>
            <a:off x="3484423" y="1960659"/>
            <a:ext cx="166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b="1" dirty="0"/>
              <a:t>7 Years</a:t>
            </a:r>
          </a:p>
          <a:p>
            <a:r>
              <a:rPr lang="en-PH" sz="1200" dirty="0"/>
              <a:t>Professional Experience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EAE7F70-47D1-C9BE-5EB8-778F89F0610B}"/>
              </a:ext>
            </a:extLst>
          </p:cNvPr>
          <p:cNvSpPr/>
          <p:nvPr/>
        </p:nvSpPr>
        <p:spPr>
          <a:xfrm>
            <a:off x="3416968" y="2577889"/>
            <a:ext cx="2601583" cy="578172"/>
          </a:xfrm>
          <a:prstGeom prst="roundRect">
            <a:avLst>
              <a:gd name="adj" fmla="val 9154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83EA6F-9937-2697-2E5E-4094A97ECBA6}"/>
              </a:ext>
            </a:extLst>
          </p:cNvPr>
          <p:cNvSpPr txBox="1"/>
          <p:nvPr/>
        </p:nvSpPr>
        <p:spPr>
          <a:xfrm>
            <a:off x="3484423" y="2632841"/>
            <a:ext cx="1361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b="1" dirty="0"/>
              <a:t>9x</a:t>
            </a:r>
          </a:p>
          <a:p>
            <a:r>
              <a:rPr lang="en-PH" sz="1200" dirty="0"/>
              <a:t>Microsoft Certified</a:t>
            </a:r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E6C295D4-56EC-D301-B049-8242BB2EC762}"/>
              </a:ext>
            </a:extLst>
          </p:cNvPr>
          <p:cNvSpPr>
            <a:spLocks noGrp="1"/>
          </p:cNvSpPr>
          <p:nvPr/>
        </p:nvSpPr>
        <p:spPr>
          <a:xfrm>
            <a:off x="3416968" y="3304716"/>
            <a:ext cx="2601583" cy="1257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Practice Line Advisor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Mic</a:t>
            </a:r>
            <a:r>
              <a:rPr lang="en-PH" sz="1200" b="0" dirty="0">
                <a:solidFill>
                  <a:schemeClr val="tx1"/>
                </a:solidFill>
              </a:rPr>
              <a:t>rosoft Partner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Microsoft MVP Aspirant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endParaRPr lang="en-PH" sz="12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Gumby Awardee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Data Community Champion</a:t>
            </a:r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960F8875-B36B-B1A8-905F-8DD0F588F29C}"/>
              </a:ext>
            </a:extLst>
          </p:cNvPr>
          <p:cNvSpPr>
            <a:spLocks noGrp="1"/>
          </p:cNvSpPr>
          <p:nvPr/>
        </p:nvSpPr>
        <p:spPr>
          <a:xfrm>
            <a:off x="3416968" y="4731904"/>
            <a:ext cx="2601583" cy="351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Certifications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F1C49CC-98A8-CEC0-5EFB-E88B8D5C3A52}"/>
              </a:ext>
            </a:extLst>
          </p:cNvPr>
          <p:cNvSpPr/>
          <p:nvPr/>
        </p:nvSpPr>
        <p:spPr>
          <a:xfrm>
            <a:off x="3416970" y="5078437"/>
            <a:ext cx="870217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Lean Agile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7A7627E-2C23-08E5-1942-4103F80563D8}"/>
              </a:ext>
            </a:extLst>
          </p:cNvPr>
          <p:cNvSpPr/>
          <p:nvPr/>
        </p:nvSpPr>
        <p:spPr>
          <a:xfrm>
            <a:off x="5103361" y="5078437"/>
            <a:ext cx="915190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Microsoft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D911397-546B-D924-13BB-92ADDE4453D7}"/>
              </a:ext>
            </a:extLst>
          </p:cNvPr>
          <p:cNvSpPr/>
          <p:nvPr/>
        </p:nvSpPr>
        <p:spPr>
          <a:xfrm>
            <a:off x="4340298" y="5078437"/>
            <a:ext cx="709951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ITIL v4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2" name="text">
            <a:extLst>
              <a:ext uri="{FF2B5EF4-FFF2-40B4-BE49-F238E27FC236}">
                <a16:creationId xmlns:a16="http://schemas.microsoft.com/office/drawing/2014/main" id="{A8836E3D-45C9-5E57-6DA5-1024CBA18EF7}"/>
              </a:ext>
            </a:extLst>
          </p:cNvPr>
          <p:cNvSpPr>
            <a:spLocks noGrp="1"/>
          </p:cNvSpPr>
          <p:nvPr/>
        </p:nvSpPr>
        <p:spPr>
          <a:xfrm>
            <a:off x="6604703" y="1360433"/>
            <a:ext cx="2223914" cy="3978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Data &amp; Technology Expertise</a:t>
            </a:r>
          </a:p>
        </p:txBody>
      </p:sp>
      <p:sp>
        <p:nvSpPr>
          <p:cNvPr id="66" name="text">
            <a:extLst>
              <a:ext uri="{FF2B5EF4-FFF2-40B4-BE49-F238E27FC236}">
                <a16:creationId xmlns:a16="http://schemas.microsoft.com/office/drawing/2014/main" id="{97A9293F-38D9-FB16-1961-DB07AC1B1B57}"/>
              </a:ext>
            </a:extLst>
          </p:cNvPr>
          <p:cNvSpPr>
            <a:spLocks noGrp="1"/>
          </p:cNvSpPr>
          <p:nvPr/>
        </p:nvSpPr>
        <p:spPr>
          <a:xfrm>
            <a:off x="7209787" y="1843567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Databricks</a:t>
            </a:r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B321C973-86B4-7DCE-CBC5-8BB312265096}"/>
              </a:ext>
            </a:extLst>
          </p:cNvPr>
          <p:cNvSpPr>
            <a:spLocks noGrp="1"/>
          </p:cNvSpPr>
          <p:nvPr/>
        </p:nvSpPr>
        <p:spPr>
          <a:xfrm>
            <a:off x="7209787" y="2493251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Azure Synapse</a:t>
            </a:r>
          </a:p>
        </p:txBody>
      </p:sp>
      <p:sp>
        <p:nvSpPr>
          <p:cNvPr id="74" name="text">
            <a:extLst>
              <a:ext uri="{FF2B5EF4-FFF2-40B4-BE49-F238E27FC236}">
                <a16:creationId xmlns:a16="http://schemas.microsoft.com/office/drawing/2014/main" id="{321F4F2C-AD36-F1B4-47A6-6FB0369BC1F6}"/>
              </a:ext>
            </a:extLst>
          </p:cNvPr>
          <p:cNvSpPr>
            <a:spLocks noGrp="1"/>
          </p:cNvSpPr>
          <p:nvPr/>
        </p:nvSpPr>
        <p:spPr>
          <a:xfrm>
            <a:off x="7209787" y="3142935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 err="1">
                <a:solidFill>
                  <a:schemeClr val="tx1"/>
                </a:solidFill>
              </a:rPr>
              <a:t>dbt</a:t>
            </a:r>
            <a:endParaRPr lang="en-PH" sz="1200" b="0" dirty="0">
              <a:solidFill>
                <a:schemeClr val="tx1"/>
              </a:solidFill>
            </a:endParaRPr>
          </a:p>
        </p:txBody>
      </p:sp>
      <p:sp>
        <p:nvSpPr>
          <p:cNvPr id="78" name="text">
            <a:extLst>
              <a:ext uri="{FF2B5EF4-FFF2-40B4-BE49-F238E27FC236}">
                <a16:creationId xmlns:a16="http://schemas.microsoft.com/office/drawing/2014/main" id="{82A87B83-B433-CC6C-C2C3-5195FB1D97F0}"/>
              </a:ext>
            </a:extLst>
          </p:cNvPr>
          <p:cNvSpPr>
            <a:spLocks noGrp="1"/>
          </p:cNvSpPr>
          <p:nvPr/>
        </p:nvSpPr>
        <p:spPr>
          <a:xfrm>
            <a:off x="7209787" y="3792619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Microsoft Fabric</a:t>
            </a:r>
          </a:p>
        </p:txBody>
      </p:sp>
      <p:sp>
        <p:nvSpPr>
          <p:cNvPr id="88" name="text">
            <a:extLst>
              <a:ext uri="{FF2B5EF4-FFF2-40B4-BE49-F238E27FC236}">
                <a16:creationId xmlns:a16="http://schemas.microsoft.com/office/drawing/2014/main" id="{AA175F2D-92BA-67C2-56FF-FAC60BF0398D}"/>
              </a:ext>
            </a:extLst>
          </p:cNvPr>
          <p:cNvSpPr>
            <a:spLocks noGrp="1"/>
          </p:cNvSpPr>
          <p:nvPr/>
        </p:nvSpPr>
        <p:spPr>
          <a:xfrm>
            <a:off x="7209787" y="4442303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Snowflake</a:t>
            </a:r>
          </a:p>
        </p:txBody>
      </p:sp>
      <p:sp>
        <p:nvSpPr>
          <p:cNvPr id="92" name="text">
            <a:extLst>
              <a:ext uri="{FF2B5EF4-FFF2-40B4-BE49-F238E27FC236}">
                <a16:creationId xmlns:a16="http://schemas.microsoft.com/office/drawing/2014/main" id="{7140CE33-9F26-0563-27C6-98D249949375}"/>
              </a:ext>
            </a:extLst>
          </p:cNvPr>
          <p:cNvSpPr>
            <a:spLocks noGrp="1"/>
          </p:cNvSpPr>
          <p:nvPr/>
        </p:nvSpPr>
        <p:spPr>
          <a:xfrm>
            <a:off x="7209787" y="5091987"/>
            <a:ext cx="1618829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Alteryx Development</a:t>
            </a:r>
          </a:p>
        </p:txBody>
      </p:sp>
      <p:sp>
        <p:nvSpPr>
          <p:cNvPr id="94" name="text">
            <a:extLst>
              <a:ext uri="{FF2B5EF4-FFF2-40B4-BE49-F238E27FC236}">
                <a16:creationId xmlns:a16="http://schemas.microsoft.com/office/drawing/2014/main" id="{FD96A670-52B3-F8D8-2FE9-3457863B0BD1}"/>
              </a:ext>
            </a:extLst>
          </p:cNvPr>
          <p:cNvSpPr>
            <a:spLocks noGrp="1"/>
          </p:cNvSpPr>
          <p:nvPr/>
        </p:nvSpPr>
        <p:spPr>
          <a:xfrm>
            <a:off x="9213495" y="1360431"/>
            <a:ext cx="2601583" cy="351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Industry Expertise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33A4CC4-2AD4-AFDB-A99B-C1D5AACE099C}"/>
              </a:ext>
            </a:extLst>
          </p:cNvPr>
          <p:cNvSpPr/>
          <p:nvPr/>
        </p:nvSpPr>
        <p:spPr>
          <a:xfrm>
            <a:off x="9213498" y="1706964"/>
            <a:ext cx="547928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BPO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CC4B5B0-D911-1986-4A26-C41929B3833D}"/>
              </a:ext>
            </a:extLst>
          </p:cNvPr>
          <p:cNvSpPr/>
          <p:nvPr/>
        </p:nvSpPr>
        <p:spPr>
          <a:xfrm>
            <a:off x="10899888" y="1706964"/>
            <a:ext cx="915190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Healthcare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6B9905E0-42D5-A391-9B84-25193A5D206D}"/>
              </a:ext>
            </a:extLst>
          </p:cNvPr>
          <p:cNvSpPr/>
          <p:nvPr/>
        </p:nvSpPr>
        <p:spPr>
          <a:xfrm>
            <a:off x="9826160" y="1706964"/>
            <a:ext cx="1008995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Automotive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56F5865-3915-845C-9229-AFB6CB2557A2}"/>
              </a:ext>
            </a:extLst>
          </p:cNvPr>
          <p:cNvSpPr/>
          <p:nvPr/>
        </p:nvSpPr>
        <p:spPr>
          <a:xfrm>
            <a:off x="9213498" y="2099528"/>
            <a:ext cx="1008994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E-commerce</a:t>
            </a: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112" name="Graphic 111" descr="Microsoft Fabric | Logopedia | Fandom">
            <a:extLst>
              <a:ext uri="{FF2B5EF4-FFF2-40B4-BE49-F238E27FC236}">
                <a16:creationId xmlns:a16="http://schemas.microsoft.com/office/drawing/2014/main" id="{4EFE0D45-32A8-F26D-218D-44F5003D1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6998" y="3789638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1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42BC-43B1-EC07-F5A1-17FF4548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o description available.">
            <a:extLst>
              <a:ext uri="{FF2B5EF4-FFF2-40B4-BE49-F238E27FC236}">
                <a16:creationId xmlns:a16="http://schemas.microsoft.com/office/drawing/2014/main" id="{133B24B0-34A7-1ADF-10B1-BA74DB487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213" y="975836"/>
            <a:ext cx="4411624" cy="5882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460D21-6ABF-9A9C-C202-10A52FACA32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Your Facilitator – Outside of Work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77DD8-A046-B5D5-1261-15F48CA8A126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0363B-D994-54E1-62CE-700C7BF2DF3B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 dirty="0"/>
              <a:t>©2026 3Cloud, Proprietary &amp; Confidential 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774D17E-0C2A-EB5B-0638-DAF33A303189}"/>
              </a:ext>
            </a:extLst>
          </p:cNvPr>
          <p:cNvSpPr/>
          <p:nvPr/>
        </p:nvSpPr>
        <p:spPr>
          <a:xfrm>
            <a:off x="633913" y="1462203"/>
            <a:ext cx="9068353" cy="699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40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Christian Alcari</a:t>
            </a:r>
            <a:r>
              <a:rPr lang="en-US" sz="40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a </a:t>
            </a:r>
            <a:endParaRPr lang="en-US" sz="40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E8B3FC-19DF-D8BF-B681-F00BF228A88B}"/>
              </a:ext>
            </a:extLst>
          </p:cNvPr>
          <p:cNvSpPr/>
          <p:nvPr/>
        </p:nvSpPr>
        <p:spPr>
          <a:xfrm>
            <a:off x="633913" y="2631031"/>
            <a:ext cx="2132560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Data Enthusiast 📊📉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DB8B5B-D4AD-91CE-A9E8-E65D99A97AC8}"/>
              </a:ext>
            </a:extLst>
          </p:cNvPr>
          <p:cNvSpPr/>
          <p:nvPr/>
        </p:nvSpPr>
        <p:spPr>
          <a:xfrm>
            <a:off x="633913" y="3396895"/>
            <a:ext cx="2309258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PC / Console Gamer 🎮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E1B318-BA6D-1B7E-0C65-8E2E1C5AE3BE}"/>
              </a:ext>
            </a:extLst>
          </p:cNvPr>
          <p:cNvSpPr/>
          <p:nvPr/>
        </p:nvSpPr>
        <p:spPr>
          <a:xfrm>
            <a:off x="2943170" y="2631031"/>
            <a:ext cx="2623449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Car / </a:t>
            </a:r>
            <a:r>
              <a:rPr lang="en-PH" sz="1400" b="1" dirty="0" err="1">
                <a:solidFill>
                  <a:schemeClr val="tx1"/>
                </a:solidFill>
              </a:rPr>
              <a:t>DieCast</a:t>
            </a:r>
            <a:r>
              <a:rPr lang="en-PH" sz="1400" b="1" dirty="0">
                <a:solidFill>
                  <a:schemeClr val="tx1"/>
                </a:solidFill>
              </a:rPr>
              <a:t> Enthusiast 🚗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ADEFCB-85CA-5F97-0275-21F4B799F6E7}"/>
              </a:ext>
            </a:extLst>
          </p:cNvPr>
          <p:cNvSpPr/>
          <p:nvPr/>
        </p:nvSpPr>
        <p:spPr>
          <a:xfrm>
            <a:off x="5743316" y="2631031"/>
            <a:ext cx="1883211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TCG Hobbyist 🎴🏴‍☠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88A2C4-3E67-674E-2671-63C9C10F12E2}"/>
              </a:ext>
            </a:extLst>
          </p:cNvPr>
          <p:cNvSpPr/>
          <p:nvPr/>
        </p:nvSpPr>
        <p:spPr>
          <a:xfrm>
            <a:off x="3117130" y="3396895"/>
            <a:ext cx="1859938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Mountaineer ⛰️🧗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2D624C9-5143-CE25-DEDC-0F0C9B45C101}"/>
              </a:ext>
            </a:extLst>
          </p:cNvPr>
          <p:cNvSpPr/>
          <p:nvPr/>
        </p:nvSpPr>
        <p:spPr>
          <a:xfrm>
            <a:off x="633912" y="4162759"/>
            <a:ext cx="2795087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Weekend Warrior Athlete 🏃🥇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27230BF-F0E9-B3C3-5FFA-771CEBAB6B64}"/>
              </a:ext>
            </a:extLst>
          </p:cNvPr>
          <p:cNvSpPr/>
          <p:nvPr/>
        </p:nvSpPr>
        <p:spPr>
          <a:xfrm>
            <a:off x="3588152" y="4162759"/>
            <a:ext cx="2170947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World Wanderer 🌍✈️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8AA2378-C838-A5FB-D539-4EE0BD9501F3}"/>
              </a:ext>
            </a:extLst>
          </p:cNvPr>
          <p:cNvSpPr/>
          <p:nvPr/>
        </p:nvSpPr>
        <p:spPr>
          <a:xfrm>
            <a:off x="633913" y="4928623"/>
            <a:ext cx="2672756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Disney Castle Chaser </a:t>
            </a:r>
            <a:r>
              <a:rPr lang="en-PH" sz="1400" b="1" dirty="0"/>
              <a:t>🏰✨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5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CC85-3E1B-4F44-A6C1-1FD7688E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B621-4AB7-0FDF-4F8C-E5991400169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About 3Cloud – A Cognizant Company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E26D6-C564-3C00-978B-7F8EE9E24C9E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0EA2-B3F8-9A18-8163-901021BA223C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 dirty="0"/>
              <a:t>©2026 3Cloud, Proprietary &amp; Confidential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2C66CC-E8C3-C30C-E97F-00106994D612}"/>
              </a:ext>
            </a:extLst>
          </p:cNvPr>
          <p:cNvSpPr/>
          <p:nvPr/>
        </p:nvSpPr>
        <p:spPr>
          <a:xfrm>
            <a:off x="740409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0BB177-AC82-545A-E2DB-432B54EA0E23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64EBB1C-C56E-1650-F0BF-E5FF6D777BF0}"/>
              </a:ext>
            </a:extLst>
          </p:cNvPr>
          <p:cNvSpPr/>
          <p:nvPr/>
        </p:nvSpPr>
        <p:spPr>
          <a:xfrm>
            <a:off x="2827781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DA7593-0318-0AE4-C449-BF82C71E382C}"/>
              </a:ext>
            </a:extLst>
          </p:cNvPr>
          <p:cNvSpPr/>
          <p:nvPr/>
        </p:nvSpPr>
        <p:spPr>
          <a:xfrm>
            <a:off x="4915153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2928A03-CA94-88A0-EC38-037A8BE8BC77}"/>
              </a:ext>
            </a:extLst>
          </p:cNvPr>
          <p:cNvSpPr/>
          <p:nvPr/>
        </p:nvSpPr>
        <p:spPr>
          <a:xfrm>
            <a:off x="7002525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AE047F-2787-03E7-EFBB-38B6491AD6B0}"/>
              </a:ext>
            </a:extLst>
          </p:cNvPr>
          <p:cNvSpPr/>
          <p:nvPr/>
        </p:nvSpPr>
        <p:spPr>
          <a:xfrm>
            <a:off x="9089897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3BD8264-78DB-1963-15FC-06E01E62110E}"/>
              </a:ext>
            </a:extLst>
          </p:cNvPr>
          <p:cNvSpPr/>
          <p:nvPr/>
        </p:nvSpPr>
        <p:spPr>
          <a:xfrm>
            <a:off x="11177271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82F01B-8CA1-D7EE-6AA5-880364D63F52}"/>
              </a:ext>
            </a:extLst>
          </p:cNvPr>
          <p:cNvGrpSpPr/>
          <p:nvPr/>
        </p:nvGrpSpPr>
        <p:grpSpPr>
          <a:xfrm>
            <a:off x="100490" y="3635247"/>
            <a:ext cx="1554159" cy="1892998"/>
            <a:chOff x="100490" y="3635247"/>
            <a:chExt cx="1554159" cy="189299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CC131D5-7431-7FA5-1F6A-41B8625B1EA4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2020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95A90D2-04AC-CDF3-019B-05D039221858}"/>
                </a:ext>
              </a:extLst>
            </p:cNvPr>
            <p:cNvSpPr/>
            <p:nvPr/>
          </p:nvSpPr>
          <p:spPr>
            <a:xfrm>
              <a:off x="100490" y="3959584"/>
              <a:ext cx="1554159" cy="156866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PH" sz="1000" b="1" dirty="0">
                  <a:solidFill>
                    <a:schemeClr val="tx1"/>
                  </a:solidFill>
                </a:rPr>
                <a:t>Microsoft US Azure</a:t>
              </a:r>
            </a:p>
            <a:p>
              <a:pPr algn="ctr"/>
              <a:r>
                <a:rPr lang="en-PH" sz="1000" b="1" dirty="0">
                  <a:solidFill>
                    <a:schemeClr val="tx1"/>
                  </a:solidFill>
                </a:rPr>
                <a:t>Influencer Partner Award</a:t>
              </a:r>
            </a:p>
            <a:p>
              <a:pPr algn="ctr"/>
              <a:r>
                <a:rPr lang="en-PH" sz="1000" i="1" dirty="0">
                  <a:solidFill>
                    <a:schemeClr val="tx1"/>
                  </a:solidFill>
                </a:rPr>
                <a:t>Helping customers adopt and succeed with Azure. Pragmatic Works, acquired by 3Cloud that year, also won the US Power BI Partner Award.</a:t>
              </a:r>
            </a:p>
            <a:p>
              <a:pPr algn="ctr"/>
              <a:r>
                <a:rPr lang="en-PH" sz="1000" i="1" dirty="0">
                  <a:hlinkClick r:id="rId2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61FC6D7-AF0F-1E72-0448-7340EE0699CA}"/>
              </a:ext>
            </a:extLst>
          </p:cNvPr>
          <p:cNvGrpSpPr/>
          <p:nvPr/>
        </p:nvGrpSpPr>
        <p:grpSpPr>
          <a:xfrm>
            <a:off x="2174823" y="1326453"/>
            <a:ext cx="1554159" cy="1899754"/>
            <a:chOff x="2174823" y="1326453"/>
            <a:chExt cx="1554159" cy="189975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F020579-C8D4-6670-6D94-9E3BF8AD1926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5285718-C168-4313-BBE9-40ABEEC5BF78}"/>
                </a:ext>
              </a:extLst>
            </p:cNvPr>
            <p:cNvSpPr/>
            <p:nvPr/>
          </p:nvSpPr>
          <p:spPr>
            <a:xfrm>
              <a:off x="2174823" y="1326453"/>
              <a:ext cx="1554159" cy="156866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US Power BI Partner and Azure Influencer awards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Expertise in business intelligence and Azure adoption, as listed on 3Cloud’s awards page. </a:t>
              </a:r>
              <a:r>
                <a:rPr lang="en-PH" sz="1000" i="1" dirty="0">
                  <a:hlinkClick r:id="rId3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E6CA72-F749-E323-C336-1258407496B6}"/>
              </a:ext>
            </a:extLst>
          </p:cNvPr>
          <p:cNvGrpSpPr/>
          <p:nvPr/>
        </p:nvGrpSpPr>
        <p:grpSpPr>
          <a:xfrm>
            <a:off x="4275233" y="3635247"/>
            <a:ext cx="1554159" cy="2333753"/>
            <a:chOff x="100490" y="3635247"/>
            <a:chExt cx="1554159" cy="2333753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46D76B8-8DD7-DD10-BB72-C44186E5DA58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72DFE49-7FA1-F5EB-7A3A-E71DF9B1E6CF}"/>
                </a:ext>
              </a:extLst>
            </p:cNvPr>
            <p:cNvSpPr/>
            <p:nvPr/>
          </p:nvSpPr>
          <p:spPr>
            <a:xfrm>
              <a:off x="100490" y="3959584"/>
              <a:ext cx="1554159" cy="2009416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Worldwide Migration to Azure and Solution Assessments awards; US Solution Assessments and Modernizing Applications awards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Helping organizations assess, migrate, and modernize their technology.</a:t>
              </a:r>
            </a:p>
            <a:p>
              <a:pPr algn="ctr"/>
              <a:r>
                <a:rPr lang="en-PH" sz="1000" i="1" dirty="0">
                  <a:hlinkClick r:id="rId4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291BD24-8730-BA87-08A7-4E79568FF631}"/>
              </a:ext>
            </a:extLst>
          </p:cNvPr>
          <p:cNvGrpSpPr/>
          <p:nvPr/>
        </p:nvGrpSpPr>
        <p:grpSpPr>
          <a:xfrm>
            <a:off x="8449977" y="3635247"/>
            <a:ext cx="1554159" cy="1749553"/>
            <a:chOff x="100490" y="3635247"/>
            <a:chExt cx="1554159" cy="174955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A119D28-8754-A17D-C4C1-66D55622C3BF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8816742-2776-758B-588B-85C6EFB8C010}"/>
                </a:ext>
              </a:extLst>
            </p:cNvPr>
            <p:cNvSpPr/>
            <p:nvPr/>
          </p:nvSpPr>
          <p:spPr>
            <a:xfrm>
              <a:off x="100490" y="3959583"/>
              <a:ext cx="1554159" cy="1425217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Americas Partner of the Year — Data &amp; AI; Health &amp; Life Sciences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Delivering data, AI, and healthcare technology solutions. </a:t>
              </a:r>
            </a:p>
            <a:p>
              <a:pPr algn="ctr"/>
              <a:r>
                <a:rPr lang="en-PH" sz="1000" i="1" dirty="0">
                  <a:hlinkClick r:id="rId5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5307AF2-2331-BD35-7553-38A615007ED5}"/>
              </a:ext>
            </a:extLst>
          </p:cNvPr>
          <p:cNvGrpSpPr/>
          <p:nvPr/>
        </p:nvGrpSpPr>
        <p:grpSpPr>
          <a:xfrm>
            <a:off x="6362605" y="1490133"/>
            <a:ext cx="1554159" cy="1738555"/>
            <a:chOff x="2174823" y="1487652"/>
            <a:chExt cx="1554159" cy="173855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E456B9C-773A-46CC-188D-36B50E19D63E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25BDEAA-50EF-7F7D-A997-E4A3A27765A7}"/>
                </a:ext>
              </a:extLst>
            </p:cNvPr>
            <p:cNvSpPr/>
            <p:nvPr/>
          </p:nvSpPr>
          <p:spPr>
            <a:xfrm>
              <a:off x="2174823" y="1487652"/>
              <a:ext cx="1554159" cy="1407462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US Partner of the Year and US Azure Analytics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Customer impact through Microsoft solutions and cloud analytics. </a:t>
              </a:r>
            </a:p>
            <a:p>
              <a:pPr algn="ctr"/>
              <a:r>
                <a:rPr lang="en-PH" sz="1000" i="1" dirty="0">
                  <a:hlinkClick r:id="rId6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F324C04-1EC7-52EF-AEC7-FFE6BE209F6B}"/>
              </a:ext>
            </a:extLst>
          </p:cNvPr>
          <p:cNvGrpSpPr/>
          <p:nvPr/>
        </p:nvGrpSpPr>
        <p:grpSpPr>
          <a:xfrm>
            <a:off x="10537351" y="1490133"/>
            <a:ext cx="1554159" cy="1736074"/>
            <a:chOff x="2174823" y="1490133"/>
            <a:chExt cx="1554159" cy="1736074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864F9E7-FE29-DFB7-2173-2E5F523AFC73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7FE1EA7-C2A9-E591-D94C-2B6A4EF069CA}"/>
                </a:ext>
              </a:extLst>
            </p:cNvPr>
            <p:cNvSpPr/>
            <p:nvPr/>
          </p:nvSpPr>
          <p:spPr>
            <a:xfrm>
              <a:off x="2174823" y="1490133"/>
              <a:ext cx="1554159" cy="140498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Americas Channel US Partner of the Year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Innovation and business impact using Microsoft technologies. </a:t>
              </a:r>
            </a:p>
            <a:p>
              <a:pPr algn="ctr"/>
              <a:r>
                <a:rPr lang="en-PH" sz="1000" i="1" dirty="0">
                  <a:hlinkClick r:id="rId3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482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Classroom of students raising their hands in front of a teacher">
            <a:extLst>
              <a:ext uri="{FF2B5EF4-FFF2-40B4-BE49-F238E27FC236}">
                <a16:creationId xmlns:a16="http://schemas.microsoft.com/office/drawing/2014/main" id="{0D0A7C3D-D7E9-EF71-8457-A139FC7F4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6" b="1530"/>
          <a:stretch>
            <a:fillRect/>
          </a:stretch>
        </p:blipFill>
        <p:spPr>
          <a:xfrm>
            <a:off x="4427621" y="-5067"/>
            <a:ext cx="77700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39503-3DAC-D453-17B3-AB63DA0194C4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6366A-D84A-CB16-BA23-FA6E0E9E2CA6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574F1B7-7C10-2A35-8046-BFC2BBE0FE9B}"/>
              </a:ext>
            </a:extLst>
          </p:cNvPr>
          <p:cNvSpPr/>
          <p:nvPr/>
        </p:nvSpPr>
        <p:spPr>
          <a:xfrm rot="5400000" flipH="1">
            <a:off x="335560" y="-335561"/>
            <a:ext cx="6858000" cy="752912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91623-DD1C-985E-1A0C-C41071324C04}"/>
              </a:ext>
            </a:extLst>
          </p:cNvPr>
          <p:cNvSpPr txBox="1">
            <a:spLocks/>
          </p:cNvSpPr>
          <p:nvPr/>
        </p:nvSpPr>
        <p:spPr>
          <a:xfrm>
            <a:off x="409128" y="1246561"/>
            <a:ext cx="6700331" cy="7803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Creating a productive, respectful, and enjoyable environment is key to our success. By following these simple guidelines, we can ensure that everyone feels valued, heard, and engaged.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28546F35-C232-A1E6-9E60-3B0307B5B08E}"/>
              </a:ext>
            </a:extLst>
          </p:cNvPr>
          <p:cNvSpPr txBox="1">
            <a:spLocks/>
          </p:cNvSpPr>
          <p:nvPr/>
        </p:nvSpPr>
        <p:spPr>
          <a:xfrm>
            <a:off x="1463662" y="556413"/>
            <a:ext cx="5152654" cy="469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Code of Cooperation</a:t>
            </a:r>
          </a:p>
        </p:txBody>
      </p:sp>
      <p:pic>
        <p:nvPicPr>
          <p:cNvPr id="15" name="Graphic 14" descr="Handshake outline">
            <a:extLst>
              <a:ext uri="{FF2B5EF4-FFF2-40B4-BE49-F238E27FC236}">
                <a16:creationId xmlns:a16="http://schemas.microsoft.com/office/drawing/2014/main" id="{EAA42DC0-C6BE-DE15-5755-14ABA0B72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7130" y="333759"/>
            <a:ext cx="914400" cy="914400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67322A-F923-778B-14E9-A940286EA52A}"/>
              </a:ext>
            </a:extLst>
          </p:cNvPr>
          <p:cNvSpPr txBox="1">
            <a:spLocks/>
          </p:cNvSpPr>
          <p:nvPr/>
        </p:nvSpPr>
        <p:spPr>
          <a:xfrm>
            <a:off x="403129" y="2785897"/>
            <a:ext cx="6700331" cy="7315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Training Resources and Data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Use only assigned training resources, environments, and fictional data. Never share passwords, access tokens, or confidential information.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BAE66E6-9219-FB3C-4457-4F139CF928A8}"/>
              </a:ext>
            </a:extLst>
          </p:cNvPr>
          <p:cNvSpPr txBox="1">
            <a:spLocks/>
          </p:cNvSpPr>
          <p:nvPr/>
        </p:nvSpPr>
        <p:spPr>
          <a:xfrm>
            <a:off x="403129" y="3664245"/>
            <a:ext cx="6700331" cy="7315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Active Participation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300" dirty="0"/>
              <a:t>Rotate the keyboard so everyone gets hands-on experience. Collaborate, share ideas, and help your teammates learn.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E26DC0B-744A-7D05-8724-FD183348691C}"/>
              </a:ext>
            </a:extLst>
          </p:cNvPr>
          <p:cNvSpPr txBox="1">
            <a:spLocks/>
          </p:cNvSpPr>
          <p:nvPr/>
        </p:nvSpPr>
        <p:spPr>
          <a:xfrm>
            <a:off x="403129" y="4542593"/>
            <a:ext cx="6700331" cy="7803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Troubleshooting and Questions</a:t>
            </a:r>
          </a:p>
          <a:p>
            <a: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300" dirty="0"/>
              <a:t>Raise your hand when you encounter a blocker. Share the error message and what you have tried. Feel free to ask questions and learn from others.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1DFF767-29BC-6613-F3C5-9DBD34CA958D}"/>
              </a:ext>
            </a:extLst>
          </p:cNvPr>
          <p:cNvSpPr txBox="1">
            <a:spLocks/>
          </p:cNvSpPr>
          <p:nvPr/>
        </p:nvSpPr>
        <p:spPr>
          <a:xfrm>
            <a:off x="403129" y="5469780"/>
            <a:ext cx="6700331" cy="5486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Breaks Schedule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300" dirty="0"/>
              <a:t>We will have two 10-minute breaks, followed by a final 5-minute break.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308D07AF-9D4A-7CB9-73C0-73D2D1643ECD}"/>
              </a:ext>
            </a:extLst>
          </p:cNvPr>
          <p:cNvSpPr txBox="1">
            <a:spLocks/>
          </p:cNvSpPr>
          <p:nvPr/>
        </p:nvSpPr>
        <p:spPr>
          <a:xfrm>
            <a:off x="403129" y="2090429"/>
            <a:ext cx="6700331" cy="5486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Participant ID and Group Number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Please keep your participant ID and group number visible throughout the session.</a:t>
            </a:r>
          </a:p>
        </p:txBody>
      </p:sp>
    </p:spTree>
    <p:extLst>
      <p:ext uri="{BB962C8B-B14F-4D97-AF65-F5344CB8AC3E}">
        <p14:creationId xmlns:p14="http://schemas.microsoft.com/office/powerpoint/2010/main" val="162040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D443-CA81-43A5-CD4D-80E10F9B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8E31FBB-D303-7222-52C2-71D1D59D17C1}"/>
              </a:ext>
            </a:extLst>
          </p:cNvPr>
          <p:cNvGrpSpPr>
            <a:grpSpLocks/>
          </p:cNvGrpSpPr>
          <p:nvPr/>
        </p:nvGrpSpPr>
        <p:grpSpPr>
          <a:xfrm>
            <a:off x="8417983" y="1422399"/>
            <a:ext cx="3377015" cy="3496734"/>
            <a:chOff x="8417983" y="1422399"/>
            <a:chExt cx="3377015" cy="349673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48FEC62-262F-8CFA-C9BD-D7224DFFCB80}"/>
                </a:ext>
              </a:extLst>
            </p:cNvPr>
            <p:cNvSpPr>
              <a:spLocks/>
            </p:cNvSpPr>
            <p:nvPr/>
          </p:nvSpPr>
          <p:spPr>
            <a:xfrm>
              <a:off x="8646584" y="1651000"/>
              <a:ext cx="3148414" cy="3268133"/>
            </a:xfrm>
            <a:prstGeom prst="roundRect">
              <a:avLst>
                <a:gd name="adj" fmla="val 2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Collaborate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Work together to complete the assigned tasks.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Review and discuss each change before implementing it.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Make sure everyone understands the code and the results.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Rotate team roles for each layer of the activity so that everyone has an opportunity to participate and develop different skills.</a:t>
              </a:r>
            </a:p>
            <a:p>
              <a:pPr lvl="1"/>
              <a:endParaRPr lang="en-PH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F861A2-A38F-ACCE-62DA-161728989CCB}"/>
                </a:ext>
              </a:extLst>
            </p:cNvPr>
            <p:cNvSpPr>
              <a:spLocks/>
            </p:cNvSpPr>
            <p:nvPr/>
          </p:nvSpPr>
          <p:spPr>
            <a:xfrm>
              <a:off x="8417983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03</a:t>
              </a:r>
              <a:endParaRPr lang="en-US" b="1" dirty="0"/>
            </a:p>
          </p:txBody>
        </p:sp>
      </p:grp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A123E254-3B6D-6019-3646-B96B158DDE6F}"/>
              </a:ext>
            </a:extLst>
          </p:cNvPr>
          <p:cNvSpPr/>
          <p:nvPr/>
        </p:nvSpPr>
        <p:spPr>
          <a:xfrm>
            <a:off x="6910416" y="2080471"/>
            <a:ext cx="2126744" cy="114680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24A076-8CE6-4DAE-E41E-AA14912EF29A}"/>
              </a:ext>
            </a:extLst>
          </p:cNvPr>
          <p:cNvGrpSpPr/>
          <p:nvPr/>
        </p:nvGrpSpPr>
        <p:grpSpPr>
          <a:xfrm>
            <a:off x="4479367" y="1422399"/>
            <a:ext cx="3377015" cy="4412983"/>
            <a:chOff x="4256438" y="1422399"/>
            <a:chExt cx="3377015" cy="441298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37141EC-0453-4FB7-2BD5-5C5FAE9FE87C}"/>
                </a:ext>
              </a:extLst>
            </p:cNvPr>
            <p:cNvSpPr/>
            <p:nvPr/>
          </p:nvSpPr>
          <p:spPr>
            <a:xfrm>
              <a:off x="4485039" y="1651000"/>
              <a:ext cx="3148414" cy="4184382"/>
            </a:xfrm>
            <a:prstGeom prst="roundRect">
              <a:avLst>
                <a:gd name="adj" fmla="val 296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Assign Roles</a:t>
              </a:r>
            </a:p>
            <a:p>
              <a:pPr lvl="1"/>
              <a:r>
                <a:rPr lang="en-PH" sz="1200" i="1" dirty="0">
                  <a:solidFill>
                    <a:schemeClr val="tx1"/>
                  </a:solidFill>
                </a:rPr>
                <a:t>Each group must assign the following roles:</a:t>
              </a:r>
            </a:p>
            <a:p>
              <a:pPr lvl="1"/>
              <a:endParaRPr lang="en-PH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Driver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Runs the notebook and explains each code change.</a:t>
              </a:r>
            </a:p>
            <a:p>
              <a:pPr lvl="1"/>
              <a:endParaRPr lang="en-US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US" sz="1200" b="1" i="1" dirty="0">
                  <a:solidFill>
                    <a:schemeClr val="tx1"/>
                  </a:solidFill>
                </a:rPr>
                <a:t>Reviewer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Checks the requirements, code, and results for accuracy.</a:t>
              </a:r>
              <a:endParaRPr lang="en-PH" sz="1200" i="1" dirty="0">
                <a:solidFill>
                  <a:schemeClr val="tx1"/>
                </a:solidFill>
              </a:endParaRPr>
            </a:p>
            <a:p>
              <a:pPr lvl="1"/>
              <a:endParaRPr lang="en-PH" sz="1200" b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Recorder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Documents team decisions, evidence, and any problems encountered.</a:t>
              </a:r>
            </a:p>
            <a:p>
              <a:pPr lvl="1"/>
              <a:endParaRPr lang="en-US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Presenter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Explains the team's results and their business implications.</a:t>
              </a:r>
              <a:endParaRPr lang="en-PH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A97A05F-6B89-340C-CD8B-986BDC05486E}"/>
                </a:ext>
              </a:extLst>
            </p:cNvPr>
            <p:cNvSpPr/>
            <p:nvPr/>
          </p:nvSpPr>
          <p:spPr>
            <a:xfrm>
              <a:off x="4256438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02</a:t>
              </a:r>
              <a:endParaRPr lang="en-US" b="1" dirty="0"/>
            </a:p>
          </p:txBody>
        </p:sp>
      </p:grp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73324FA-EA27-754D-DA2B-32F74D8CF20E}"/>
              </a:ext>
            </a:extLst>
          </p:cNvPr>
          <p:cNvSpPr/>
          <p:nvPr/>
        </p:nvSpPr>
        <p:spPr>
          <a:xfrm>
            <a:off x="2971800" y="2080471"/>
            <a:ext cx="2126744" cy="114680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7C98BA4-E495-20D7-42FF-F9F8E20F8C9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36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Form your Engineering Teams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9B8A6A5-D9CF-2ACA-1D53-E02DD43B39D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209343C-C27D-71BF-1530-F3733072092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5A5237-0851-6A76-737C-9E1C1C5BB150}"/>
              </a:ext>
            </a:extLst>
          </p:cNvPr>
          <p:cNvGrpSpPr/>
          <p:nvPr/>
        </p:nvGrpSpPr>
        <p:grpSpPr>
          <a:xfrm>
            <a:off x="540751" y="1422399"/>
            <a:ext cx="3377015" cy="1794934"/>
            <a:chOff x="650822" y="1422399"/>
            <a:chExt cx="3377015" cy="179493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431B99A-7A22-8004-FB1F-129BED0521F7}"/>
                </a:ext>
              </a:extLst>
            </p:cNvPr>
            <p:cNvSpPr/>
            <p:nvPr/>
          </p:nvSpPr>
          <p:spPr>
            <a:xfrm>
              <a:off x="879423" y="1651000"/>
              <a:ext cx="3148414" cy="1566333"/>
            </a:xfrm>
            <a:prstGeom prst="roundRect">
              <a:avLst>
                <a:gd name="adj" fmla="val 591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Form your Groups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PH" sz="1200" i="1" dirty="0">
                  <a:solidFill>
                    <a:schemeClr val="tx1"/>
                  </a:solidFill>
                </a:rPr>
                <a:t>We need 10 groups, numbered 01-10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PH" sz="1200" i="1" dirty="0">
                  <a:solidFill>
                    <a:schemeClr val="tx1"/>
                  </a:solidFill>
                </a:rPr>
                <a:t>Aim for 4-5 people per group</a:t>
              </a:r>
            </a:p>
            <a:p>
              <a:pPr lvl="1"/>
              <a:endParaRPr lang="en-PH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69C0318-4064-B4A3-E4EF-E3B242AB7D68}"/>
                </a:ext>
              </a:extLst>
            </p:cNvPr>
            <p:cNvSpPr/>
            <p:nvPr/>
          </p:nvSpPr>
          <p:spPr>
            <a:xfrm>
              <a:off x="650822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01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5766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BD4B-9D52-D9A5-D1F9-B08E94B3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5489104-C589-E3A5-080B-557E4C11CE7C}"/>
              </a:ext>
            </a:extLst>
          </p:cNvPr>
          <p:cNvSpPr/>
          <p:nvPr/>
        </p:nvSpPr>
        <p:spPr>
          <a:xfrm flipH="1">
            <a:off x="8365186" y="1710669"/>
            <a:ext cx="3429812" cy="1862265"/>
          </a:xfrm>
          <a:prstGeom prst="roundRect">
            <a:avLst>
              <a:gd name="adj" fmla="val 4815"/>
            </a:avLst>
          </a:prstGeom>
          <a:solidFill>
            <a:srgbClr val="F09E3A">
              <a:alpha val="2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C98688-181E-61F1-F47F-5E641282CF76}"/>
              </a:ext>
            </a:extLst>
          </p:cNvPr>
          <p:cNvSpPr txBox="1"/>
          <p:nvPr/>
        </p:nvSpPr>
        <p:spPr>
          <a:xfrm>
            <a:off x="8225421" y="1639723"/>
            <a:ext cx="1197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🥇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CED6FB-2F17-7016-5154-3EF282DB6026}"/>
              </a:ext>
            </a:extLst>
          </p:cNvPr>
          <p:cNvSpPr/>
          <p:nvPr/>
        </p:nvSpPr>
        <p:spPr>
          <a:xfrm flipH="1">
            <a:off x="4385094" y="1710669"/>
            <a:ext cx="3429812" cy="1862265"/>
          </a:xfrm>
          <a:prstGeom prst="roundRect">
            <a:avLst>
              <a:gd name="adj" fmla="val 4815"/>
            </a:avLst>
          </a:prstGeom>
          <a:solidFill>
            <a:srgbClr val="C8B8DA">
              <a:alpha val="2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D47333-6D00-2136-EA8A-A35209B8976E}"/>
              </a:ext>
            </a:extLst>
          </p:cNvPr>
          <p:cNvSpPr txBox="1"/>
          <p:nvPr/>
        </p:nvSpPr>
        <p:spPr>
          <a:xfrm>
            <a:off x="4245329" y="1639723"/>
            <a:ext cx="1197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🥈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42B9206-CB75-79FA-79C7-D01FAAAA7D9F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What Your Team Will Deliver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480E2E4-696F-A982-D77D-782452739CB6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2435A50-27EC-5E30-F4A8-F0C91ECB2E80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F772C-EA62-7139-449C-9009BC71B12D}"/>
              </a:ext>
            </a:extLst>
          </p:cNvPr>
          <p:cNvSpPr txBox="1"/>
          <p:nvPr/>
        </p:nvSpPr>
        <p:spPr>
          <a:xfrm>
            <a:off x="405003" y="1128069"/>
            <a:ext cx="11393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Your team must use </a:t>
            </a:r>
            <a:r>
              <a:rPr lang="en-US" sz="1600" b="1" dirty="0"/>
              <a:t>Databricks and the Medallion Architecture </a:t>
            </a:r>
            <a:r>
              <a:rPr lang="en-US" sz="1600" dirty="0"/>
              <a:t>to develop a solution that addresses a business need.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12CBC7-2254-A97D-F651-34FA42FFEC7D}"/>
              </a:ext>
            </a:extLst>
          </p:cNvPr>
          <p:cNvGrpSpPr/>
          <p:nvPr/>
        </p:nvGrpSpPr>
        <p:grpSpPr>
          <a:xfrm>
            <a:off x="265238" y="1639723"/>
            <a:ext cx="3569577" cy="1933211"/>
            <a:chOff x="265238" y="1688917"/>
            <a:chExt cx="3569577" cy="193321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9DE0EF4-B37D-856E-EA23-0B79AE2C024F}"/>
                </a:ext>
              </a:extLst>
            </p:cNvPr>
            <p:cNvSpPr/>
            <p:nvPr/>
          </p:nvSpPr>
          <p:spPr>
            <a:xfrm flipH="1">
              <a:off x="405003" y="1759863"/>
              <a:ext cx="3429812" cy="1862265"/>
            </a:xfrm>
            <a:prstGeom prst="roundRect">
              <a:avLst>
                <a:gd name="adj" fmla="val 4815"/>
              </a:avLst>
            </a:prstGeom>
            <a:solidFill>
              <a:srgbClr val="C0774A">
                <a:alpha val="2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7876E9-845B-82BD-3010-9260FB75E073}"/>
                </a:ext>
              </a:extLst>
            </p:cNvPr>
            <p:cNvSpPr txBox="1"/>
            <p:nvPr/>
          </p:nvSpPr>
          <p:spPr>
            <a:xfrm>
              <a:off x="1234606" y="1935138"/>
              <a:ext cx="25155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sz="2800" b="1" dirty="0"/>
                <a:t>BRONZE LAYER</a:t>
              </a:r>
              <a:endPara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278055-2C24-9092-D0DD-4965BAF86859}"/>
                </a:ext>
              </a:extLst>
            </p:cNvPr>
            <p:cNvSpPr txBox="1"/>
            <p:nvPr/>
          </p:nvSpPr>
          <p:spPr>
            <a:xfrm>
              <a:off x="265238" y="1688917"/>
              <a:ext cx="11938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0" dirty="0"/>
                <a:t>🥉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98F738-AA9F-39CF-F5AF-B8FE4521E5A6}"/>
              </a:ext>
            </a:extLst>
          </p:cNvPr>
          <p:cNvSpPr txBox="1"/>
          <p:nvPr/>
        </p:nvSpPr>
        <p:spPr>
          <a:xfrm>
            <a:off x="9194789" y="1885944"/>
            <a:ext cx="251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OLD LAYER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2CF116-5D0A-8393-C16D-32C92644180A}"/>
              </a:ext>
            </a:extLst>
          </p:cNvPr>
          <p:cNvSpPr txBox="1"/>
          <p:nvPr/>
        </p:nvSpPr>
        <p:spPr>
          <a:xfrm>
            <a:off x="5214697" y="1885944"/>
            <a:ext cx="251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ILVER LAYER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B85A6D-0A3C-C5D5-15CA-D7321FF824E5}"/>
              </a:ext>
            </a:extLst>
          </p:cNvPr>
          <p:cNvSpPr txBox="1"/>
          <p:nvPr/>
        </p:nvSpPr>
        <p:spPr>
          <a:xfrm>
            <a:off x="499533" y="2618373"/>
            <a:ext cx="325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Create a Bronze table that preserves the original input records.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A6E83F-2CA7-EC6F-1A56-3513903C8BB0}"/>
              </a:ext>
            </a:extLst>
          </p:cNvPr>
          <p:cNvSpPr txBox="1"/>
          <p:nvPr/>
        </p:nvSpPr>
        <p:spPr>
          <a:xfrm>
            <a:off x="4479624" y="2618373"/>
            <a:ext cx="32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Create a Silver table with clearly defined transformation rules and data processing logic.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9184C0-B924-A449-D57C-54BD022691DB}"/>
              </a:ext>
            </a:extLst>
          </p:cNvPr>
          <p:cNvSpPr txBox="1"/>
          <p:nvPr/>
        </p:nvSpPr>
        <p:spPr>
          <a:xfrm>
            <a:off x="8454784" y="2618373"/>
            <a:ext cx="325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Save one Gold sales table. Query daily and product summaries.</a:t>
            </a:r>
            <a:endParaRPr lang="en-US" sz="14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31EFFA7-7422-97FC-A8B7-7F5F02F7B0F3}"/>
              </a:ext>
            </a:extLst>
          </p:cNvPr>
          <p:cNvSpPr/>
          <p:nvPr/>
        </p:nvSpPr>
        <p:spPr>
          <a:xfrm flipH="1">
            <a:off x="405001" y="3808401"/>
            <a:ext cx="11389995" cy="1974333"/>
          </a:xfrm>
          <a:prstGeom prst="roundRect">
            <a:avLst>
              <a:gd name="adj" fmla="val 4815"/>
            </a:avLst>
          </a:prstGeom>
          <a:solidFill>
            <a:schemeClr val="bg1"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2CD651-B1B7-2CF8-C05F-AC5F341A6C03}"/>
              </a:ext>
            </a:extLst>
          </p:cNvPr>
          <p:cNvSpPr txBox="1"/>
          <p:nvPr/>
        </p:nvSpPr>
        <p:spPr>
          <a:xfrm>
            <a:off x="499532" y="3980019"/>
            <a:ext cx="10295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EMONSTRATE YOUR SOLUTION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845D7A-0B20-F7C6-C86E-10CFFCFCFD61}"/>
              </a:ext>
            </a:extLst>
          </p:cNvPr>
          <p:cNvSpPr txBox="1"/>
          <p:nvPr/>
        </p:nvSpPr>
        <p:spPr>
          <a:xfrm>
            <a:off x="499532" y="4485442"/>
            <a:ext cx="112058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dirty="0"/>
              <a:t>Prepare the following deliverables: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sz="1400" dirty="0"/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Task Board: </a:t>
            </a:r>
            <a:r>
              <a:rPr lang="en-US" sz="1400" dirty="0"/>
              <a:t>Track your team's tasks, progress, and responsibilities.</a:t>
            </a:r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Acceptance Evidence: </a:t>
            </a:r>
            <a:r>
              <a:rPr lang="en-US" sz="1400" dirty="0"/>
              <a:t>Provide evidence that your solution meets the requirements.</a:t>
            </a:r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Two-Minute Demo: </a:t>
            </a:r>
            <a:r>
              <a:rPr lang="en-US" sz="1400" dirty="0"/>
              <a:t>Demonstrate your solution, explain the results, and highlight how it addresses the business need.</a:t>
            </a:r>
          </a:p>
        </p:txBody>
      </p:sp>
    </p:spTree>
    <p:extLst>
      <p:ext uri="{BB962C8B-B14F-4D97-AF65-F5344CB8AC3E}">
        <p14:creationId xmlns:p14="http://schemas.microsoft.com/office/powerpoint/2010/main" val="368707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62722-A589-5960-0ADB-1BA4A61E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People in an office">
            <a:extLst>
              <a:ext uri="{FF2B5EF4-FFF2-40B4-BE49-F238E27FC236}">
                <a16:creationId xmlns:a16="http://schemas.microsoft.com/office/drawing/2014/main" id="{ED6C403B-91F4-CA92-FDE5-586E8D3DD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9" r="12259"/>
          <a:stretch/>
        </p:blipFill>
        <p:spPr>
          <a:xfrm>
            <a:off x="4427621" y="-5067"/>
            <a:ext cx="77700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890856-3EBC-7B00-D027-09F0D9385E6D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47F4B-DFED-C563-32A3-72E67178233B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820874B-69D8-ABC3-5B9D-2DA2C7977E8B}"/>
              </a:ext>
            </a:extLst>
          </p:cNvPr>
          <p:cNvSpPr/>
          <p:nvPr/>
        </p:nvSpPr>
        <p:spPr>
          <a:xfrm rot="5400000" flipH="1">
            <a:off x="335560" y="-335561"/>
            <a:ext cx="6858000" cy="752912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9E459DCA-DFA7-C83A-F3D6-C985FDE8FFF2}"/>
              </a:ext>
            </a:extLst>
          </p:cNvPr>
          <p:cNvSpPr txBox="1">
            <a:spLocks/>
          </p:cNvSpPr>
          <p:nvPr/>
        </p:nvSpPr>
        <p:spPr>
          <a:xfrm>
            <a:off x="326926" y="339394"/>
            <a:ext cx="5152654" cy="469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085AB2-F2C8-385A-12DA-615F16DE8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289337"/>
              </p:ext>
            </p:extLst>
          </p:nvPr>
        </p:nvGraphicFramePr>
        <p:xfrm>
          <a:off x="326926" y="962459"/>
          <a:ext cx="6700332" cy="4820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30941">
                  <a:extLst>
                    <a:ext uri="{9D8B030D-6E8A-4147-A177-3AD203B41FA5}">
                      <a16:colId xmlns:a16="http://schemas.microsoft.com/office/drawing/2014/main" val="193253631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86730687"/>
                    </a:ext>
                  </a:extLst>
                </a:gridCol>
                <a:gridCol w="4478791">
                  <a:extLst>
                    <a:ext uri="{9D8B030D-6E8A-4147-A177-3AD203B41FA5}">
                      <a16:colId xmlns:a16="http://schemas.microsoft.com/office/drawing/2014/main" val="263707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sz="1400" dirty="0"/>
                        <a:t>Time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Duration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Activity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45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20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Welcome, Code of Cooperation &amp; Teams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91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Business Need, Roles and Ways of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32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20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Requirements and Backlog Activity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75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94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35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Technical Demo and Story Breakdown, 1 Group to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6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Bronze Exercise and Checkpoint, 2  Groups to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16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204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30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Silver Exercise and Checkpoint, 2 Groups to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44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Gold Exercise, 2 Groups To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19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05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26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Group 4 – 3 Groups to Demo 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93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Retrospective and Closing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429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78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3AD38-0256-57ED-C7ED-5031E3B3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2070B278-8A52-C9B0-100D-F68DE7633F58}"/>
              </a:ext>
            </a:extLst>
          </p:cNvPr>
          <p:cNvSpPr/>
          <p:nvPr/>
        </p:nvSpPr>
        <p:spPr>
          <a:xfrm rot="4935199" flipV="1">
            <a:off x="3596937" y="457584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Arrow: Circular 46">
            <a:extLst>
              <a:ext uri="{FF2B5EF4-FFF2-40B4-BE49-F238E27FC236}">
                <a16:creationId xmlns:a16="http://schemas.microsoft.com/office/drawing/2014/main" id="{D23544C1-9A86-5444-A40F-BD652D2474F7}"/>
              </a:ext>
            </a:extLst>
          </p:cNvPr>
          <p:cNvSpPr/>
          <p:nvPr/>
        </p:nvSpPr>
        <p:spPr>
          <a:xfrm rot="4935199" flipV="1">
            <a:off x="2572305" y="366324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Arrow: Circular 44">
            <a:extLst>
              <a:ext uri="{FF2B5EF4-FFF2-40B4-BE49-F238E27FC236}">
                <a16:creationId xmlns:a16="http://schemas.microsoft.com/office/drawing/2014/main" id="{6AB38198-DB84-7DD8-B929-C1D312C33808}"/>
              </a:ext>
            </a:extLst>
          </p:cNvPr>
          <p:cNvSpPr/>
          <p:nvPr/>
        </p:nvSpPr>
        <p:spPr>
          <a:xfrm rot="4935199" flipV="1">
            <a:off x="1561653" y="2679992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Arrow: Circular 36">
            <a:extLst>
              <a:ext uri="{FF2B5EF4-FFF2-40B4-BE49-F238E27FC236}">
                <a16:creationId xmlns:a16="http://schemas.microsoft.com/office/drawing/2014/main" id="{2EF0796D-B3BD-4358-AADF-68174B5A3592}"/>
              </a:ext>
            </a:extLst>
          </p:cNvPr>
          <p:cNvSpPr/>
          <p:nvPr/>
        </p:nvSpPr>
        <p:spPr>
          <a:xfrm rot="4935199" flipV="1">
            <a:off x="555499" y="170567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CCB246C-81B5-4E22-6AC4-0481E9819FA6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36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How does a Project Start?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2E565DA-1D0A-01A7-8BFE-CE72787DECD5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CB3538D-4633-679B-0615-73EDF79253C4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D714BC-3B20-52ED-57CA-270F90E3E370}"/>
              </a:ext>
            </a:extLst>
          </p:cNvPr>
          <p:cNvSpPr/>
          <p:nvPr/>
        </p:nvSpPr>
        <p:spPr>
          <a:xfrm>
            <a:off x="405003" y="1523982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PH" sz="2000" dirty="0">
                <a:solidFill>
                  <a:schemeClr val="tx1"/>
                </a:solidFill>
              </a:rPr>
              <a:t>A stakeholder has a problem or decision to make.</a:t>
            </a:r>
            <a:endParaRPr lang="en-PH" sz="1200" b="1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513014F-D470-AF64-2809-648B7D43B36C}"/>
              </a:ext>
            </a:extLst>
          </p:cNvPr>
          <p:cNvSpPr/>
          <p:nvPr/>
        </p:nvSpPr>
        <p:spPr>
          <a:xfrm>
            <a:off x="1349207" y="2483133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team clarifies value, scope, data and success measures.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35702F-CCB0-B555-E4B2-576C3AEE63E3}"/>
              </a:ext>
            </a:extLst>
          </p:cNvPr>
          <p:cNvSpPr/>
          <p:nvPr/>
        </p:nvSpPr>
        <p:spPr>
          <a:xfrm>
            <a:off x="2359859" y="3442284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Product Owner helps prioritize the work.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31D5BA3-F70B-91F2-C175-FBDF037301D8}"/>
              </a:ext>
            </a:extLst>
          </p:cNvPr>
          <p:cNvSpPr/>
          <p:nvPr/>
        </p:nvSpPr>
        <p:spPr>
          <a:xfrm>
            <a:off x="3387602" y="4401435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Engineers investigate access, feasibility and dependencies.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16A1B0F-78D1-BD88-DAC8-D04FAC16D9B4}"/>
              </a:ext>
            </a:extLst>
          </p:cNvPr>
          <p:cNvSpPr/>
          <p:nvPr/>
        </p:nvSpPr>
        <p:spPr>
          <a:xfrm>
            <a:off x="4398917" y="5360586"/>
            <a:ext cx="7396081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team delivers a small outcome and reviews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787210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A8C4-5CD9-E8D6-C95F-F67A41BE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D0A97-A9CD-1763-E562-BF952357F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28"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A14594-2B59-8A20-4492-A1FB4D9A71D6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CB7C61-EEF9-4471-CB46-0793BC1579B5}"/>
              </a:ext>
            </a:extLst>
          </p:cNvPr>
          <p:cNvSpPr/>
          <p:nvPr/>
        </p:nvSpPr>
        <p:spPr>
          <a:xfrm rot="5400000" flipH="1">
            <a:off x="-444500" y="444499"/>
            <a:ext cx="6858000" cy="596900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E1000AF-B6F2-1B96-1153-3765D1A46D48}"/>
              </a:ext>
            </a:extLst>
          </p:cNvPr>
          <p:cNvSpPr txBox="1">
            <a:spLocks/>
          </p:cNvSpPr>
          <p:nvPr/>
        </p:nvSpPr>
        <p:spPr>
          <a:xfrm>
            <a:off x="409128" y="2313361"/>
            <a:ext cx="5146655" cy="24999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For this workshop, Students will act as data engineers, turning the café’s sales, product, and customer data into insights that help identify bestsellers, understand customer preferences, and track business performance. 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898F112B-3869-E13D-1000-4B3ADF0E3970}"/>
              </a:ext>
            </a:extLst>
          </p:cNvPr>
          <p:cNvSpPr txBox="1">
            <a:spLocks/>
          </p:cNvSpPr>
          <p:nvPr/>
        </p:nvSpPr>
        <p:spPr>
          <a:xfrm>
            <a:off x="403129" y="1496469"/>
            <a:ext cx="5152654" cy="469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Our Fictional Client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BE255D4F-07C9-EA05-A8A7-FC26EA13B956}"/>
              </a:ext>
            </a:extLst>
          </p:cNvPr>
          <p:cNvSpPr txBox="1">
            <a:spLocks/>
          </p:cNvSpPr>
          <p:nvPr/>
        </p:nvSpPr>
        <p:spPr>
          <a:xfrm>
            <a:off x="160523" y="628827"/>
            <a:ext cx="5152654" cy="10181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7200" b="0" dirty="0">
                <a:solidFill>
                  <a:schemeClr val="accent1"/>
                </a:solidFill>
                <a:latin typeface="Edwardian Script ITC" panose="030303020407070D0804" pitchFamily="66" charset="0"/>
                <a:ea typeface="+mn-ea"/>
                <a:cs typeface="+mn-cs"/>
              </a:rPr>
              <a:t>Café </a:t>
            </a:r>
            <a:r>
              <a:rPr lang="en-PH" sz="7200" b="0" dirty="0" err="1">
                <a:solidFill>
                  <a:schemeClr val="accent1"/>
                </a:solidFill>
                <a:latin typeface="Edwardian Script ITC" panose="030303020407070D0804" pitchFamily="66" charset="0"/>
                <a:ea typeface="+mn-ea"/>
                <a:cs typeface="+mn-cs"/>
              </a:rPr>
              <a:t>Enchancia</a:t>
            </a:r>
            <a:endParaRPr lang="en-PH" sz="7200" b="0" dirty="0">
              <a:solidFill>
                <a:schemeClr val="accent1"/>
              </a:solidFill>
              <a:latin typeface="Edwardian Script ITC" panose="030303020407070D08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000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5BF0-4ECE-619A-ABA1-1F0D53D1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2119FDA3-6F0D-BA72-079C-C08A4DF1CD48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Project Roles: Product and Delivery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318E16B-511F-D67B-1E40-EE1C8F3D540B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EF89D97-FDD9-E7BA-7861-5DED04A4298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7957204-15A4-3C17-7A9B-A2C730C35F95}"/>
              </a:ext>
            </a:extLst>
          </p:cNvPr>
          <p:cNvGrpSpPr/>
          <p:nvPr/>
        </p:nvGrpSpPr>
        <p:grpSpPr>
          <a:xfrm>
            <a:off x="1430655" y="1420946"/>
            <a:ext cx="9330691" cy="4452051"/>
            <a:chOff x="598835" y="1420946"/>
            <a:chExt cx="9330691" cy="445205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94E1FDC-79F9-CD74-264C-4531AF714189}"/>
                </a:ext>
              </a:extLst>
            </p:cNvPr>
            <p:cNvGrpSpPr/>
            <p:nvPr/>
          </p:nvGrpSpPr>
          <p:grpSpPr>
            <a:xfrm>
              <a:off x="598835" y="1420946"/>
              <a:ext cx="4481163" cy="2070314"/>
              <a:chOff x="598837" y="1528232"/>
              <a:chExt cx="4481163" cy="2070314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32F52BE-E0CC-DA82-D625-E46D74E47697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FA05FA5E-2308-4441-24F6-01251A0D00C8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15" name="Picture 14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766D0C8F-40CE-F91E-A04C-B5B2074CA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CD1DE19E-A039-844F-5E6F-7B483C82BC8D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21" name="Text Placeholder 6">
                    <a:extLst>
                      <a:ext uri="{FF2B5EF4-FFF2-40B4-BE49-F238E27FC236}">
                        <a16:creationId xmlns:a16="http://schemas.microsoft.com/office/drawing/2014/main" id="{D29CB17F-A873-B6B4-CD96-F27AE03F4D6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Product Owner</a:t>
                    </a:r>
                  </a:p>
                </p:txBody>
              </p:sp>
              <p:sp>
                <p:nvSpPr>
                  <p:cNvPr id="29" name="Text Placeholder 6">
                    <a:extLst>
                      <a:ext uri="{FF2B5EF4-FFF2-40B4-BE49-F238E27FC236}">
                        <a16:creationId xmlns:a16="http://schemas.microsoft.com/office/drawing/2014/main" id="{8AB94FD3-2963-D1A9-F7FA-D5AD077A4B0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Clarifies value and orders the backlog</a:t>
                    </a:r>
                  </a:p>
                </p:txBody>
              </p:sp>
              <p:sp>
                <p:nvSpPr>
                  <p:cNvPr id="35" name="Rectangle: Rounded Corners 34">
                    <a:extLst>
                      <a:ext uri="{FF2B5EF4-FFF2-40B4-BE49-F238E27FC236}">
                        <a16:creationId xmlns:a16="http://schemas.microsoft.com/office/drawing/2014/main" id="{7DB7EE2D-4116-7A01-5C0E-1320D2E9F481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Confirms which sales measures matter</a:t>
                    </a:r>
                  </a:p>
                </p:txBody>
              </p:sp>
            </p:grp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ADD5ED8-B744-A905-64BE-F509D9B72609}"/>
                </a:ext>
              </a:extLst>
            </p:cNvPr>
            <p:cNvGrpSpPr/>
            <p:nvPr/>
          </p:nvGrpSpPr>
          <p:grpSpPr>
            <a:xfrm>
              <a:off x="598836" y="3802683"/>
              <a:ext cx="4481163" cy="2070314"/>
              <a:chOff x="598837" y="1528232"/>
              <a:chExt cx="4481163" cy="2070314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FA7398C-90D1-2D5D-62D0-16FB3525060D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0A34081-EBF9-CBA1-92AE-0597F5950AD0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54" name="Picture 53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14052C20-E487-F88A-E0FF-E147BF8ED7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D9214065-3BAC-F494-C176-5F843ADCF739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56" name="Text Placeholder 6">
                    <a:extLst>
                      <a:ext uri="{FF2B5EF4-FFF2-40B4-BE49-F238E27FC236}">
                        <a16:creationId xmlns:a16="http://schemas.microsoft.com/office/drawing/2014/main" id="{F5BE4104-8D41-BF77-BCA0-06D82EFB734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Project Manager</a:t>
                    </a:r>
                  </a:p>
                </p:txBody>
              </p:sp>
              <p:sp>
                <p:nvSpPr>
                  <p:cNvPr id="57" name="Text Placeholder 6">
                    <a:extLst>
                      <a:ext uri="{FF2B5EF4-FFF2-40B4-BE49-F238E27FC236}">
                        <a16:creationId xmlns:a16="http://schemas.microsoft.com/office/drawing/2014/main" id="{774255B3-688E-4B98-59E4-B445AB78C7D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Coordinates schedule, resources and risk</a:t>
                    </a:r>
                  </a:p>
                </p:txBody>
              </p:sp>
              <p:sp>
                <p:nvSpPr>
                  <p:cNvPr id="58" name="Rectangle: Rounded Corners 57">
                    <a:extLst>
                      <a:ext uri="{FF2B5EF4-FFF2-40B4-BE49-F238E27FC236}">
                        <a16:creationId xmlns:a16="http://schemas.microsoft.com/office/drawing/2014/main" id="{BDBC6086-5D49-9893-7B3C-A8EB31FDB397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Tracks access dependencies</a:t>
                    </a:r>
                  </a:p>
                </p:txBody>
              </p:sp>
            </p:grpSp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2B0B31C-CA82-A594-02C5-419634CD551C}"/>
                </a:ext>
              </a:extLst>
            </p:cNvPr>
            <p:cNvGrpSpPr/>
            <p:nvPr/>
          </p:nvGrpSpPr>
          <p:grpSpPr>
            <a:xfrm>
              <a:off x="5448363" y="1420946"/>
              <a:ext cx="4481163" cy="2070314"/>
              <a:chOff x="598837" y="1528232"/>
              <a:chExt cx="4481163" cy="2070314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FA960E6E-631F-E641-EEF4-7376BF5EB32F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852CEAC-0246-1C07-954F-6DDD6F3E6B07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62" name="Picture 61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73250A95-4586-DC82-DFF9-D7F548012E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06D6F97E-B153-270B-3E51-89CD0469B9E8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64" name="Text Placeholder 6">
                    <a:extLst>
                      <a:ext uri="{FF2B5EF4-FFF2-40B4-BE49-F238E27FC236}">
                        <a16:creationId xmlns:a16="http://schemas.microsoft.com/office/drawing/2014/main" id="{E475E68E-26C0-5318-757C-5E70F8B71BA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Scrum Master</a:t>
                    </a:r>
                  </a:p>
                </p:txBody>
              </p:sp>
              <p:sp>
                <p:nvSpPr>
                  <p:cNvPr id="65" name="Text Placeholder 6">
                    <a:extLst>
                      <a:ext uri="{FF2B5EF4-FFF2-40B4-BE49-F238E27FC236}">
                        <a16:creationId xmlns:a16="http://schemas.microsoft.com/office/drawing/2014/main" id="{841F6ECE-DCC8-43B0-B87D-FE7E1CB3CDB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Supports collaboration and improvement</a:t>
                    </a:r>
                  </a:p>
                </p:txBody>
              </p:sp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14E2B5CB-4714-4240-0EB2-8BDBD25DED6A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Helps remove recurring impediments</a:t>
                    </a:r>
                  </a:p>
                </p:txBody>
              </p:sp>
            </p:grpSp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6714B4E-4BE4-C8D3-04D9-059B0DF86240}"/>
                </a:ext>
              </a:extLst>
            </p:cNvPr>
            <p:cNvGrpSpPr/>
            <p:nvPr/>
          </p:nvGrpSpPr>
          <p:grpSpPr>
            <a:xfrm>
              <a:off x="5448363" y="3802683"/>
              <a:ext cx="4481163" cy="2070314"/>
              <a:chOff x="598837" y="1528232"/>
              <a:chExt cx="4481163" cy="2070314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92EDF465-B598-078D-0919-EF7A1025D6C4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A06D5B2-D8B9-AB11-62F7-957624C1E254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70" name="Picture 69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58588E59-FDF9-1117-DD74-1C57EE8BD6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3278E946-1DA0-F11A-F9D1-BFB70DE8DDDF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72" name="Text Placeholder 6">
                    <a:extLst>
                      <a:ext uri="{FF2B5EF4-FFF2-40B4-BE49-F238E27FC236}">
                        <a16:creationId xmlns:a16="http://schemas.microsoft.com/office/drawing/2014/main" id="{834D418F-5981-E333-5EAB-4D5CC3AB2F5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Stakeholder</a:t>
                    </a:r>
                  </a:p>
                </p:txBody>
              </p:sp>
              <p:sp>
                <p:nvSpPr>
                  <p:cNvPr id="73" name="Text Placeholder 6">
                    <a:extLst>
                      <a:ext uri="{FF2B5EF4-FFF2-40B4-BE49-F238E27FC236}">
                        <a16:creationId xmlns:a16="http://schemas.microsoft.com/office/drawing/2014/main" id="{2F4FA4F7-263C-A522-F126-44F9B266B2C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Explains rules and evaluates usefulness</a:t>
                    </a:r>
                  </a:p>
                </p:txBody>
              </p:sp>
              <p:sp>
                <p:nvSpPr>
                  <p:cNvPr id="74" name="Rectangle: Rounded Corners 73">
                    <a:extLst>
                      <a:ext uri="{FF2B5EF4-FFF2-40B4-BE49-F238E27FC236}">
                        <a16:creationId xmlns:a16="http://schemas.microsoft.com/office/drawing/2014/main" id="{D2E73DFC-6D8F-DE5E-FD7A-8780B762EBEC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Defines which orders count as sales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95502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15EF-A70D-0728-B6B3-BC2116B8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F3E9C01-3253-3AE7-CF5B-CAA2F997F277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Project Roles: Engineering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381BEBD-5C4A-0AE1-0CA8-6DE2E411696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0BB07D7-071C-A325-3E8E-16A957011A0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AE16584-B114-76B5-7AF7-0D9B469A3D16}"/>
              </a:ext>
            </a:extLst>
          </p:cNvPr>
          <p:cNvGrpSpPr/>
          <p:nvPr/>
        </p:nvGrpSpPr>
        <p:grpSpPr>
          <a:xfrm>
            <a:off x="371091" y="1874520"/>
            <a:ext cx="11449816" cy="3108960"/>
            <a:chOff x="371091" y="2267496"/>
            <a:chExt cx="11449816" cy="310896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8D45DCF-877E-B1D4-E5B5-43666AB346A5}"/>
                </a:ext>
              </a:extLst>
            </p:cNvPr>
            <p:cNvSpPr/>
            <p:nvPr/>
          </p:nvSpPr>
          <p:spPr>
            <a:xfrm flipH="1">
              <a:off x="371091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5" name="Picture 14" descr="Free User Icon, Symbol. Download in SVG &amp; PNG Formats.">
              <a:extLst>
                <a:ext uri="{FF2B5EF4-FFF2-40B4-BE49-F238E27FC236}">
                  <a16:creationId xmlns:a16="http://schemas.microsoft.com/office/drawing/2014/main" id="{BA24ED9E-A7DF-05F8-4489-AE0BD149E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09038" y="2424866"/>
              <a:ext cx="1031473" cy="1031474"/>
            </a:xfrm>
            <a:prstGeom prst="rect">
              <a:avLst/>
            </a:prstGeom>
          </p:spPr>
        </p:pic>
        <p:sp>
          <p:nvSpPr>
            <p:cNvPr id="21" name="Text Placeholder 6">
              <a:extLst>
                <a:ext uri="{FF2B5EF4-FFF2-40B4-BE49-F238E27FC236}">
                  <a16:creationId xmlns:a16="http://schemas.microsoft.com/office/drawing/2014/main" id="{13A868CA-F025-96E3-F69E-4516EA092DB6}"/>
                </a:ext>
              </a:extLst>
            </p:cNvPr>
            <p:cNvSpPr txBox="1">
              <a:spLocks/>
            </p:cNvSpPr>
            <p:nvPr/>
          </p:nvSpPr>
          <p:spPr>
            <a:xfrm>
              <a:off x="492833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Architect / Tech Lead</a:t>
              </a:r>
            </a:p>
          </p:txBody>
        </p:sp>
        <p:sp>
          <p:nvSpPr>
            <p:cNvPr id="29" name="Text Placeholder 6">
              <a:extLst>
                <a:ext uri="{FF2B5EF4-FFF2-40B4-BE49-F238E27FC236}">
                  <a16:creationId xmlns:a16="http://schemas.microsoft.com/office/drawing/2014/main" id="{3FDE120E-060B-74D5-F04E-A64F71F87F4B}"/>
                </a:ext>
              </a:extLst>
            </p:cNvPr>
            <p:cNvSpPr txBox="1">
              <a:spLocks/>
            </p:cNvSpPr>
            <p:nvPr/>
          </p:nvSpPr>
          <p:spPr>
            <a:xfrm>
              <a:off x="512143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Guides architecture, standards and technical decisions</a:t>
              </a: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D25B856-6433-96B7-CBAD-5AA86B3F8CE9}"/>
                </a:ext>
              </a:extLst>
            </p:cNvPr>
            <p:cNvSpPr/>
            <p:nvPr/>
          </p:nvSpPr>
          <p:spPr>
            <a:xfrm flipH="1">
              <a:off x="9732854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49" name="Picture 148" descr="Free User Icon, Symbol. Download in SVG &amp; PNG Formats.">
              <a:extLst>
                <a:ext uri="{FF2B5EF4-FFF2-40B4-BE49-F238E27FC236}">
                  <a16:creationId xmlns:a16="http://schemas.microsoft.com/office/drawing/2014/main" id="{B079C821-A79A-9E49-E52D-9C4491EBF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70801" y="2424866"/>
              <a:ext cx="1031473" cy="1031474"/>
            </a:xfrm>
            <a:prstGeom prst="rect">
              <a:avLst/>
            </a:prstGeom>
          </p:spPr>
        </p:pic>
        <p:sp>
          <p:nvSpPr>
            <p:cNvPr id="151" name="Text Placeholder 6">
              <a:extLst>
                <a:ext uri="{FF2B5EF4-FFF2-40B4-BE49-F238E27FC236}">
                  <a16:creationId xmlns:a16="http://schemas.microsoft.com/office/drawing/2014/main" id="{CDE18202-A276-1FBA-EF3D-3689750E8AF7}"/>
                </a:ext>
              </a:extLst>
            </p:cNvPr>
            <p:cNvSpPr txBox="1">
              <a:spLocks/>
            </p:cNvSpPr>
            <p:nvPr/>
          </p:nvSpPr>
          <p:spPr>
            <a:xfrm>
              <a:off x="9854596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PH" sz="1400" b="1" dirty="0">
                  <a:solidFill>
                    <a:schemeClr val="accent1"/>
                  </a:solidFill>
                </a:rPr>
                <a:t>I</a:t>
              </a:r>
              <a:r>
                <a:rPr lang="en-US" sz="1400" b="1" dirty="0" err="1">
                  <a:solidFill>
                    <a:schemeClr val="accent1"/>
                  </a:solidFill>
                </a:rPr>
                <a:t>ntern</a:t>
              </a:r>
              <a:endPara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2" name="Text Placeholder 6">
              <a:extLst>
                <a:ext uri="{FF2B5EF4-FFF2-40B4-BE49-F238E27FC236}">
                  <a16:creationId xmlns:a16="http://schemas.microsoft.com/office/drawing/2014/main" id="{28D4CEF9-840F-85B4-77B7-8BB0FC577B71}"/>
                </a:ext>
              </a:extLst>
            </p:cNvPr>
            <p:cNvSpPr txBox="1">
              <a:spLocks/>
            </p:cNvSpPr>
            <p:nvPr/>
          </p:nvSpPr>
          <p:spPr>
            <a:xfrm>
              <a:off x="9873906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Learns through supervised contributions</a:t>
              </a: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83308737-7612-2EA8-7ED6-9602950A3BF2}"/>
                </a:ext>
              </a:extLst>
            </p:cNvPr>
            <p:cNvSpPr/>
            <p:nvPr/>
          </p:nvSpPr>
          <p:spPr>
            <a:xfrm flipH="1">
              <a:off x="2711533" y="2267496"/>
              <a:ext cx="2088053" cy="3108960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56" name="Picture 155" descr="Free User Icon, Symbol. Download in SVG &amp; PNG Formats.">
              <a:extLst>
                <a:ext uri="{FF2B5EF4-FFF2-40B4-BE49-F238E27FC236}">
                  <a16:creationId xmlns:a16="http://schemas.microsoft.com/office/drawing/2014/main" id="{E74EC894-080A-4F0D-D3A0-EB162F3F4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249479" y="2424866"/>
              <a:ext cx="1031473" cy="1031474"/>
            </a:xfrm>
            <a:prstGeom prst="rect">
              <a:avLst/>
            </a:prstGeom>
          </p:spPr>
        </p:pic>
        <p:sp>
          <p:nvSpPr>
            <p:cNvPr id="158" name="Text Placeholder 6">
              <a:extLst>
                <a:ext uri="{FF2B5EF4-FFF2-40B4-BE49-F238E27FC236}">
                  <a16:creationId xmlns:a16="http://schemas.microsoft.com/office/drawing/2014/main" id="{02A1CBD6-2F14-5C2E-D21A-F51717199E7D}"/>
                </a:ext>
              </a:extLst>
            </p:cNvPr>
            <p:cNvSpPr txBox="1">
              <a:spLocks/>
            </p:cNvSpPr>
            <p:nvPr/>
          </p:nvSpPr>
          <p:spPr>
            <a:xfrm>
              <a:off x="2833274" y="3569656"/>
              <a:ext cx="1825261" cy="60287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Data / Engineering Manager</a:t>
              </a:r>
            </a:p>
          </p:txBody>
        </p:sp>
        <p:sp>
          <p:nvSpPr>
            <p:cNvPr id="159" name="Text Placeholder 6">
              <a:extLst>
                <a:ext uri="{FF2B5EF4-FFF2-40B4-BE49-F238E27FC236}">
                  <a16:creationId xmlns:a16="http://schemas.microsoft.com/office/drawing/2014/main" id="{B749980B-D3B5-415A-E4C1-A58417B0B712}"/>
                </a:ext>
              </a:extLst>
            </p:cNvPr>
            <p:cNvSpPr txBox="1">
              <a:spLocks/>
            </p:cNvSpPr>
            <p:nvPr/>
          </p:nvSpPr>
          <p:spPr>
            <a:xfrm>
              <a:off x="2852584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Supports staffing, people and engineering capability</a:t>
              </a: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C14C20F0-A83B-369D-D0DD-87684C39B04A}"/>
                </a:ext>
              </a:extLst>
            </p:cNvPr>
            <p:cNvSpPr/>
            <p:nvPr/>
          </p:nvSpPr>
          <p:spPr>
            <a:xfrm flipH="1">
              <a:off x="5051973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63" name="Picture 162" descr="Free User Icon, Symbol. Download in SVG &amp; PNG Formats.">
              <a:extLst>
                <a:ext uri="{FF2B5EF4-FFF2-40B4-BE49-F238E27FC236}">
                  <a16:creationId xmlns:a16="http://schemas.microsoft.com/office/drawing/2014/main" id="{37EBC17E-CC48-6E12-7823-C2CD8A329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89920" y="2424866"/>
              <a:ext cx="1031473" cy="1031474"/>
            </a:xfrm>
            <a:prstGeom prst="rect">
              <a:avLst/>
            </a:prstGeom>
          </p:spPr>
        </p:pic>
        <p:sp>
          <p:nvSpPr>
            <p:cNvPr id="165" name="Text Placeholder 6">
              <a:extLst>
                <a:ext uri="{FF2B5EF4-FFF2-40B4-BE49-F238E27FC236}">
                  <a16:creationId xmlns:a16="http://schemas.microsoft.com/office/drawing/2014/main" id="{084847AF-8ED8-BCEA-6B48-C677B4B79DEA}"/>
                </a:ext>
              </a:extLst>
            </p:cNvPr>
            <p:cNvSpPr txBox="1">
              <a:spLocks/>
            </p:cNvSpPr>
            <p:nvPr/>
          </p:nvSpPr>
          <p:spPr>
            <a:xfrm>
              <a:off x="5173715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Senior Data Engineer</a:t>
              </a:r>
            </a:p>
          </p:txBody>
        </p:sp>
        <p:sp>
          <p:nvSpPr>
            <p:cNvPr id="166" name="Text Placeholder 6">
              <a:extLst>
                <a:ext uri="{FF2B5EF4-FFF2-40B4-BE49-F238E27FC236}">
                  <a16:creationId xmlns:a16="http://schemas.microsoft.com/office/drawing/2014/main" id="{FD17B115-545D-E09B-F125-3CA83B59E919}"/>
                </a:ext>
              </a:extLst>
            </p:cNvPr>
            <p:cNvSpPr txBox="1">
              <a:spLocks/>
            </p:cNvSpPr>
            <p:nvPr/>
          </p:nvSpPr>
          <p:spPr>
            <a:xfrm>
              <a:off x="5193025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Solves complex problems, reviews and mentors</a:t>
              </a:r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F4A2DBE8-019B-FE96-B037-70B96C5342BB}"/>
                </a:ext>
              </a:extLst>
            </p:cNvPr>
            <p:cNvSpPr/>
            <p:nvPr/>
          </p:nvSpPr>
          <p:spPr>
            <a:xfrm flipH="1">
              <a:off x="7392414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70" name="Picture 169" descr="Free User Icon, Symbol. Download in SVG &amp; PNG Formats.">
              <a:extLst>
                <a:ext uri="{FF2B5EF4-FFF2-40B4-BE49-F238E27FC236}">
                  <a16:creationId xmlns:a16="http://schemas.microsoft.com/office/drawing/2014/main" id="{AAFCF7B0-FC0E-72E0-8525-88508566F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930361" y="2424866"/>
              <a:ext cx="1031473" cy="1031474"/>
            </a:xfrm>
            <a:prstGeom prst="rect">
              <a:avLst/>
            </a:prstGeom>
          </p:spPr>
        </p:pic>
        <p:sp>
          <p:nvSpPr>
            <p:cNvPr id="172" name="Text Placeholder 6">
              <a:extLst>
                <a:ext uri="{FF2B5EF4-FFF2-40B4-BE49-F238E27FC236}">
                  <a16:creationId xmlns:a16="http://schemas.microsoft.com/office/drawing/2014/main" id="{A12522BB-2B8E-9A33-A83D-45A7E1447656}"/>
                </a:ext>
              </a:extLst>
            </p:cNvPr>
            <p:cNvSpPr txBox="1">
              <a:spLocks/>
            </p:cNvSpPr>
            <p:nvPr/>
          </p:nvSpPr>
          <p:spPr>
            <a:xfrm>
              <a:off x="7514156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Associate / Junior Engineer</a:t>
              </a:r>
            </a:p>
          </p:txBody>
        </p:sp>
        <p:sp>
          <p:nvSpPr>
            <p:cNvPr id="173" name="Text Placeholder 6">
              <a:extLst>
                <a:ext uri="{FF2B5EF4-FFF2-40B4-BE49-F238E27FC236}">
                  <a16:creationId xmlns:a16="http://schemas.microsoft.com/office/drawing/2014/main" id="{FCAB6599-92D2-F5EB-603C-DEAE0A93DB9C}"/>
                </a:ext>
              </a:extLst>
            </p:cNvPr>
            <p:cNvSpPr txBox="1">
              <a:spLocks/>
            </p:cNvSpPr>
            <p:nvPr/>
          </p:nvSpPr>
          <p:spPr>
            <a:xfrm>
              <a:off x="7533466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Delivers scoped tasks with support and review, Builds, tests and operates pipelines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6260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FFF-501F-E889-6C8D-19EEBA85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7D59E44-6877-7880-78A4-B0734403B82B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Ways of working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59DC51F-C826-0151-B73D-3A42558D361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3F0020D-BB81-6823-606D-34CD7CA3321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CF8900-74D1-912C-10D2-3DC216E18ACC}"/>
              </a:ext>
            </a:extLst>
          </p:cNvPr>
          <p:cNvGrpSpPr/>
          <p:nvPr/>
        </p:nvGrpSpPr>
        <p:grpSpPr>
          <a:xfrm>
            <a:off x="980736" y="2239793"/>
            <a:ext cx="10268296" cy="2378415"/>
            <a:chOff x="980736" y="2239792"/>
            <a:chExt cx="10268296" cy="237841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ADD93B-C3C2-8DFB-8275-046A68A8ED66}"/>
                </a:ext>
              </a:extLst>
            </p:cNvPr>
            <p:cNvGrpSpPr/>
            <p:nvPr/>
          </p:nvGrpSpPr>
          <p:grpSpPr>
            <a:xfrm>
              <a:off x="980736" y="2239792"/>
              <a:ext cx="1827030" cy="2378415"/>
              <a:chOff x="855133" y="1955800"/>
              <a:chExt cx="1827030" cy="2378415"/>
            </a:xfrm>
          </p:grpSpPr>
          <p:pic>
            <p:nvPicPr>
              <p:cNvPr id="6" name="Graphic 5" descr="Bullseye with solid fill">
                <a:extLst>
                  <a:ext uri="{FF2B5EF4-FFF2-40B4-BE49-F238E27FC236}">
                    <a16:creationId xmlns:a16="http://schemas.microsoft.com/office/drawing/2014/main" id="{830E1ED8-6E72-6476-F3A5-EFAA9C463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" name="Text Placeholder 6">
                <a:extLst>
                  <a:ext uri="{FF2B5EF4-FFF2-40B4-BE49-F238E27FC236}">
                    <a16:creationId xmlns:a16="http://schemas.microsoft.com/office/drawing/2014/main" id="{5F370C4B-CA22-3164-EF90-71BD437A5A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Sprint goal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400" i="1" dirty="0"/>
                  <a:t>P</a:t>
                </a:r>
                <a:r>
                  <a:rPr kumimoji="0" lang="en-US" sz="1400" b="0" i="1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roduce</a:t>
                </a: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 trusted daily sales from the supplied batch.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E62F545-5BA9-F9F1-7446-641B5446AF99}"/>
                </a:ext>
              </a:extLst>
            </p:cNvPr>
            <p:cNvGrpSpPr/>
            <p:nvPr/>
          </p:nvGrpSpPr>
          <p:grpSpPr>
            <a:xfrm>
              <a:off x="3091052" y="2239792"/>
              <a:ext cx="1827030" cy="2378415"/>
              <a:chOff x="855133" y="1955800"/>
              <a:chExt cx="1827030" cy="2378415"/>
            </a:xfrm>
          </p:grpSpPr>
          <p:pic>
            <p:nvPicPr>
              <p:cNvPr id="12" name="Graphic 11" descr="Postit Notes with solid fill">
                <a:extLst>
                  <a:ext uri="{FF2B5EF4-FFF2-40B4-BE49-F238E27FC236}">
                    <a16:creationId xmlns:a16="http://schemas.microsoft.com/office/drawing/2014/main" id="{B8F1BBD5-00E1-4BB6-BACB-D0789C9AB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3" name="Text Placeholder 6">
                <a:extLst>
                  <a:ext uri="{FF2B5EF4-FFF2-40B4-BE49-F238E27FC236}">
                    <a16:creationId xmlns:a16="http://schemas.microsoft.com/office/drawing/2014/main" id="{1622DC4C-2C4A-8004-85F3-6A686FECA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Create Notes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Track each task using the following statuses: To Do, In Progress, Review, and Done. Record blockers explicitly.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B0A8008-8CB7-94D0-BF42-4C45EC10685F}"/>
                </a:ext>
              </a:extLst>
            </p:cNvPr>
            <p:cNvGrpSpPr/>
            <p:nvPr/>
          </p:nvGrpSpPr>
          <p:grpSpPr>
            <a:xfrm>
              <a:off x="5201369" y="2239792"/>
              <a:ext cx="1827030" cy="2378415"/>
              <a:chOff x="855133" y="1955800"/>
              <a:chExt cx="1827030" cy="2378415"/>
            </a:xfrm>
          </p:grpSpPr>
          <p:pic>
            <p:nvPicPr>
              <p:cNvPr id="16" name="Graphic 15" descr="User with solid fill">
                <a:extLst>
                  <a:ext uri="{FF2B5EF4-FFF2-40B4-BE49-F238E27FC236}">
                    <a16:creationId xmlns:a16="http://schemas.microsoft.com/office/drawing/2014/main" id="{42475DA3-798E-9F6D-C1E5-E18F81D82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7" name="Text Placeholder 6">
                <a:extLst>
                  <a:ext uri="{FF2B5EF4-FFF2-40B4-BE49-F238E27FC236}">
                    <a16:creationId xmlns:a16="http://schemas.microsoft.com/office/drawing/2014/main" id="{1684B686-DC82-BEB7-EE57-DDF577B419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Task Ownership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Every task has a designated owner, and every change has an assigned reviewer.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68A80E-CE40-A19F-DBAA-7E5C1D0566FA}"/>
                </a:ext>
              </a:extLst>
            </p:cNvPr>
            <p:cNvGrpSpPr/>
            <p:nvPr/>
          </p:nvGrpSpPr>
          <p:grpSpPr>
            <a:xfrm>
              <a:off x="7311686" y="2239792"/>
              <a:ext cx="1827030" cy="2378415"/>
              <a:chOff x="855133" y="1955800"/>
              <a:chExt cx="1827030" cy="2378415"/>
            </a:xfrm>
          </p:grpSpPr>
          <p:pic>
            <p:nvPicPr>
              <p:cNvPr id="19" name="Graphic 18" descr="Monthly calendar with solid fill">
                <a:extLst>
                  <a:ext uri="{FF2B5EF4-FFF2-40B4-BE49-F238E27FC236}">
                    <a16:creationId xmlns:a16="http://schemas.microsoft.com/office/drawing/2014/main" id="{018A2D33-6E8A-CCBB-0D55-9DDEDF8DB1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0" name="Text Placeholder 6">
                <a:extLst>
                  <a:ext uri="{FF2B5EF4-FFF2-40B4-BE49-F238E27FC236}">
                    <a16:creationId xmlns:a16="http://schemas.microsoft.com/office/drawing/2014/main" id="{542CB72A-4B17-9570-AA26-8E5526A606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Daily Check-in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Hold a short check-in to cover progress, next actions, and blockers.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907F731-B242-C0E9-57FB-1787A46216D1}"/>
                </a:ext>
              </a:extLst>
            </p:cNvPr>
            <p:cNvGrpSpPr/>
            <p:nvPr/>
          </p:nvGrpSpPr>
          <p:grpSpPr>
            <a:xfrm>
              <a:off x="9422002" y="2239792"/>
              <a:ext cx="1827030" cy="2378415"/>
              <a:chOff x="855133" y="1955800"/>
              <a:chExt cx="1827030" cy="2378415"/>
            </a:xfrm>
          </p:grpSpPr>
          <p:pic>
            <p:nvPicPr>
              <p:cNvPr id="23" name="Graphic 22" descr="List with solid fill">
                <a:extLst>
                  <a:ext uri="{FF2B5EF4-FFF2-40B4-BE49-F238E27FC236}">
                    <a16:creationId xmlns:a16="http://schemas.microsoft.com/office/drawing/2014/main" id="{898F485F-5B86-CCCD-37C0-FCD13498FA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4" name="Text Placeholder 6">
                <a:extLst>
                  <a:ext uri="{FF2B5EF4-FFF2-40B4-BE49-F238E27FC236}">
                    <a16:creationId xmlns:a16="http://schemas.microsoft.com/office/drawing/2014/main" id="{75CF6045-947A-5E75-D7B9-C42E72F34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Acceptance Criteria </a:t>
                </a: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Define the evidence required to consider each task complete.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535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EF3F-CFB8-DCA9-A5C0-731BC645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64147D2D-99BF-5627-C00A-E2DBB4BE30FB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Epic, user story and task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7150B3E-8294-659A-A6DD-CCA0A8A1F1A8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854B02E-AA92-2787-93CE-698787AE8E5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04D623A-50E6-498A-5659-1130943781BA}"/>
              </a:ext>
            </a:extLst>
          </p:cNvPr>
          <p:cNvGrpSpPr/>
          <p:nvPr/>
        </p:nvGrpSpPr>
        <p:grpSpPr>
          <a:xfrm>
            <a:off x="490346" y="1455421"/>
            <a:ext cx="3312817" cy="4284979"/>
            <a:chOff x="599690" y="1455421"/>
            <a:chExt cx="3311910" cy="4284979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937E1BB8-8ADF-8382-D3F6-01C944192B06}"/>
                </a:ext>
              </a:extLst>
            </p:cNvPr>
            <p:cNvSpPr/>
            <p:nvPr/>
          </p:nvSpPr>
          <p:spPr>
            <a:xfrm flipH="1">
              <a:off x="599690" y="1455421"/>
              <a:ext cx="3311910" cy="428497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71" name="Text Placeholder 6">
              <a:extLst>
                <a:ext uri="{FF2B5EF4-FFF2-40B4-BE49-F238E27FC236}">
                  <a16:creationId xmlns:a16="http://schemas.microsoft.com/office/drawing/2014/main" id="{E7B04E98-7A5F-C07C-9ECC-D824C96A9A89}"/>
                </a:ext>
              </a:extLst>
            </p:cNvPr>
            <p:cNvSpPr txBox="1">
              <a:spLocks/>
            </p:cNvSpPr>
            <p:nvPr/>
          </p:nvSpPr>
          <p:spPr>
            <a:xfrm>
              <a:off x="930797" y="1755659"/>
              <a:ext cx="2649695" cy="364692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1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Epic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Purpose: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A larger business outcome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600" b="0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Example: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Deliver trusted daily sales reporting across all seven Café </a:t>
              </a:r>
              <a:r>
                <a:rPr lang="en-US" sz="1600" i="1" dirty="0" err="1"/>
                <a:t>Enchancia</a:t>
              </a:r>
              <a:r>
                <a:rPr lang="en-US" sz="1600" i="1" dirty="0"/>
                <a:t> branches.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F4DF8A9-3075-3B7D-A462-C296E8425A17}"/>
              </a:ext>
            </a:extLst>
          </p:cNvPr>
          <p:cNvGrpSpPr/>
          <p:nvPr/>
        </p:nvGrpSpPr>
        <p:grpSpPr>
          <a:xfrm>
            <a:off x="4133362" y="1455421"/>
            <a:ext cx="7568293" cy="4284979"/>
            <a:chOff x="599689" y="1455421"/>
            <a:chExt cx="7568293" cy="4284979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2AAA79BA-A0E0-14D3-F878-20DD73AF5577}"/>
                </a:ext>
              </a:extLst>
            </p:cNvPr>
            <p:cNvSpPr/>
            <p:nvPr/>
          </p:nvSpPr>
          <p:spPr>
            <a:xfrm flipH="1">
              <a:off x="599689" y="1455421"/>
              <a:ext cx="7568293" cy="428497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75" name="Text Placeholder 6">
              <a:extLst>
                <a:ext uri="{FF2B5EF4-FFF2-40B4-BE49-F238E27FC236}">
                  <a16:creationId xmlns:a16="http://schemas.microsoft.com/office/drawing/2014/main" id="{66C871C0-4A10-A311-97C2-1F847D1413AF}"/>
                </a:ext>
              </a:extLst>
            </p:cNvPr>
            <p:cNvSpPr txBox="1">
              <a:spLocks/>
            </p:cNvSpPr>
            <p:nvPr/>
          </p:nvSpPr>
          <p:spPr>
            <a:xfrm>
              <a:off x="930797" y="1755659"/>
              <a:ext cx="6906986" cy="364692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1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User Story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Purpose: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A useful capability that identifies who benefits and why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600" b="0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Examples:</a:t>
              </a:r>
            </a:p>
            <a:p>
              <a:r>
                <a:rPr lang="en-US" sz="1600" dirty="0"/>
                <a:t>🥉</a:t>
              </a:r>
              <a:r>
                <a:rPr lang="en-US" sz="1600" i="1" dirty="0"/>
                <a:t>As a data engineer, I want source sales records preserved so that I can trace and reprocess them.</a:t>
              </a:r>
            </a:p>
            <a:p>
              <a:r>
                <a:rPr lang="en-US" sz="1600" dirty="0"/>
                <a:t>🥈 </a:t>
              </a:r>
              <a:r>
                <a:rPr lang="en-US" sz="1600" i="1" dirty="0"/>
                <a:t>As a data analyst, I want cleaned and standardized sales records so that I can compare branches consistently.</a:t>
              </a:r>
            </a:p>
            <a:p>
              <a:r>
                <a:rPr lang="en-US" sz="1600" dirty="0"/>
                <a:t>🥇</a:t>
              </a:r>
              <a:r>
                <a:rPr lang="en-US" sz="1600" i="1" dirty="0"/>
                <a:t>As the business owner, I want daily sales summaries by branch so that I can monitor performance.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711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C813-3F7F-97BA-8B94-F65F54A6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94BB9B20-AB56-8098-1273-34FB9BFD902C}"/>
              </a:ext>
            </a:extLst>
          </p:cNvPr>
          <p:cNvGrpSpPr/>
          <p:nvPr/>
        </p:nvGrpSpPr>
        <p:grpSpPr>
          <a:xfrm>
            <a:off x="490346" y="1455421"/>
            <a:ext cx="5605654" cy="4284979"/>
            <a:chOff x="599689" y="1455421"/>
            <a:chExt cx="5394960" cy="4284979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7F28852A-7181-B378-7FF9-CC97FC62030A}"/>
                </a:ext>
              </a:extLst>
            </p:cNvPr>
            <p:cNvSpPr/>
            <p:nvPr/>
          </p:nvSpPr>
          <p:spPr>
            <a:xfrm flipH="1">
              <a:off x="599689" y="1455421"/>
              <a:ext cx="5394960" cy="428497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75" name="Text Placeholder 6">
              <a:extLst>
                <a:ext uri="{FF2B5EF4-FFF2-40B4-BE49-F238E27FC236}">
                  <a16:creationId xmlns:a16="http://schemas.microsoft.com/office/drawing/2014/main" id="{EECBFF07-991A-9B51-1A97-B07CDA652547}"/>
                </a:ext>
              </a:extLst>
            </p:cNvPr>
            <p:cNvSpPr txBox="1">
              <a:spLocks/>
            </p:cNvSpPr>
            <p:nvPr/>
          </p:nvSpPr>
          <p:spPr>
            <a:xfrm>
              <a:off x="820543" y="1755659"/>
              <a:ext cx="4864100" cy="364692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1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Acceptance criteria</a:t>
              </a:r>
              <a:endParaRPr kumimoji="0" lang="en-US" sz="1400" b="1" i="1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Purpose: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Observable conditions of success specific to each story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600" b="0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Examples:</a:t>
              </a:r>
            </a:p>
            <a:p>
              <a:r>
                <a:rPr lang="en-US" sz="1600" dirty="0"/>
                <a:t>🥉</a:t>
              </a:r>
              <a:r>
                <a:rPr lang="en-US" sz="1600" i="1" dirty="0"/>
                <a:t>All input records and columns are preserved, with source filenames and ingestion timestamps.</a:t>
              </a:r>
            </a:p>
            <a:p>
              <a:r>
                <a:rPr lang="en-US" sz="1600" dirty="0"/>
                <a:t>🥈 </a:t>
              </a:r>
              <a:r>
                <a:rPr lang="en-US" sz="1600" i="1" dirty="0"/>
                <a:t>Required fields are validated, duplicates are handled, and data types follow agreed rules.</a:t>
              </a:r>
            </a:p>
            <a:p>
              <a:r>
                <a:rPr lang="en-US" sz="1600" dirty="0"/>
                <a:t>🥇</a:t>
              </a:r>
              <a:r>
                <a:rPr lang="en-US" sz="1600" i="1" dirty="0"/>
                <a:t>Summaries follow New York reporting-day rules and totals reconcile with validated Silver data.</a:t>
              </a:r>
              <a:endParaRPr lang="en-US" sz="1400" i="1" dirty="0"/>
            </a:p>
          </p:txBody>
        </p:sp>
      </p:grpSp>
      <p:sp>
        <p:nvSpPr>
          <p:cNvPr id="9" name="text">
            <a:extLst>
              <a:ext uri="{FF2B5EF4-FFF2-40B4-BE49-F238E27FC236}">
                <a16:creationId xmlns:a16="http://schemas.microsoft.com/office/drawing/2014/main" id="{C28FC1E8-69A9-98EB-21AC-0351D439A78A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Epic, user story and task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D613E3B-14F3-687B-6BB7-C1FBD3E482FA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CDC17C0-0E67-B178-C211-479994E47D1F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1E61381-9521-4E5B-4F91-DF29441E2204}"/>
              </a:ext>
            </a:extLst>
          </p:cNvPr>
          <p:cNvGrpSpPr/>
          <p:nvPr/>
        </p:nvGrpSpPr>
        <p:grpSpPr>
          <a:xfrm>
            <a:off x="6400038" y="1455422"/>
            <a:ext cx="5394960" cy="2218884"/>
            <a:chOff x="-303680" y="1455421"/>
            <a:chExt cx="5394960" cy="2240279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A4FB2BA6-E4EA-A93F-1521-17A5D008CD8E}"/>
                </a:ext>
              </a:extLst>
            </p:cNvPr>
            <p:cNvSpPr/>
            <p:nvPr/>
          </p:nvSpPr>
          <p:spPr>
            <a:xfrm flipH="1">
              <a:off x="-303680" y="1455421"/>
              <a:ext cx="5394960" cy="224027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71" name="Text Placeholder 6">
              <a:extLst>
                <a:ext uri="{FF2B5EF4-FFF2-40B4-BE49-F238E27FC236}">
                  <a16:creationId xmlns:a16="http://schemas.microsoft.com/office/drawing/2014/main" id="{649B9BDA-CC45-A592-5A9D-79D9552748DB}"/>
                </a:ext>
              </a:extLst>
            </p:cNvPr>
            <p:cNvSpPr txBox="1">
              <a:spLocks/>
            </p:cNvSpPr>
            <p:nvPr/>
          </p:nvSpPr>
          <p:spPr>
            <a:xfrm>
              <a:off x="-188618" y="1605540"/>
              <a:ext cx="5099522" cy="194004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1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Task</a:t>
              </a:r>
              <a:endParaRPr kumimoji="0" lang="en-US" sz="1400" b="1" i="1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Purpose: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Implementation work needed to deliver a story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600" b="0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Example: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Write CSV ingestion code for Bronze, implement cleaning rules for Silver, and develop sales aggregations for Gold.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00F2F3F-A9FA-FEED-6572-B5ABA3AC295A}"/>
              </a:ext>
            </a:extLst>
          </p:cNvPr>
          <p:cNvGrpSpPr/>
          <p:nvPr/>
        </p:nvGrpSpPr>
        <p:grpSpPr>
          <a:xfrm>
            <a:off x="6400038" y="3966405"/>
            <a:ext cx="5394960" cy="2218884"/>
            <a:chOff x="153248" y="1455421"/>
            <a:chExt cx="5279898" cy="224027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4B431DB-7464-36D0-B442-B9A6DABF57DF}"/>
                </a:ext>
              </a:extLst>
            </p:cNvPr>
            <p:cNvSpPr/>
            <p:nvPr/>
          </p:nvSpPr>
          <p:spPr>
            <a:xfrm flipH="1">
              <a:off x="153248" y="1455421"/>
              <a:ext cx="5279898" cy="224027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7" name="Text Placeholder 6">
              <a:extLst>
                <a:ext uri="{FF2B5EF4-FFF2-40B4-BE49-F238E27FC236}">
                  <a16:creationId xmlns:a16="http://schemas.microsoft.com/office/drawing/2014/main" id="{E132A838-6389-9395-5CB2-EE8CE8DBA81A}"/>
                </a:ext>
              </a:extLst>
            </p:cNvPr>
            <p:cNvSpPr txBox="1">
              <a:spLocks/>
            </p:cNvSpPr>
            <p:nvPr/>
          </p:nvSpPr>
          <p:spPr>
            <a:xfrm>
              <a:off x="333461" y="1605540"/>
              <a:ext cx="4923156" cy="194004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1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Definition of Done</a:t>
              </a:r>
              <a:endParaRPr kumimoji="0" lang="en-US" sz="1400" b="1" i="1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Purpose: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Shared delivery quality standards applied to every story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600" b="0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Example: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i="1" dirty="0"/>
                <a:t>Code reviewed, tests passed, acceptance criteria met, and documentation updated.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4818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68ABF-3B23-D242-A021-A4B33275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B10B345-B22B-6974-0E9A-8AB602A94E76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Who Shapes the Backlog?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968667F-35B8-D921-108D-11AFCC0F0D82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D41A2EC-1C81-7D91-A4D2-D7874DDF290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883A1F-6E41-3BE1-00EE-F4688DBD5D59}"/>
              </a:ext>
            </a:extLst>
          </p:cNvPr>
          <p:cNvGrpSpPr/>
          <p:nvPr/>
        </p:nvGrpSpPr>
        <p:grpSpPr>
          <a:xfrm>
            <a:off x="920513" y="1334319"/>
            <a:ext cx="10332720" cy="879491"/>
            <a:chOff x="1093768" y="1324694"/>
            <a:chExt cx="10332720" cy="87949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AF4279C-C8C2-2A9F-7767-24FAD085EA71}"/>
                </a:ext>
              </a:extLst>
            </p:cNvPr>
            <p:cNvSpPr/>
            <p:nvPr/>
          </p:nvSpPr>
          <p:spPr>
            <a:xfrm flipH="1">
              <a:off x="1093768" y="1324694"/>
              <a:ext cx="10332720" cy="879491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7" name="Picture 6" descr="Free User Icon, Symbol. Download in SVG &amp; PNG Formats.">
              <a:extLst>
                <a:ext uri="{FF2B5EF4-FFF2-40B4-BE49-F238E27FC236}">
                  <a16:creationId xmlns:a16="http://schemas.microsoft.com/office/drawing/2014/main" id="{15AF21FC-87DC-CBDA-30A8-AF3BADBDD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55554" y="1444399"/>
              <a:ext cx="640080" cy="64008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B3DC65-09E8-06E6-4115-4AF1F46C3330}"/>
                </a:ext>
              </a:extLst>
            </p:cNvPr>
            <p:cNvSpPr txBox="1"/>
            <p:nvPr/>
          </p:nvSpPr>
          <p:spPr>
            <a:xfrm>
              <a:off x="1895634" y="1533607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b="1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Stakeholder</a:t>
              </a: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 and </a:t>
              </a:r>
              <a:r>
                <a:rPr lang="en-US" b="1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Product Owner </a:t>
              </a: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clarify the need and priority.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AFD750-F802-A27B-4411-C6245318110E}"/>
              </a:ext>
            </a:extLst>
          </p:cNvPr>
          <p:cNvGrpSpPr/>
          <p:nvPr/>
        </p:nvGrpSpPr>
        <p:grpSpPr>
          <a:xfrm>
            <a:off x="920513" y="2422723"/>
            <a:ext cx="10332720" cy="879491"/>
            <a:chOff x="1093768" y="1324694"/>
            <a:chExt cx="10332720" cy="87949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4942983-34C5-64F1-AA6F-B49D662E2400}"/>
                </a:ext>
              </a:extLst>
            </p:cNvPr>
            <p:cNvSpPr/>
            <p:nvPr/>
          </p:nvSpPr>
          <p:spPr>
            <a:xfrm flipH="1">
              <a:off x="1093768" y="1324694"/>
              <a:ext cx="10332720" cy="879491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4" name="Picture 13" descr="Free User Icon, Symbol. Download in SVG &amp; PNG Formats.">
              <a:extLst>
                <a:ext uri="{FF2B5EF4-FFF2-40B4-BE49-F238E27FC236}">
                  <a16:creationId xmlns:a16="http://schemas.microsoft.com/office/drawing/2014/main" id="{B4013FEE-4A09-B745-EE23-92CDA5933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55554" y="1444399"/>
              <a:ext cx="640080" cy="6400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46B3A05-7FA4-FF1B-DEBE-FE4E498CBB26}"/>
                </a:ext>
              </a:extLst>
            </p:cNvPr>
            <p:cNvSpPr txBox="1"/>
            <p:nvPr/>
          </p:nvSpPr>
          <p:spPr>
            <a:xfrm>
              <a:off x="1895633" y="1533607"/>
              <a:ext cx="91156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b="1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Tech Lead</a:t>
              </a: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 and </a:t>
              </a:r>
              <a:r>
                <a:rPr lang="en-US" b="1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engineers</a:t>
              </a: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 identify design choices and dependencies.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9777F5-3829-C91B-7BD0-E096CF04979F}"/>
              </a:ext>
            </a:extLst>
          </p:cNvPr>
          <p:cNvGrpSpPr/>
          <p:nvPr/>
        </p:nvGrpSpPr>
        <p:grpSpPr>
          <a:xfrm>
            <a:off x="920513" y="3511127"/>
            <a:ext cx="10332720" cy="879491"/>
            <a:chOff x="1093768" y="1324694"/>
            <a:chExt cx="10332720" cy="87949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8EDAEF8-9E2F-1660-83CB-BE0F5B7B4F69}"/>
                </a:ext>
              </a:extLst>
            </p:cNvPr>
            <p:cNvSpPr/>
            <p:nvPr/>
          </p:nvSpPr>
          <p:spPr>
            <a:xfrm flipH="1">
              <a:off x="1093768" y="1324694"/>
              <a:ext cx="10332720" cy="879491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8" name="Picture 17" descr="Free User Icon, Symbol. Download in SVG &amp; PNG Formats.">
              <a:extLst>
                <a:ext uri="{FF2B5EF4-FFF2-40B4-BE49-F238E27FC236}">
                  <a16:creationId xmlns:a16="http://schemas.microsoft.com/office/drawing/2014/main" id="{56EA0B16-4C16-56DE-DEEE-CC820CED9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55554" y="1444399"/>
              <a:ext cx="640080" cy="64008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642BBD-892E-21B1-CB65-619066E90862}"/>
                </a:ext>
              </a:extLst>
            </p:cNvPr>
            <p:cNvSpPr txBox="1"/>
            <p:nvPr/>
          </p:nvSpPr>
          <p:spPr>
            <a:xfrm>
              <a:off x="1895634" y="1533607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b="1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Engineers</a:t>
              </a: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 and </a:t>
              </a:r>
              <a:r>
                <a:rPr lang="en-US" b="1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QA</a:t>
              </a: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 make acceptance criteria testable.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DEA204-2FD8-8404-9F8B-B698372B761D}"/>
              </a:ext>
            </a:extLst>
          </p:cNvPr>
          <p:cNvGrpSpPr/>
          <p:nvPr/>
        </p:nvGrpSpPr>
        <p:grpSpPr>
          <a:xfrm>
            <a:off x="920513" y="4599531"/>
            <a:ext cx="10332720" cy="879491"/>
            <a:chOff x="1093768" y="1324694"/>
            <a:chExt cx="10332720" cy="87949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6CDA935-6CA2-FC76-3ED5-4FAA945FFC4B}"/>
                </a:ext>
              </a:extLst>
            </p:cNvPr>
            <p:cNvSpPr/>
            <p:nvPr/>
          </p:nvSpPr>
          <p:spPr>
            <a:xfrm flipH="1">
              <a:off x="1093768" y="1324694"/>
              <a:ext cx="10332720" cy="879491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22" name="Picture 21" descr="Free User Icon, Symbol. Download in SVG &amp; PNG Formats.">
              <a:extLst>
                <a:ext uri="{FF2B5EF4-FFF2-40B4-BE49-F238E27FC236}">
                  <a16:creationId xmlns:a16="http://schemas.microsoft.com/office/drawing/2014/main" id="{1FE8EC84-31C1-D516-9BEB-DBA5B2354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55554" y="1444399"/>
              <a:ext cx="640080" cy="64008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4811BA-3F92-4510-C349-E22555749E1B}"/>
                </a:ext>
              </a:extLst>
            </p:cNvPr>
            <p:cNvSpPr txBox="1"/>
            <p:nvPr/>
          </p:nvSpPr>
          <p:spPr>
            <a:xfrm>
              <a:off x="1895634" y="1533607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The </a:t>
              </a:r>
              <a:r>
                <a:rPr lang="en-US" b="1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team</a:t>
              </a:r>
              <a:r>
                <a:rPr lang="en-US" b="0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 refines and estimates the work together.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3EC8D5E-4350-51D3-14CD-3D8240657138}"/>
              </a:ext>
            </a:extLst>
          </p:cNvPr>
          <p:cNvSpPr txBox="1"/>
          <p:nvPr/>
        </p:nvSpPr>
        <p:spPr>
          <a:xfrm>
            <a:off x="3472314" y="5775753"/>
            <a:ext cx="7780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b="0" i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Open questions become visible decisions or blockers.</a:t>
            </a:r>
          </a:p>
        </p:txBody>
      </p:sp>
    </p:spTree>
    <p:extLst>
      <p:ext uri="{BB962C8B-B14F-4D97-AF65-F5344CB8AC3E}">
        <p14:creationId xmlns:p14="http://schemas.microsoft.com/office/powerpoint/2010/main" val="329627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C3FD-2928-782F-C42C-C54E4770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FC875431-DC6B-B873-E8E7-A9DE019888D8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Requirements Activity: 20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075E7FF-CE73-0958-3688-063907D5532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2F21667-BEAD-0171-2B71-E526B7B18D7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DF8437-06BB-10FB-66F8-85F101F3C021}"/>
              </a:ext>
            </a:extLst>
          </p:cNvPr>
          <p:cNvGrpSpPr/>
          <p:nvPr/>
        </p:nvGrpSpPr>
        <p:grpSpPr>
          <a:xfrm>
            <a:off x="943276" y="1347537"/>
            <a:ext cx="8864866" cy="548640"/>
            <a:chOff x="943276" y="1347537"/>
            <a:chExt cx="8864866" cy="5486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340EE5-C9C7-17F8-AB78-C64C6E4FFCA3}"/>
                </a:ext>
              </a:extLst>
            </p:cNvPr>
            <p:cNvSpPr/>
            <p:nvPr/>
          </p:nvSpPr>
          <p:spPr>
            <a:xfrm>
              <a:off x="943276" y="1347537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400" b="1" dirty="0"/>
                <a:t>01</a:t>
              </a:r>
              <a:endParaRPr lang="en-US" sz="14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F2CD52-1AC2-7B6A-7305-04354EEB49BA}"/>
                </a:ext>
              </a:extLst>
            </p:cNvPr>
            <p:cNvSpPr txBox="1"/>
            <p:nvPr/>
          </p:nvSpPr>
          <p:spPr>
            <a:xfrm>
              <a:off x="1674252" y="1391024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Read the next two transcript slides: ~5 minutes.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8A84DA-DD2C-AB2B-CB6F-52B18CB42300}"/>
              </a:ext>
            </a:extLst>
          </p:cNvPr>
          <p:cNvGrpSpPr/>
          <p:nvPr/>
        </p:nvGrpSpPr>
        <p:grpSpPr>
          <a:xfrm>
            <a:off x="943276" y="2247559"/>
            <a:ext cx="8864866" cy="548640"/>
            <a:chOff x="943276" y="1347537"/>
            <a:chExt cx="8864866" cy="5486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2A10C10-A6AB-1D5E-2F65-AC2E0C9A00C6}"/>
                </a:ext>
              </a:extLst>
            </p:cNvPr>
            <p:cNvSpPr/>
            <p:nvPr/>
          </p:nvSpPr>
          <p:spPr>
            <a:xfrm>
              <a:off x="943276" y="1347537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400" b="1" dirty="0"/>
                <a:t>02</a:t>
              </a:r>
              <a:endParaRPr lang="en-US" sz="14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44F9BD3-7ADD-1AB2-19FB-2C5504542BA0}"/>
                </a:ext>
              </a:extLst>
            </p:cNvPr>
            <p:cNvSpPr txBox="1"/>
            <p:nvPr/>
          </p:nvSpPr>
          <p:spPr>
            <a:xfrm>
              <a:off x="1674252" y="1391024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Record the business problem, outputs and confirmed rules.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659443C-CF7F-BB6B-8CC5-A9092469641E}"/>
              </a:ext>
            </a:extLst>
          </p:cNvPr>
          <p:cNvGrpSpPr/>
          <p:nvPr/>
        </p:nvGrpSpPr>
        <p:grpSpPr>
          <a:xfrm>
            <a:off x="943276" y="3147581"/>
            <a:ext cx="8864866" cy="548640"/>
            <a:chOff x="943276" y="1347537"/>
            <a:chExt cx="8864866" cy="54864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101C2AF-ECF9-B194-066C-12C0A5CCC5CE}"/>
                </a:ext>
              </a:extLst>
            </p:cNvPr>
            <p:cNvSpPr/>
            <p:nvPr/>
          </p:nvSpPr>
          <p:spPr>
            <a:xfrm>
              <a:off x="943276" y="1347537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400" b="1" dirty="0"/>
                <a:t>03</a:t>
              </a:r>
              <a:endParaRPr lang="en-US" sz="14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8F11AFB-93D7-ECA4-7185-3284D926B7E8}"/>
                </a:ext>
              </a:extLst>
            </p:cNvPr>
            <p:cNvSpPr txBox="1"/>
            <p:nvPr/>
          </p:nvSpPr>
          <p:spPr>
            <a:xfrm>
              <a:off x="1674252" y="1391024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List questions or assumptions that need clarification.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FC465A-5BF1-2B26-C28C-0067AF0482DB}"/>
              </a:ext>
            </a:extLst>
          </p:cNvPr>
          <p:cNvGrpSpPr/>
          <p:nvPr/>
        </p:nvGrpSpPr>
        <p:grpSpPr>
          <a:xfrm>
            <a:off x="943276" y="4047603"/>
            <a:ext cx="8864866" cy="548640"/>
            <a:chOff x="943276" y="1347537"/>
            <a:chExt cx="8864866" cy="5486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2DE2A8C-739C-9BBA-4653-ABB06CA994FD}"/>
                </a:ext>
              </a:extLst>
            </p:cNvPr>
            <p:cNvSpPr/>
            <p:nvPr/>
          </p:nvSpPr>
          <p:spPr>
            <a:xfrm>
              <a:off x="943276" y="1347537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400" b="1" dirty="0"/>
                <a:t>04</a:t>
              </a:r>
              <a:endParaRPr lang="en-US" sz="1400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9D2BB96-95E2-23C0-FD06-0251A7AB8E35}"/>
                </a:ext>
              </a:extLst>
            </p:cNvPr>
            <p:cNvSpPr txBox="1"/>
            <p:nvPr/>
          </p:nvSpPr>
          <p:spPr>
            <a:xfrm>
              <a:off x="1674252" y="1391024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Draft one epic and three core user stories.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0A4C1BF-2FFF-2D5E-55AF-9665224C4E43}"/>
              </a:ext>
            </a:extLst>
          </p:cNvPr>
          <p:cNvGrpSpPr/>
          <p:nvPr/>
        </p:nvGrpSpPr>
        <p:grpSpPr>
          <a:xfrm>
            <a:off x="943276" y="4947624"/>
            <a:ext cx="8864866" cy="548640"/>
            <a:chOff x="943276" y="1347537"/>
            <a:chExt cx="8864866" cy="54864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400AE01-3E60-D9A7-3434-487874F8E834}"/>
                </a:ext>
              </a:extLst>
            </p:cNvPr>
            <p:cNvSpPr/>
            <p:nvPr/>
          </p:nvSpPr>
          <p:spPr>
            <a:xfrm>
              <a:off x="943276" y="1347537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400" b="1" dirty="0"/>
                <a:t>05</a:t>
              </a:r>
              <a:endParaRPr lang="en-US" sz="14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DA64F3F-41D1-1187-4693-74D402CC5C16}"/>
                </a:ext>
              </a:extLst>
            </p:cNvPr>
            <p:cNvSpPr txBox="1"/>
            <p:nvPr/>
          </p:nvSpPr>
          <p:spPr>
            <a:xfrm>
              <a:off x="1674252" y="1391024"/>
              <a:ext cx="81338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dirty="0">
                  <a:solidFill>
                    <a:srgbClr val="2C2C2D"/>
                  </a:solidFill>
                  <a:latin typeface="Calibri"/>
                  <a:ea typeface="Calibri"/>
                  <a:cs typeface="Calibri"/>
                </a:rPr>
                <a:t>Nominate one contact email and prepare an access request.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1117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E55F-9467-C202-2D59-05539779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4DA16F93-2126-4E1C-0956-54ADB41EFD3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 and Core Stories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F9044D6-01B4-E770-E513-624A31E7751D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A2D2F62-471B-70C1-FC9A-423600BB5DF2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EE358E-386B-C364-083C-B98A80017F05}"/>
              </a:ext>
            </a:extLst>
          </p:cNvPr>
          <p:cNvGrpSpPr/>
          <p:nvPr/>
        </p:nvGrpSpPr>
        <p:grpSpPr>
          <a:xfrm>
            <a:off x="847089" y="1497146"/>
            <a:ext cx="2392047" cy="4319454"/>
            <a:chOff x="598835" y="1528232"/>
            <a:chExt cx="3027045" cy="4319454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E818CC9-40B7-9F5D-52BC-60F1139E6020}"/>
                </a:ext>
              </a:extLst>
            </p:cNvPr>
            <p:cNvSpPr/>
            <p:nvPr/>
          </p:nvSpPr>
          <p:spPr>
            <a:xfrm flipH="1">
              <a:off x="598835" y="1528232"/>
              <a:ext cx="3027045" cy="4319454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3AA4789-A356-37AB-C6E0-2106F5DFCF6B}"/>
                </a:ext>
              </a:extLst>
            </p:cNvPr>
            <p:cNvGrpSpPr/>
            <p:nvPr/>
          </p:nvGrpSpPr>
          <p:grpSpPr>
            <a:xfrm>
              <a:off x="872098" y="2034915"/>
              <a:ext cx="2512484" cy="1387071"/>
              <a:chOff x="879164" y="2049733"/>
              <a:chExt cx="2512484" cy="1387071"/>
            </a:xfrm>
          </p:grpSpPr>
          <p:sp>
            <p:nvSpPr>
              <p:cNvPr id="52" name="Text Placeholder 6">
                <a:extLst>
                  <a:ext uri="{FF2B5EF4-FFF2-40B4-BE49-F238E27FC236}">
                    <a16:creationId xmlns:a16="http://schemas.microsoft.com/office/drawing/2014/main" id="{2FEC5A2E-6117-3C59-EC6B-2115EF6A65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049733"/>
                <a:ext cx="2512484" cy="700802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4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E01</a:t>
                </a:r>
              </a:p>
            </p:txBody>
          </p:sp>
          <p:sp>
            <p:nvSpPr>
              <p:cNvPr id="53" name="Text Placeholder 6">
                <a:extLst>
                  <a:ext uri="{FF2B5EF4-FFF2-40B4-BE49-F238E27FC236}">
                    <a16:creationId xmlns:a16="http://schemas.microsoft.com/office/drawing/2014/main" id="{B00A18CF-065D-3F2E-D668-8EB3D0447D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750535"/>
                <a:ext cx="2512484" cy="68626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6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Trusted daily sales reporting for Cafe.</a:t>
                </a: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79EF2E-B8EB-47BC-B1FB-CA5E65B31428}"/>
              </a:ext>
            </a:extLst>
          </p:cNvPr>
          <p:cNvGrpSpPr/>
          <p:nvPr/>
        </p:nvGrpSpPr>
        <p:grpSpPr>
          <a:xfrm>
            <a:off x="3549014" y="1497146"/>
            <a:ext cx="2392047" cy="4319454"/>
            <a:chOff x="598835" y="1528232"/>
            <a:chExt cx="3027045" cy="4319454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E0D37BEB-C784-8181-F248-1731274C8DDB}"/>
                </a:ext>
              </a:extLst>
            </p:cNvPr>
            <p:cNvSpPr/>
            <p:nvPr/>
          </p:nvSpPr>
          <p:spPr>
            <a:xfrm flipH="1">
              <a:off x="598835" y="1528232"/>
              <a:ext cx="3027045" cy="4319454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4431A69-79D2-7728-43E1-4F32DE0F6861}"/>
                </a:ext>
              </a:extLst>
            </p:cNvPr>
            <p:cNvGrpSpPr/>
            <p:nvPr/>
          </p:nvGrpSpPr>
          <p:grpSpPr>
            <a:xfrm>
              <a:off x="872098" y="2034915"/>
              <a:ext cx="2512484" cy="2234327"/>
              <a:chOff x="879164" y="2049733"/>
              <a:chExt cx="2512484" cy="2234327"/>
            </a:xfrm>
          </p:grpSpPr>
          <p:sp>
            <p:nvSpPr>
              <p:cNvPr id="68" name="Text Placeholder 6">
                <a:extLst>
                  <a:ext uri="{FF2B5EF4-FFF2-40B4-BE49-F238E27FC236}">
                    <a16:creationId xmlns:a16="http://schemas.microsoft.com/office/drawing/2014/main" id="{A284209B-3FD1-CC76-5280-7512AE3E20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049733"/>
                <a:ext cx="2512484" cy="700802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4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B01</a:t>
                </a:r>
              </a:p>
            </p:txBody>
          </p:sp>
          <p:sp>
            <p:nvSpPr>
              <p:cNvPr id="69" name="Text Placeholder 6">
                <a:extLst>
                  <a:ext uri="{FF2B5EF4-FFF2-40B4-BE49-F238E27FC236}">
                    <a16:creationId xmlns:a16="http://schemas.microsoft.com/office/drawing/2014/main" id="{FCACCECE-2169-BEB6-74D7-01CE1E37C5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750535"/>
                <a:ext cx="2512484" cy="1533525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6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As a data engineer, I need the original batch in Bronze so I can trace and replay the input.</a:t>
                </a: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D03CEFE-FE5A-B7AD-C10F-193A33BE6481}"/>
              </a:ext>
            </a:extLst>
          </p:cNvPr>
          <p:cNvGrpSpPr/>
          <p:nvPr/>
        </p:nvGrpSpPr>
        <p:grpSpPr>
          <a:xfrm>
            <a:off x="6250939" y="1497146"/>
            <a:ext cx="2392047" cy="4319454"/>
            <a:chOff x="598835" y="1528232"/>
            <a:chExt cx="3027045" cy="4319454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8ADEBA4D-C00D-F683-A96F-3E48B692FBCB}"/>
                </a:ext>
              </a:extLst>
            </p:cNvPr>
            <p:cNvSpPr/>
            <p:nvPr/>
          </p:nvSpPr>
          <p:spPr>
            <a:xfrm flipH="1">
              <a:off x="598835" y="1528232"/>
              <a:ext cx="3027045" cy="4319454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BDFC5C7-EB89-D583-2A38-FCC341827CB2}"/>
                </a:ext>
              </a:extLst>
            </p:cNvPr>
            <p:cNvGrpSpPr/>
            <p:nvPr/>
          </p:nvGrpSpPr>
          <p:grpSpPr>
            <a:xfrm>
              <a:off x="872098" y="2034915"/>
              <a:ext cx="2512484" cy="1387071"/>
              <a:chOff x="879164" y="2049733"/>
              <a:chExt cx="2512484" cy="1387071"/>
            </a:xfrm>
          </p:grpSpPr>
          <p:sp>
            <p:nvSpPr>
              <p:cNvPr id="78" name="Text Placeholder 6">
                <a:extLst>
                  <a:ext uri="{FF2B5EF4-FFF2-40B4-BE49-F238E27FC236}">
                    <a16:creationId xmlns:a16="http://schemas.microsoft.com/office/drawing/2014/main" id="{DDBC0610-5E43-984E-DF1D-0A3AB2C768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049733"/>
                <a:ext cx="2512484" cy="700802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4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S01</a:t>
                </a:r>
              </a:p>
            </p:txBody>
          </p:sp>
          <p:sp>
            <p:nvSpPr>
              <p:cNvPr id="79" name="Text Placeholder 6">
                <a:extLst>
                  <a:ext uri="{FF2B5EF4-FFF2-40B4-BE49-F238E27FC236}">
                    <a16:creationId xmlns:a16="http://schemas.microsoft.com/office/drawing/2014/main" id="{83B32FFA-ACF4-8173-85BA-ECBE4055A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750535"/>
                <a:ext cx="2512484" cy="68626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6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As an analyst, I need validated order lines so I can calculate consistent measures.</a:t>
                </a: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47E29D5-6A85-EAF3-875A-29DEDFDCD330}"/>
              </a:ext>
            </a:extLst>
          </p:cNvPr>
          <p:cNvGrpSpPr/>
          <p:nvPr/>
        </p:nvGrpSpPr>
        <p:grpSpPr>
          <a:xfrm>
            <a:off x="8952864" y="1497146"/>
            <a:ext cx="2392047" cy="4319454"/>
            <a:chOff x="598835" y="1528232"/>
            <a:chExt cx="3027045" cy="4319454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5A0B405A-6820-602F-4D17-61877B603D6B}"/>
                </a:ext>
              </a:extLst>
            </p:cNvPr>
            <p:cNvSpPr/>
            <p:nvPr/>
          </p:nvSpPr>
          <p:spPr>
            <a:xfrm flipH="1">
              <a:off x="598835" y="1528232"/>
              <a:ext cx="3027045" cy="4319454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DF39846-8B4E-F462-748F-325A94478579}"/>
                </a:ext>
              </a:extLst>
            </p:cNvPr>
            <p:cNvGrpSpPr/>
            <p:nvPr/>
          </p:nvGrpSpPr>
          <p:grpSpPr>
            <a:xfrm>
              <a:off x="872098" y="2034915"/>
              <a:ext cx="2512484" cy="1387071"/>
              <a:chOff x="879164" y="2049733"/>
              <a:chExt cx="2512484" cy="1387071"/>
            </a:xfrm>
          </p:grpSpPr>
          <p:sp>
            <p:nvSpPr>
              <p:cNvPr id="83" name="Text Placeholder 6">
                <a:extLst>
                  <a:ext uri="{FF2B5EF4-FFF2-40B4-BE49-F238E27FC236}">
                    <a16:creationId xmlns:a16="http://schemas.microsoft.com/office/drawing/2014/main" id="{5FCE9A7C-90CF-4CE0-DAA2-CF090F2F09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049733"/>
                <a:ext cx="2512484" cy="700802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4400" b="1" dirty="0">
                    <a:solidFill>
                      <a:schemeClr val="accent1"/>
                    </a:solidFill>
                  </a:rPr>
                  <a:t>G</a:t>
                </a:r>
                <a:r>
                  <a:rPr kumimoji="0" lang="en-US" sz="4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84" name="Text Placeholder 6">
                <a:extLst>
                  <a:ext uri="{FF2B5EF4-FFF2-40B4-BE49-F238E27FC236}">
                    <a16:creationId xmlns:a16="http://schemas.microsoft.com/office/drawing/2014/main" id="{DA503981-944E-379A-9597-2F230C2F13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64" y="2750535"/>
                <a:ext cx="2512484" cy="68626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6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As a store manager, I need daily and product sales summaries so I can review performance.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9794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EB45-C14C-39EC-F4C7-36DA2C07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fessional in an office">
            <a:extLst>
              <a:ext uri="{FF2B5EF4-FFF2-40B4-BE49-F238E27FC236}">
                <a16:creationId xmlns:a16="http://schemas.microsoft.com/office/drawing/2014/main" id="{B3FE85EE-9717-32A7-50A6-5A6F27BC4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7" r="17427"/>
          <a:stretch/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32D9C7-5AF8-BA38-DC61-ADF29F8B5CE7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EB0D9D2-985E-CFB4-1605-95507960F567}"/>
              </a:ext>
            </a:extLst>
          </p:cNvPr>
          <p:cNvSpPr/>
          <p:nvPr/>
        </p:nvSpPr>
        <p:spPr>
          <a:xfrm rot="5400000" flipH="1">
            <a:off x="-444500" y="444499"/>
            <a:ext cx="6858000" cy="596900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A5FDB60C-BE35-E866-0ABE-E4D2D1A3F124}"/>
              </a:ext>
            </a:extLst>
          </p:cNvPr>
          <p:cNvSpPr txBox="1">
            <a:spLocks/>
          </p:cNvSpPr>
          <p:nvPr/>
        </p:nvSpPr>
        <p:spPr>
          <a:xfrm>
            <a:off x="408173" y="2538246"/>
            <a:ext cx="5152654" cy="816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5400" b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10-minute Break</a:t>
            </a:r>
          </a:p>
        </p:txBody>
      </p:sp>
      <p:pic>
        <p:nvPicPr>
          <p:cNvPr id="10" name="Graphic 9" descr="End with solid fill">
            <a:extLst>
              <a:ext uri="{FF2B5EF4-FFF2-40B4-BE49-F238E27FC236}">
                <a16:creationId xmlns:a16="http://schemas.microsoft.com/office/drawing/2014/main" id="{DF5727F2-A09B-CCE9-36ED-C09C6295B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573" y="3354552"/>
            <a:ext cx="385182" cy="385182"/>
          </a:xfrm>
          <a:prstGeom prst="rect">
            <a:avLst/>
          </a:prstGeom>
        </p:spPr>
      </p:pic>
      <p:sp>
        <p:nvSpPr>
          <p:cNvPr id="13" name="Title 5">
            <a:extLst>
              <a:ext uri="{FF2B5EF4-FFF2-40B4-BE49-F238E27FC236}">
                <a16:creationId xmlns:a16="http://schemas.microsoft.com/office/drawing/2014/main" id="{39EC679B-F879-E618-A845-57764B1CCF3D}"/>
              </a:ext>
            </a:extLst>
          </p:cNvPr>
          <p:cNvSpPr txBox="1">
            <a:spLocks/>
          </p:cNvSpPr>
          <p:nvPr/>
        </p:nvSpPr>
        <p:spPr>
          <a:xfrm>
            <a:off x="960599" y="3365941"/>
            <a:ext cx="1508248" cy="362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b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Up Next…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2388B8A-80D9-8434-1BB5-9629CC2C2159}"/>
              </a:ext>
            </a:extLst>
          </p:cNvPr>
          <p:cNvSpPr>
            <a:spLocks noGrp="1"/>
          </p:cNvSpPr>
          <p:nvPr/>
        </p:nvSpPr>
        <p:spPr>
          <a:xfrm>
            <a:off x="560573" y="3846040"/>
            <a:ext cx="4949134" cy="6496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b="0" i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Access check and Tech Lead demonstration.</a:t>
            </a:r>
          </a:p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1600" b="0" i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your requirements notes and group number ready.</a:t>
            </a:r>
          </a:p>
        </p:txBody>
      </p:sp>
    </p:spTree>
    <p:extLst>
      <p:ext uri="{BB962C8B-B14F-4D97-AF65-F5344CB8AC3E}">
        <p14:creationId xmlns:p14="http://schemas.microsoft.com/office/powerpoint/2010/main" val="3564652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E62B-982E-1FA5-7556-5EA2B7D5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2EDA56B2-2CEA-A8E2-E1C3-88C5F392DC7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Technical Foundation Demo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00520DD-7639-AD01-83F6-E8A775D9725A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FB11A41-FB95-01E7-A4BA-80D9094E9A9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453A59-1354-9DA1-6ACC-4A941F906C84}"/>
              </a:ext>
            </a:extLst>
          </p:cNvPr>
          <p:cNvSpPr txBox="1"/>
          <p:nvPr/>
        </p:nvSpPr>
        <p:spPr>
          <a:xfrm>
            <a:off x="943276" y="1391024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Show the source file, the target tables and their owners.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18D947-FC62-D784-F401-BFE92EC85561}"/>
              </a:ext>
            </a:extLst>
          </p:cNvPr>
          <p:cNvSpPr txBox="1"/>
          <p:nvPr/>
        </p:nvSpPr>
        <p:spPr>
          <a:xfrm>
            <a:off x="943276" y="2291046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Explain the architecture and where quality checks run.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3308D2-E11F-8CC7-78FE-C25BA72828BA}"/>
              </a:ext>
            </a:extLst>
          </p:cNvPr>
          <p:cNvSpPr txBox="1"/>
          <p:nvPr/>
        </p:nvSpPr>
        <p:spPr>
          <a:xfrm>
            <a:off x="943276" y="3191068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Demonstrate Git, secret retrieval and compute selection.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653CD-9C63-3251-A295-3684DCD19FAF}"/>
              </a:ext>
            </a:extLst>
          </p:cNvPr>
          <p:cNvSpPr txBox="1"/>
          <p:nvPr/>
        </p:nvSpPr>
        <p:spPr>
          <a:xfrm>
            <a:off x="943276" y="4091090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Open the starter notebook and run the access check.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0D428B-C503-74F3-8B98-11A5E6E8B673}"/>
              </a:ext>
            </a:extLst>
          </p:cNvPr>
          <p:cNvSpPr txBox="1"/>
          <p:nvPr/>
        </p:nvSpPr>
        <p:spPr>
          <a:xfrm>
            <a:off x="943276" y="4991111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Students identify their source path and group schema.</a:t>
            </a:r>
          </a:p>
        </p:txBody>
      </p:sp>
    </p:spTree>
    <p:extLst>
      <p:ext uri="{BB962C8B-B14F-4D97-AF65-F5344CB8AC3E}">
        <p14:creationId xmlns:p14="http://schemas.microsoft.com/office/powerpoint/2010/main" val="113029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9B75-056D-BDC4-A710-04462F99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EDACD1E5-0A6D-3412-14E9-3F7DB4000B6D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High Level Architecture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E1D6717-4EB9-E087-A6D3-7936257A7ACF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A93FDB9-3407-EC64-A35D-812321BA01E2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16" name="Content Placeholder 7" descr="Store with solid fill">
            <a:extLst>
              <a:ext uri="{FF2B5EF4-FFF2-40B4-BE49-F238E27FC236}">
                <a16:creationId xmlns:a16="http://schemas.microsoft.com/office/drawing/2014/main" id="{83A9A004-F60D-9DC4-C175-97D55D16AAFE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9518" y="1735138"/>
            <a:ext cx="914400" cy="914400"/>
          </a:xfrm>
        </p:spPr>
      </p:pic>
      <p:pic>
        <p:nvPicPr>
          <p:cNvPr id="17" name="Content Placeholder 7" descr="Store with solid fill">
            <a:extLst>
              <a:ext uri="{FF2B5EF4-FFF2-40B4-BE49-F238E27FC236}">
                <a16:creationId xmlns:a16="http://schemas.microsoft.com/office/drawing/2014/main" id="{B65BF7D3-8AC8-87EC-7B58-4BEF82533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9518" y="2987675"/>
            <a:ext cx="914400" cy="914400"/>
          </a:xfrm>
          <a:prstGeom prst="rect">
            <a:avLst/>
          </a:prstGeom>
        </p:spPr>
      </p:pic>
      <p:pic>
        <p:nvPicPr>
          <p:cNvPr id="18" name="Content Placeholder 7" descr="Store with solid fill">
            <a:extLst>
              <a:ext uri="{FF2B5EF4-FFF2-40B4-BE49-F238E27FC236}">
                <a16:creationId xmlns:a16="http://schemas.microsoft.com/office/drawing/2014/main" id="{66BBC56D-BECE-9F02-162A-0B0D1947B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9518" y="4240213"/>
            <a:ext cx="914400" cy="914400"/>
          </a:xfrm>
          <a:prstGeom prst="rect">
            <a:avLst/>
          </a:prstGeom>
        </p:spPr>
      </p:pic>
      <p:pic>
        <p:nvPicPr>
          <p:cNvPr id="19" name="Picture 18" descr="Network Drive icon in Windows 10 Style">
            <a:extLst>
              <a:ext uri="{FF2B5EF4-FFF2-40B4-BE49-F238E27FC236}">
                <a16:creationId xmlns:a16="http://schemas.microsoft.com/office/drawing/2014/main" id="{A0BB882A-AAED-DFC9-29BC-A71719180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899" y="1735138"/>
            <a:ext cx="914400" cy="914400"/>
          </a:xfrm>
          <a:prstGeom prst="rect">
            <a:avLst/>
          </a:prstGeom>
        </p:spPr>
      </p:pic>
      <p:pic>
        <p:nvPicPr>
          <p:cNvPr id="20" name="Picture 19" descr="Network Drive icon in Windows 10 Style">
            <a:extLst>
              <a:ext uri="{FF2B5EF4-FFF2-40B4-BE49-F238E27FC236}">
                <a16:creationId xmlns:a16="http://schemas.microsoft.com/office/drawing/2014/main" id="{D0AFEF38-2639-AC35-A39C-DA7AF560B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899" y="2987675"/>
            <a:ext cx="914400" cy="914400"/>
          </a:xfrm>
          <a:prstGeom prst="rect">
            <a:avLst/>
          </a:prstGeom>
        </p:spPr>
      </p:pic>
      <p:pic>
        <p:nvPicPr>
          <p:cNvPr id="21" name="Picture 20" descr="Network Drive icon in Windows 10 Style">
            <a:extLst>
              <a:ext uri="{FF2B5EF4-FFF2-40B4-BE49-F238E27FC236}">
                <a16:creationId xmlns:a16="http://schemas.microsoft.com/office/drawing/2014/main" id="{439CCD71-3296-F1C1-72CA-8913BB4EB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561" y="4240212"/>
            <a:ext cx="914400" cy="914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A7DBCA-5FE7-209C-AEB2-6ABB37ADBCBA}"/>
              </a:ext>
            </a:extLst>
          </p:cNvPr>
          <p:cNvCxnSpPr>
            <a:endCxn id="19" idx="1"/>
          </p:cNvCxnSpPr>
          <p:nvPr/>
        </p:nvCxnSpPr>
        <p:spPr>
          <a:xfrm>
            <a:off x="2353918" y="2192338"/>
            <a:ext cx="3579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55E32A-F987-AE7B-4D14-1D160481B7F8}"/>
              </a:ext>
            </a:extLst>
          </p:cNvPr>
          <p:cNvCxnSpPr>
            <a:endCxn id="20" idx="1"/>
          </p:cNvCxnSpPr>
          <p:nvPr/>
        </p:nvCxnSpPr>
        <p:spPr>
          <a:xfrm>
            <a:off x="2353918" y="3444875"/>
            <a:ext cx="3579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87AB5D1-CD5B-C218-0830-A4E7152AA252}"/>
              </a:ext>
            </a:extLst>
          </p:cNvPr>
          <p:cNvCxnSpPr>
            <a:endCxn id="21" idx="1"/>
          </p:cNvCxnSpPr>
          <p:nvPr/>
        </p:nvCxnSpPr>
        <p:spPr>
          <a:xfrm>
            <a:off x="2353918" y="4697412"/>
            <a:ext cx="324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zure Databricks Icon - SVG &amp; PNG Download | AZ-Icons">
            <a:extLst>
              <a:ext uri="{FF2B5EF4-FFF2-40B4-BE49-F238E27FC236}">
                <a16:creationId xmlns:a16="http://schemas.microsoft.com/office/drawing/2014/main" id="{23E6FD2E-D15F-054B-2F4B-19DDFF0B5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359" y="1863726"/>
            <a:ext cx="1147762" cy="1147762"/>
          </a:xfrm>
          <a:prstGeom prst="rect">
            <a:avLst/>
          </a:prstGeom>
        </p:spPr>
      </p:pic>
      <p:pic>
        <p:nvPicPr>
          <p:cNvPr id="26" name="Picture 25" descr="Azure Key Vaults Icon - SVG &amp; PNG Download | AZ-Icons">
            <a:extLst>
              <a:ext uri="{FF2B5EF4-FFF2-40B4-BE49-F238E27FC236}">
                <a16:creationId xmlns:a16="http://schemas.microsoft.com/office/drawing/2014/main" id="{618EAA35-7DBC-B75B-C3C3-9486F86E7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1136" y="2254808"/>
            <a:ext cx="619125" cy="582706"/>
          </a:xfrm>
          <a:prstGeom prst="rect">
            <a:avLst/>
          </a:prstGeom>
        </p:spPr>
      </p:pic>
      <p:pic>
        <p:nvPicPr>
          <p:cNvPr id="27" name="Picture 26" descr="Databricks Architecture Icons: SVG, PNG, Mermaid, draw.io">
            <a:extLst>
              <a:ext uri="{FF2B5EF4-FFF2-40B4-BE49-F238E27FC236}">
                <a16:creationId xmlns:a16="http://schemas.microsoft.com/office/drawing/2014/main" id="{1356FBF1-BAB9-2AEC-A2DD-2E4BD6D829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657" y="3206217"/>
            <a:ext cx="609604" cy="609604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9FB574-A3F4-13D5-9B5C-5A011B62B7A8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>
            <a:off x="3626299" y="2192338"/>
            <a:ext cx="614358" cy="1318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71DB73-1CC5-A19B-ECAE-3785475CE3E4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>
            <a:off x="3626299" y="3444875"/>
            <a:ext cx="614358" cy="6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DB8D30-055E-BE45-F6AA-3ACBB561766F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 flipV="1">
            <a:off x="3592961" y="3511019"/>
            <a:ext cx="647696" cy="118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5FE87F-2856-7C54-7073-6A01F63A8754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4540699" y="2837514"/>
            <a:ext cx="4760" cy="368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A38A495-18E7-3EE7-93C7-89BC167CE314}"/>
              </a:ext>
            </a:extLst>
          </p:cNvPr>
          <p:cNvSpPr txBox="1"/>
          <p:nvPr/>
        </p:nvSpPr>
        <p:spPr>
          <a:xfrm>
            <a:off x="1278387" y="2587628"/>
            <a:ext cx="112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Store PH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311767-2592-A85D-F25C-9174DF6989DC}"/>
              </a:ext>
            </a:extLst>
          </p:cNvPr>
          <p:cNvSpPr txBox="1"/>
          <p:nvPr/>
        </p:nvSpPr>
        <p:spPr>
          <a:xfrm>
            <a:off x="1276011" y="3826947"/>
            <a:ext cx="112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Store KR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687C6E-710F-C488-D5E2-914480478038}"/>
              </a:ext>
            </a:extLst>
          </p:cNvPr>
          <p:cNvSpPr txBox="1"/>
          <p:nvPr/>
        </p:nvSpPr>
        <p:spPr>
          <a:xfrm>
            <a:off x="1276011" y="5066266"/>
            <a:ext cx="112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Store US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6C25DE-545A-2CE6-CA27-252F9EB4E9A2}"/>
              </a:ext>
            </a:extLst>
          </p:cNvPr>
          <p:cNvSpPr txBox="1"/>
          <p:nvPr/>
        </p:nvSpPr>
        <p:spPr>
          <a:xfrm>
            <a:off x="2404720" y="2593997"/>
            <a:ext cx="165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Network Drive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C54D21-0537-C50C-DBB9-D080DA303A84}"/>
              </a:ext>
            </a:extLst>
          </p:cNvPr>
          <p:cNvSpPr txBox="1"/>
          <p:nvPr/>
        </p:nvSpPr>
        <p:spPr>
          <a:xfrm>
            <a:off x="2353918" y="3840164"/>
            <a:ext cx="165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Network Drive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AB07D3-9237-BC8A-475F-CDE2ABE4F257}"/>
              </a:ext>
            </a:extLst>
          </p:cNvPr>
          <p:cNvSpPr txBox="1"/>
          <p:nvPr/>
        </p:nvSpPr>
        <p:spPr>
          <a:xfrm>
            <a:off x="2342805" y="5022332"/>
            <a:ext cx="165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Network Drive</a:t>
            </a:r>
          </a:p>
        </p:txBody>
      </p:sp>
      <p:pic>
        <p:nvPicPr>
          <p:cNvPr id="39" name="Picture 38" descr="Leveraging Delta Live Tables and Live Streaming in Databricks with PySpark">
            <a:extLst>
              <a:ext uri="{FF2B5EF4-FFF2-40B4-BE49-F238E27FC236}">
                <a16:creationId xmlns:a16="http://schemas.microsoft.com/office/drawing/2014/main" id="{2E47252A-C6E0-E64F-D9AA-7B3BFA5D35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4747" y="3129710"/>
            <a:ext cx="1176337" cy="762617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69271C-F6F0-8DDB-6C00-49B13B054A68}"/>
              </a:ext>
            </a:extLst>
          </p:cNvPr>
          <p:cNvCxnSpPr>
            <a:stCxn id="27" idx="3"/>
            <a:endCxn id="39" idx="1"/>
          </p:cNvCxnSpPr>
          <p:nvPr/>
        </p:nvCxnSpPr>
        <p:spPr>
          <a:xfrm>
            <a:off x="4850261" y="3511019"/>
            <a:ext cx="344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Leveraging Delta Live Tables and Live Streaming in Databricks with PySpark">
            <a:extLst>
              <a:ext uri="{FF2B5EF4-FFF2-40B4-BE49-F238E27FC236}">
                <a16:creationId xmlns:a16="http://schemas.microsoft.com/office/drawing/2014/main" id="{47242874-B455-DE53-BF86-B1BBF1848C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348" y="3139458"/>
            <a:ext cx="1176337" cy="762617"/>
          </a:xfrm>
          <a:prstGeom prst="rect">
            <a:avLst/>
          </a:prstGeom>
        </p:spPr>
      </p:pic>
      <p:pic>
        <p:nvPicPr>
          <p:cNvPr id="43" name="Picture 42" descr="Leveraging Delta Live Tables and Live Streaming in Databricks with PySpark">
            <a:extLst>
              <a:ext uri="{FF2B5EF4-FFF2-40B4-BE49-F238E27FC236}">
                <a16:creationId xmlns:a16="http://schemas.microsoft.com/office/drawing/2014/main" id="{DDA3BEF9-2C33-D590-3635-6BD24F9D7B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7949" y="3153480"/>
            <a:ext cx="1176337" cy="762617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A00A97-AAC0-8A96-806C-1C379C778926}"/>
              </a:ext>
            </a:extLst>
          </p:cNvPr>
          <p:cNvCxnSpPr>
            <a:stCxn id="39" idx="3"/>
            <a:endCxn id="42" idx="1"/>
          </p:cNvCxnSpPr>
          <p:nvPr/>
        </p:nvCxnSpPr>
        <p:spPr>
          <a:xfrm>
            <a:off x="6371084" y="3511019"/>
            <a:ext cx="135264" cy="9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DFFDC1C-324D-CCBF-894F-ADE352A45387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>
            <a:off x="7682685" y="3520767"/>
            <a:ext cx="135264" cy="14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A43ECAD-AFCB-63CB-E59F-3E55FBCECAB6}"/>
              </a:ext>
            </a:extLst>
          </p:cNvPr>
          <p:cNvSpPr txBox="1"/>
          <p:nvPr/>
        </p:nvSpPr>
        <p:spPr>
          <a:xfrm>
            <a:off x="5367224" y="4011613"/>
            <a:ext cx="8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Bronze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A439D6-19A4-C52C-4745-311BC24B4A6E}"/>
              </a:ext>
            </a:extLst>
          </p:cNvPr>
          <p:cNvSpPr txBox="1"/>
          <p:nvPr/>
        </p:nvSpPr>
        <p:spPr>
          <a:xfrm>
            <a:off x="6797771" y="4010542"/>
            <a:ext cx="693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Silver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A211F5-3A4A-3C83-A162-91BDC5BFA2CF}"/>
              </a:ext>
            </a:extLst>
          </p:cNvPr>
          <p:cNvSpPr txBox="1"/>
          <p:nvPr/>
        </p:nvSpPr>
        <p:spPr>
          <a:xfrm>
            <a:off x="8090717" y="402483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Gold</a:t>
            </a:r>
          </a:p>
        </p:txBody>
      </p:sp>
      <p:pic>
        <p:nvPicPr>
          <p:cNvPr id="51" name="Picture 50" descr="Power BI Logo and symbol, meaning, history, PNG, brand">
            <a:extLst>
              <a:ext uri="{FF2B5EF4-FFF2-40B4-BE49-F238E27FC236}">
                <a16:creationId xmlns:a16="http://schemas.microsoft.com/office/drawing/2014/main" id="{F823E990-34B3-45A0-0F38-4583304C8D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3529" y="3045957"/>
            <a:ext cx="1740221" cy="978873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3386913-F241-E3B6-6A6F-794C8A0A3DAE}"/>
              </a:ext>
            </a:extLst>
          </p:cNvPr>
          <p:cNvCxnSpPr>
            <a:stCxn id="43" idx="3"/>
            <a:endCxn id="51" idx="1"/>
          </p:cNvCxnSpPr>
          <p:nvPr/>
        </p:nvCxnSpPr>
        <p:spPr>
          <a:xfrm>
            <a:off x="8994286" y="3534789"/>
            <a:ext cx="219243" cy="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7A8E5E7-CBE5-8F82-1107-2F5AAEEB64A0}"/>
              </a:ext>
            </a:extLst>
          </p:cNvPr>
          <p:cNvSpPr txBox="1"/>
          <p:nvPr/>
        </p:nvSpPr>
        <p:spPr>
          <a:xfrm>
            <a:off x="9574797" y="4024830"/>
            <a:ext cx="1105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Reporting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1CCEA8-25D7-064B-9A86-E5F8398156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1361" y="1476102"/>
            <a:ext cx="9869277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02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1938-30D2-A91F-3F89-44214482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20879828-B071-751B-E804-39424614CFB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Engineering Habits during the Lab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15FC260-AFAF-D03B-22DE-4A4E0D42BC3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143186-2514-0293-DF99-69DF43118584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6D1C56-E4B7-F796-7496-6FC5E8BF5D8D}"/>
              </a:ext>
            </a:extLst>
          </p:cNvPr>
          <p:cNvSpPr/>
          <p:nvPr/>
        </p:nvSpPr>
        <p:spPr>
          <a:xfrm>
            <a:off x="2391870" y="1346182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KISS: use the simplest logic that satisfies the requirement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43FDB1-892B-DE9D-AE03-65C16B3BBA38}"/>
              </a:ext>
            </a:extLst>
          </p:cNvPr>
          <p:cNvSpPr/>
          <p:nvPr/>
        </p:nvSpPr>
        <p:spPr>
          <a:xfrm>
            <a:off x="2391870" y="2338607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Give variables, tables and functions clear names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1CA3A8-523E-3A94-DB0E-A99CDE0C0380}"/>
              </a:ext>
            </a:extLst>
          </p:cNvPr>
          <p:cNvSpPr/>
          <p:nvPr/>
        </p:nvSpPr>
        <p:spPr>
          <a:xfrm>
            <a:off x="2391870" y="3331032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Keep source paths and table names in configuration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52DDE4-8744-963C-BD84-D51904844BD1}"/>
              </a:ext>
            </a:extLst>
          </p:cNvPr>
          <p:cNvSpPr/>
          <p:nvPr/>
        </p:nvSpPr>
        <p:spPr>
          <a:xfrm>
            <a:off x="2391870" y="4323457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Extract repeated logic into a small function when useful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64E387-B87F-CC05-71A1-F86D09E418F2}"/>
              </a:ext>
            </a:extLst>
          </p:cNvPr>
          <p:cNvSpPr/>
          <p:nvPr/>
        </p:nvSpPr>
        <p:spPr>
          <a:xfrm>
            <a:off x="2391870" y="5315881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Review generated code and explain every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913306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B9EE-1425-FF77-20B3-F9A3D97E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B2E2CE2-7754-9471-014C-85EB9F1426CD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User Story Breakdown Activity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3FFAF00-46B5-6E14-C6B4-9C11106A57C6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0E3FFA6-C5FF-D70F-8D42-E195FFC91A0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49D47-8412-5164-7693-CF56C3C69D2B}"/>
              </a:ext>
            </a:extLst>
          </p:cNvPr>
          <p:cNvSpPr txBox="1"/>
          <p:nvPr/>
        </p:nvSpPr>
        <p:spPr>
          <a:xfrm>
            <a:off x="943276" y="1391024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 B01 into tasks with a clear owner and output.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5FDF44-AD1E-5555-6827-20B2686DEF76}"/>
              </a:ext>
            </a:extLst>
          </p:cNvPr>
          <p:cNvSpPr txBox="1"/>
          <p:nvPr/>
        </p:nvSpPr>
        <p:spPr>
          <a:xfrm>
            <a:off x="943276" y="2291046"/>
            <a:ext cx="977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Include access checks, implementation, validation and review.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F0BE73-50CF-B998-D0BA-13D93B7B93BC}"/>
              </a:ext>
            </a:extLst>
          </p:cNvPr>
          <p:cNvSpPr txBox="1"/>
          <p:nvPr/>
        </p:nvSpPr>
        <p:spPr>
          <a:xfrm>
            <a:off x="943276" y="3191068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Identify what could block each task.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23E2EB-D0DA-0E49-FFAA-C20B414E2B9A}"/>
              </a:ext>
            </a:extLst>
          </p:cNvPr>
          <p:cNvSpPr txBox="1"/>
          <p:nvPr/>
        </p:nvSpPr>
        <p:spPr>
          <a:xfrm>
            <a:off x="943276" y="4091090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One group presents its breakdown in two minutes.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F0E9B3-0154-0C33-B217-105A2DDA3159}"/>
              </a:ext>
            </a:extLst>
          </p:cNvPr>
          <p:cNvSpPr txBox="1"/>
          <p:nvPr/>
        </p:nvSpPr>
        <p:spPr>
          <a:xfrm>
            <a:off x="943276" y="4991111"/>
            <a:ext cx="9178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The room checks whether every acceptance criterion has a task.</a:t>
            </a:r>
          </a:p>
        </p:txBody>
      </p:sp>
    </p:spTree>
    <p:extLst>
      <p:ext uri="{BB962C8B-B14F-4D97-AF65-F5344CB8AC3E}">
        <p14:creationId xmlns:p14="http://schemas.microsoft.com/office/powerpoint/2010/main" val="1417621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8438-F5E3-F922-14F7-83F56370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D6BF7D67-D7CC-4A06-4054-B52EDBB1A744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/>
              <a:t>🥉B</a:t>
            </a: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01: Bronze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2CD44D9-C07A-723A-533F-764A28F308A4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0741F35-9740-D92D-3843-06FAF146554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C33A31C3-E194-0F35-5A67-B26F92A56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41165"/>
              </p:ext>
            </p:extLst>
          </p:nvPr>
        </p:nvGraphicFramePr>
        <p:xfrm>
          <a:off x="971550" y="1638300"/>
          <a:ext cx="102489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846751510"/>
                    </a:ext>
                  </a:extLst>
                </a:gridCol>
                <a:gridCol w="9467850">
                  <a:extLst>
                    <a:ext uri="{9D8B030D-6E8A-4147-A177-3AD203B41FA5}">
                      <a16:colId xmlns:a16="http://schemas.microsoft.com/office/drawing/2014/main" val="2739908946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Item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35285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74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 14 expected source columns exist in the supplied order</a:t>
                      </a:r>
                      <a:r>
                        <a:rPr lang="en-US" sz="2400" b="0" dirty="0">
                          <a:solidFill>
                            <a:srgbClr val="2C2C2D"/>
                          </a:solidFill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342089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74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/>
                      <a:r>
                        <a:rPr lang="en-US" dirty="0"/>
                        <a:t>Bronze preserves all 25,824 rows in the supplied mini-batch.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9417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74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Keep raw business fields as strings, including local amounts and timestamps.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31452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74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/>
                      <a:r>
                        <a:rPr lang="en-US" dirty="0"/>
                        <a:t>Each row has </a:t>
                      </a:r>
                      <a:r>
                        <a:rPr lang="en-US" dirty="0" err="1"/>
                        <a:t>source_file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ingested_at</a:t>
                      </a:r>
                      <a:r>
                        <a:rPr lang="en-US" dirty="0"/>
                        <a:t> metadata.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18673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74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Rerunning the same batch preserves the selected store count without duplication.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97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722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D281F-C048-0DF9-493D-4E7BBACD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307947E0-C7C1-E6F3-3D62-C715BC946F38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/>
              <a:t>🥉</a:t>
            </a: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Bronze Laboratory (25 minutes)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7BB2975-8A6F-45C7-695C-E853C7FA5FF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8FC09D7-5BD6-6A16-EFD9-F43604B287A6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FE1D15E-04EE-4612-ABE0-BFE65343133C}"/>
              </a:ext>
            </a:extLst>
          </p:cNvPr>
          <p:cNvSpPr/>
          <p:nvPr/>
        </p:nvSpPr>
        <p:spPr>
          <a:xfrm>
            <a:off x="1616376" y="2397908"/>
            <a:ext cx="548640" cy="548640"/>
          </a:xfrm>
          <a:prstGeom prst="ellipse">
            <a:avLst/>
          </a:prstGeom>
          <a:solidFill>
            <a:srgbClr val="C077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02</a:t>
            </a:r>
            <a:endParaRPr lang="en-US" sz="1400" b="1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CDF8530-7D2E-282E-6DBC-EF3E49FBDD47}"/>
              </a:ext>
            </a:extLst>
          </p:cNvPr>
          <p:cNvSpPr/>
          <p:nvPr/>
        </p:nvSpPr>
        <p:spPr>
          <a:xfrm>
            <a:off x="1616376" y="3434080"/>
            <a:ext cx="548640" cy="548640"/>
          </a:xfrm>
          <a:prstGeom prst="ellipse">
            <a:avLst/>
          </a:prstGeom>
          <a:solidFill>
            <a:srgbClr val="C077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03</a:t>
            </a:r>
            <a:endParaRPr lang="en-US" sz="1400" b="1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5BDB75A-182D-612C-8D66-13AF7CBC5A55}"/>
              </a:ext>
            </a:extLst>
          </p:cNvPr>
          <p:cNvSpPr/>
          <p:nvPr/>
        </p:nvSpPr>
        <p:spPr>
          <a:xfrm>
            <a:off x="1616376" y="4470252"/>
            <a:ext cx="548640" cy="548640"/>
          </a:xfrm>
          <a:prstGeom prst="ellipse">
            <a:avLst/>
          </a:prstGeom>
          <a:solidFill>
            <a:srgbClr val="C077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04</a:t>
            </a:r>
            <a:endParaRPr lang="en-US" sz="1400" b="1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073D85F-0567-AA41-2D1F-D9EE9B24A9F6}"/>
              </a:ext>
            </a:extLst>
          </p:cNvPr>
          <p:cNvSpPr/>
          <p:nvPr/>
        </p:nvSpPr>
        <p:spPr>
          <a:xfrm>
            <a:off x="1616376" y="5506424"/>
            <a:ext cx="548640" cy="548640"/>
          </a:xfrm>
          <a:prstGeom prst="ellipse">
            <a:avLst/>
          </a:prstGeom>
          <a:solidFill>
            <a:srgbClr val="C077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05</a:t>
            </a:r>
            <a:endParaRPr lang="en-US" sz="1400" b="1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11B340E-F913-3CBD-BBA9-9402A543A181}"/>
              </a:ext>
            </a:extLst>
          </p:cNvPr>
          <p:cNvSpPr/>
          <p:nvPr/>
        </p:nvSpPr>
        <p:spPr>
          <a:xfrm>
            <a:off x="1616376" y="1361736"/>
            <a:ext cx="548640" cy="548640"/>
          </a:xfrm>
          <a:prstGeom prst="ellipse">
            <a:avLst/>
          </a:prstGeom>
          <a:solidFill>
            <a:srgbClr val="C077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01</a:t>
            </a:r>
            <a:endParaRPr lang="en-US" sz="1400" b="1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6B92A29-1857-AAAC-FE31-FA135BD1BEDE}"/>
              </a:ext>
            </a:extLst>
          </p:cNvPr>
          <p:cNvCxnSpPr>
            <a:cxnSpLocks/>
          </p:cNvCxnSpPr>
          <p:nvPr/>
        </p:nvCxnSpPr>
        <p:spPr>
          <a:xfrm>
            <a:off x="1890696" y="975201"/>
            <a:ext cx="0" cy="5882799"/>
          </a:xfrm>
          <a:prstGeom prst="line">
            <a:avLst/>
          </a:prstGeom>
          <a:ln w="38100">
            <a:solidFill>
              <a:srgbClr val="C077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0313A87-511B-3C87-269A-391F71959EDE}"/>
              </a:ext>
            </a:extLst>
          </p:cNvPr>
          <p:cNvSpPr txBox="1"/>
          <p:nvPr/>
        </p:nvSpPr>
        <p:spPr>
          <a:xfrm>
            <a:off x="2355278" y="1405223"/>
            <a:ext cx="8133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Set store and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target_schema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. Read the CSV from the shared source Volume.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63EFB5-919C-2F0E-2904-15A7603FA637}"/>
              </a:ext>
            </a:extLst>
          </p:cNvPr>
          <p:cNvSpPr txBox="1"/>
          <p:nvPr/>
        </p:nvSpPr>
        <p:spPr>
          <a:xfrm>
            <a:off x="2355278" y="2441395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Check the column names against the source contract.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8039733-6A71-5C3A-2630-EF3D1494CF97}"/>
              </a:ext>
            </a:extLst>
          </p:cNvPr>
          <p:cNvSpPr txBox="1"/>
          <p:nvPr/>
        </p:nvSpPr>
        <p:spPr>
          <a:xfrm>
            <a:off x="2355278" y="3477567"/>
            <a:ext cx="8133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Add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source_file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source_path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ingested_at_utc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without changing values.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A31EB8B-2FAE-AC70-3D71-0BA44431214D}"/>
              </a:ext>
            </a:extLst>
          </p:cNvPr>
          <p:cNvSpPr txBox="1"/>
          <p:nvPr/>
        </p:nvSpPr>
        <p:spPr>
          <a:xfrm>
            <a:off x="2355278" y="4513739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ec_bronze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_&lt;store&gt; in your assigned group schema.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E1D8FF-F005-0485-55B1-8DDA11F570DC}"/>
              </a:ext>
            </a:extLst>
          </p:cNvPr>
          <p:cNvSpPr txBox="1"/>
          <p:nvPr/>
        </p:nvSpPr>
        <p:spPr>
          <a:xfrm>
            <a:off x="2355278" y="5549911"/>
            <a:ext cx="8133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Compare source values and counts. Capture evidence before and after rerun.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9028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7C344-2E5B-73FE-74BB-1AF552BB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fessional in an office">
            <a:extLst>
              <a:ext uri="{FF2B5EF4-FFF2-40B4-BE49-F238E27FC236}">
                <a16:creationId xmlns:a16="http://schemas.microsoft.com/office/drawing/2014/main" id="{DA5CF9AB-E14F-5B08-D535-464F1352F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7" r="17427"/>
          <a:stretch/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7238F-6483-4343-AD76-03E8C90858BC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20BE33F-D846-1860-3E95-AF3D5ECF6F64}"/>
              </a:ext>
            </a:extLst>
          </p:cNvPr>
          <p:cNvSpPr/>
          <p:nvPr/>
        </p:nvSpPr>
        <p:spPr>
          <a:xfrm rot="5400000" flipH="1">
            <a:off x="-444500" y="444499"/>
            <a:ext cx="6858000" cy="596900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64C2FC4B-F73B-69B7-B5AD-674339D2B151}"/>
              </a:ext>
            </a:extLst>
          </p:cNvPr>
          <p:cNvSpPr txBox="1">
            <a:spLocks/>
          </p:cNvSpPr>
          <p:nvPr/>
        </p:nvSpPr>
        <p:spPr>
          <a:xfrm>
            <a:off x="408173" y="2538246"/>
            <a:ext cx="5152654" cy="816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5400" b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10-minute Break</a:t>
            </a:r>
          </a:p>
        </p:txBody>
      </p:sp>
      <p:pic>
        <p:nvPicPr>
          <p:cNvPr id="10" name="Graphic 9" descr="End with solid fill">
            <a:extLst>
              <a:ext uri="{FF2B5EF4-FFF2-40B4-BE49-F238E27FC236}">
                <a16:creationId xmlns:a16="http://schemas.microsoft.com/office/drawing/2014/main" id="{954AB0D8-538A-9D1F-AA5C-1E2FCC76C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573" y="3354552"/>
            <a:ext cx="385182" cy="385182"/>
          </a:xfrm>
          <a:prstGeom prst="rect">
            <a:avLst/>
          </a:prstGeom>
        </p:spPr>
      </p:pic>
      <p:sp>
        <p:nvSpPr>
          <p:cNvPr id="13" name="Title 5">
            <a:extLst>
              <a:ext uri="{FF2B5EF4-FFF2-40B4-BE49-F238E27FC236}">
                <a16:creationId xmlns:a16="http://schemas.microsoft.com/office/drawing/2014/main" id="{0EBBD9A1-F159-4184-1C29-0C96DF16A461}"/>
              </a:ext>
            </a:extLst>
          </p:cNvPr>
          <p:cNvSpPr txBox="1">
            <a:spLocks/>
          </p:cNvSpPr>
          <p:nvPr/>
        </p:nvSpPr>
        <p:spPr>
          <a:xfrm>
            <a:off x="960599" y="3365941"/>
            <a:ext cx="1508248" cy="362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b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Up Next…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F61945C-776F-F054-CC71-56BECE73A0F5}"/>
              </a:ext>
            </a:extLst>
          </p:cNvPr>
          <p:cNvSpPr>
            <a:spLocks noGrp="1"/>
          </p:cNvSpPr>
          <p:nvPr/>
        </p:nvSpPr>
        <p:spPr>
          <a:xfrm>
            <a:off x="560573" y="3846040"/>
            <a:ext cx="4949134" cy="6496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b="0" i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Business rules, type </a:t>
            </a:r>
            <a:r>
              <a:rPr lang="en-US" sz="1600" b="0" i="1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validaion</a:t>
            </a:r>
            <a:r>
              <a:rPr lang="en-US" sz="1600" b="0" i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Silver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625281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177E6-5353-2835-2550-3ED68F61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3097EF2D-F6A5-89F9-1E8A-B6372FA538C9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/>
              <a:t>🥈S</a:t>
            </a: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01: Silver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8C1B9C9-C8B5-6A4B-E195-7A84F0B4B34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861CB28-0373-80C3-3693-24802672AC50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317A7700-35B1-8D24-8C17-661E40D85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305370"/>
              </p:ext>
            </p:extLst>
          </p:nvPr>
        </p:nvGraphicFramePr>
        <p:xfrm>
          <a:off x="971550" y="1638300"/>
          <a:ext cx="102489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846751510"/>
                    </a:ext>
                  </a:extLst>
                </a:gridCol>
                <a:gridCol w="9467850">
                  <a:extLst>
                    <a:ext uri="{9D8B030D-6E8A-4147-A177-3AD203B41FA5}">
                      <a16:colId xmlns:a16="http://schemas.microsoft.com/office/drawing/2014/main" val="2739908946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Item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8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35285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8D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Preserve the Bronze count and require unique transaction IDs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342089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8D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Validate required fields, types, dates, quantities, discounts and statuses.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9417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8D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Retain local values. Derive UTC timestamps and New York reporting dates.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31452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8D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Calculate net sales after discounts, convert to PHP and round per order.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18673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8D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Keep cancellations with zero sales. Fail before writing if validation fails.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97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491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0B4-29C8-1A7A-AE76-AC36BAD8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3643A9B1-A058-EB1C-856F-20E7E7E24198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/>
              <a:t>🥈</a:t>
            </a: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Silver Laboratory (30 minutes)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5AD1AB3-67BF-310E-E9C3-B70766CC69E7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CAAB5F5-428E-846E-E25D-7A91C20A5091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8606946-7660-6084-A288-3F880ED13E13}"/>
              </a:ext>
            </a:extLst>
          </p:cNvPr>
          <p:cNvSpPr/>
          <p:nvPr/>
        </p:nvSpPr>
        <p:spPr>
          <a:xfrm>
            <a:off x="1616376" y="2397908"/>
            <a:ext cx="548640" cy="548640"/>
          </a:xfrm>
          <a:prstGeom prst="ellipse">
            <a:avLst/>
          </a:prstGeom>
          <a:solidFill>
            <a:srgbClr val="C8B8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02</a:t>
            </a:r>
            <a:endParaRPr lang="en-US" sz="1400" b="1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63C7795-C8FF-B91F-745E-72145043A228}"/>
              </a:ext>
            </a:extLst>
          </p:cNvPr>
          <p:cNvSpPr/>
          <p:nvPr/>
        </p:nvSpPr>
        <p:spPr>
          <a:xfrm>
            <a:off x="1616376" y="3434080"/>
            <a:ext cx="548640" cy="548640"/>
          </a:xfrm>
          <a:prstGeom prst="ellipse">
            <a:avLst/>
          </a:prstGeom>
          <a:solidFill>
            <a:srgbClr val="C8B8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03</a:t>
            </a:r>
            <a:endParaRPr lang="en-US" sz="1400" b="1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E26AA60-64C8-E210-B4C3-38F7E0BE898E}"/>
              </a:ext>
            </a:extLst>
          </p:cNvPr>
          <p:cNvSpPr/>
          <p:nvPr/>
        </p:nvSpPr>
        <p:spPr>
          <a:xfrm>
            <a:off x="1616376" y="4470252"/>
            <a:ext cx="548640" cy="548640"/>
          </a:xfrm>
          <a:prstGeom prst="ellipse">
            <a:avLst/>
          </a:prstGeom>
          <a:solidFill>
            <a:srgbClr val="C8B8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04</a:t>
            </a:r>
            <a:endParaRPr lang="en-US" sz="1400" b="1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11F261-6E4A-60F5-2089-E4333A87D9DE}"/>
              </a:ext>
            </a:extLst>
          </p:cNvPr>
          <p:cNvSpPr/>
          <p:nvPr/>
        </p:nvSpPr>
        <p:spPr>
          <a:xfrm>
            <a:off x="1616376" y="5506424"/>
            <a:ext cx="548640" cy="548640"/>
          </a:xfrm>
          <a:prstGeom prst="ellipse">
            <a:avLst/>
          </a:prstGeom>
          <a:solidFill>
            <a:srgbClr val="C8B8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05</a:t>
            </a:r>
            <a:endParaRPr lang="en-US" sz="1400" b="1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3DF3AA1-5B48-6D0B-9565-156CB96DDC16}"/>
              </a:ext>
            </a:extLst>
          </p:cNvPr>
          <p:cNvSpPr/>
          <p:nvPr/>
        </p:nvSpPr>
        <p:spPr>
          <a:xfrm>
            <a:off x="1616376" y="1361736"/>
            <a:ext cx="548640" cy="548640"/>
          </a:xfrm>
          <a:prstGeom prst="ellipse">
            <a:avLst/>
          </a:prstGeom>
          <a:solidFill>
            <a:srgbClr val="C8B8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01</a:t>
            </a:r>
            <a:endParaRPr lang="en-US" sz="1400" b="1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4C4EBA6-BAFB-2447-74ED-21442BABB584}"/>
              </a:ext>
            </a:extLst>
          </p:cNvPr>
          <p:cNvCxnSpPr>
            <a:cxnSpLocks/>
          </p:cNvCxnSpPr>
          <p:nvPr/>
        </p:nvCxnSpPr>
        <p:spPr>
          <a:xfrm>
            <a:off x="1890696" y="975201"/>
            <a:ext cx="0" cy="5882799"/>
          </a:xfrm>
          <a:prstGeom prst="line">
            <a:avLst/>
          </a:prstGeom>
          <a:ln w="38100">
            <a:solidFill>
              <a:srgbClr val="C8B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A4E88A2-0BED-1913-4402-A52538D1BAEF}"/>
              </a:ext>
            </a:extLst>
          </p:cNvPr>
          <p:cNvSpPr txBox="1"/>
          <p:nvPr/>
        </p:nvSpPr>
        <p:spPr>
          <a:xfrm>
            <a:off x="2355278" y="1405223"/>
            <a:ext cx="8133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Read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ec_bronze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_&lt;store&gt;; validate the source contract and selected store.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FAC475-6812-90C4-902C-75D423116D9A}"/>
              </a:ext>
            </a:extLst>
          </p:cNvPr>
          <p:cNvSpPr txBox="1"/>
          <p:nvPr/>
        </p:nvSpPr>
        <p:spPr>
          <a:xfrm>
            <a:off x="2355278" y="2441395"/>
            <a:ext cx="8133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Convert dates, quantity,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unit_price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discount_amount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to agreed types.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341937-FBFB-3FCE-BED9-B9A9F25FA54E}"/>
              </a:ext>
            </a:extLst>
          </p:cNvPr>
          <p:cNvSpPr txBox="1"/>
          <p:nvPr/>
        </p:nvSpPr>
        <p:spPr>
          <a:xfrm>
            <a:off x="2355278" y="3477567"/>
            <a:ext cx="8133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Derive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timestamp_utc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report_date_ny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using the store time zone.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C22035-3936-7ACF-48CD-FEE6D3E8816A}"/>
              </a:ext>
            </a:extLst>
          </p:cNvPr>
          <p:cNvSpPr txBox="1"/>
          <p:nvPr/>
        </p:nvSpPr>
        <p:spPr>
          <a:xfrm>
            <a:off x="2355278" y="4513739"/>
            <a:ext cx="8133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Calculate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net_sales_php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with fixed FX rates; cancellations contribute zero.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A7CA89D-C276-AE19-3AE2-27C0936CF7D2}"/>
              </a:ext>
            </a:extLst>
          </p:cNvPr>
          <p:cNvSpPr txBox="1"/>
          <p:nvPr/>
        </p:nvSpPr>
        <p:spPr>
          <a:xfrm>
            <a:off x="2355278" y="5549911"/>
            <a:ext cx="8133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</a:t>
            </a:r>
            <a:r>
              <a:rPr lang="en-US" sz="240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ec_silver</a:t>
            </a: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_&lt;store&gt;. Check counts, keys, conversions and saved values.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6496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87FFC-9A73-B2AA-B64B-610D84C1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FD39F750-5692-FF9C-B8F9-C6F7360775F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/>
              <a:t>🥇</a:t>
            </a: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G01: Gold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C41EB43-B595-D4A5-3D48-24B3A27F5552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A5CF104-9E38-342F-7803-A06290C1237A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2555693F-B5A5-EE5F-FBD9-B93E83D29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206913"/>
              </p:ext>
            </p:extLst>
          </p:nvPr>
        </p:nvGraphicFramePr>
        <p:xfrm>
          <a:off x="971550" y="1638300"/>
          <a:ext cx="102489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846751510"/>
                    </a:ext>
                  </a:extLst>
                </a:gridCol>
                <a:gridCol w="9467850">
                  <a:extLst>
                    <a:ext uri="{9D8B030D-6E8A-4147-A177-3AD203B41FA5}">
                      <a16:colId xmlns:a16="http://schemas.microsoft.com/office/drawing/2014/main" val="2739908946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Item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35285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E3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Save ONE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ec_gold_sales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table at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store_id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transaction_id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grain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342089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E3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Retain all selected Silver rows, including cancelled orders.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9417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E3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net_sales_php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Add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units_sold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completed_orders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cancelled_orders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31452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E3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Cancellations contribute zero sales, sold units and completed-order counts.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18673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E3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Reconcile counts and totals with Silver; reruns preserve business results.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97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510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1DC4-69F5-D6A2-14BD-6C3A289B5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E9C4AFDF-7E37-F956-9560-D7B5552E4C0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/>
              <a:t>🥇</a:t>
            </a: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Gold Laboratory (25 minutes)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F446F71-0B79-C1E9-E7F9-A6DD6D8DF87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A9EBE43-9C58-ECD1-D2D0-8242E081C337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6A6DA57-527F-1F0D-FFD3-B15D6D631FDE}"/>
              </a:ext>
            </a:extLst>
          </p:cNvPr>
          <p:cNvSpPr/>
          <p:nvPr/>
        </p:nvSpPr>
        <p:spPr>
          <a:xfrm>
            <a:off x="1616376" y="2397908"/>
            <a:ext cx="548640" cy="548640"/>
          </a:xfrm>
          <a:prstGeom prst="ellipse">
            <a:avLst/>
          </a:prstGeom>
          <a:solidFill>
            <a:srgbClr val="F09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02</a:t>
            </a:r>
            <a:endParaRPr lang="en-US" sz="1400" b="1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04C7CF6-9D5C-C6E9-D439-E16EF7665A05}"/>
              </a:ext>
            </a:extLst>
          </p:cNvPr>
          <p:cNvSpPr/>
          <p:nvPr/>
        </p:nvSpPr>
        <p:spPr>
          <a:xfrm>
            <a:off x="1616376" y="3434080"/>
            <a:ext cx="548640" cy="548640"/>
          </a:xfrm>
          <a:prstGeom prst="ellipse">
            <a:avLst/>
          </a:prstGeom>
          <a:solidFill>
            <a:srgbClr val="F09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03</a:t>
            </a:r>
            <a:endParaRPr lang="en-US" sz="1400" b="1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8B6A56C-3928-1852-D1AD-A4AF1567CE4D}"/>
              </a:ext>
            </a:extLst>
          </p:cNvPr>
          <p:cNvSpPr/>
          <p:nvPr/>
        </p:nvSpPr>
        <p:spPr>
          <a:xfrm>
            <a:off x="1616376" y="4470252"/>
            <a:ext cx="548640" cy="548640"/>
          </a:xfrm>
          <a:prstGeom prst="ellipse">
            <a:avLst/>
          </a:prstGeom>
          <a:solidFill>
            <a:srgbClr val="F09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04</a:t>
            </a:r>
            <a:endParaRPr lang="en-US" sz="1400" b="1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48E611C-2545-579B-BB20-42390FF35E04}"/>
              </a:ext>
            </a:extLst>
          </p:cNvPr>
          <p:cNvSpPr/>
          <p:nvPr/>
        </p:nvSpPr>
        <p:spPr>
          <a:xfrm>
            <a:off x="1616376" y="5506424"/>
            <a:ext cx="548640" cy="548640"/>
          </a:xfrm>
          <a:prstGeom prst="ellipse">
            <a:avLst/>
          </a:prstGeom>
          <a:solidFill>
            <a:srgbClr val="F09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05</a:t>
            </a:r>
            <a:endParaRPr lang="en-US" sz="1400" b="1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2B08FD0-9C6B-5F67-692E-301CCAF783E6}"/>
              </a:ext>
            </a:extLst>
          </p:cNvPr>
          <p:cNvSpPr/>
          <p:nvPr/>
        </p:nvSpPr>
        <p:spPr>
          <a:xfrm>
            <a:off x="1616376" y="1361736"/>
            <a:ext cx="548640" cy="548640"/>
          </a:xfrm>
          <a:prstGeom prst="ellipse">
            <a:avLst/>
          </a:prstGeom>
          <a:solidFill>
            <a:srgbClr val="F09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/>
              <a:t>01</a:t>
            </a:r>
            <a:endParaRPr lang="en-US" sz="1400" b="1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09B7B1-521E-8843-BCA7-CA706798DEE5}"/>
              </a:ext>
            </a:extLst>
          </p:cNvPr>
          <p:cNvCxnSpPr>
            <a:cxnSpLocks/>
          </p:cNvCxnSpPr>
          <p:nvPr/>
        </p:nvCxnSpPr>
        <p:spPr>
          <a:xfrm>
            <a:off x="1890696" y="975201"/>
            <a:ext cx="0" cy="5882799"/>
          </a:xfrm>
          <a:prstGeom prst="line">
            <a:avLst/>
          </a:prstGeom>
          <a:ln w="38100">
            <a:solidFill>
              <a:srgbClr val="F09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005A9D8-F6B9-6F25-06D4-4769331E93DB}"/>
              </a:ext>
            </a:extLst>
          </p:cNvPr>
          <p:cNvSpPr txBox="1"/>
          <p:nvPr/>
        </p:nvSpPr>
        <p:spPr>
          <a:xfrm>
            <a:off x="2355278" y="1405223"/>
            <a:ext cx="8133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Select your assigned store. ALL requires seven Silver tables in one schema.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57E6B0-C947-0949-F129-DD41F6B9D1EE}"/>
              </a:ext>
            </a:extLst>
          </p:cNvPr>
          <p:cNvSpPr txBox="1"/>
          <p:nvPr/>
        </p:nvSpPr>
        <p:spPr>
          <a:xfrm>
            <a:off x="2355278" y="2441395"/>
            <a:ext cx="8133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Combine selected Silver tables and add reporting measures. Do not reconvert FX.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8596D9-9C49-AAC1-5D90-6AE9FF6EAC3A}"/>
              </a:ext>
            </a:extLst>
          </p:cNvPr>
          <p:cNvSpPr txBox="1"/>
          <p:nvPr/>
        </p:nvSpPr>
        <p:spPr>
          <a:xfrm>
            <a:off x="2355278" y="3477567"/>
            <a:ext cx="8133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one Gold table. A single-store refresh replaces only that store.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895C9C6-8AB7-C9C3-7E78-8C8268DBB18F}"/>
              </a:ext>
            </a:extLst>
          </p:cNvPr>
          <p:cNvSpPr txBox="1"/>
          <p:nvPr/>
        </p:nvSpPr>
        <p:spPr>
          <a:xfrm>
            <a:off x="2355278" y="4513739"/>
            <a:ext cx="8133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Query sales by New York day, store, country and product. No extra tables.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116E2E1-028B-A2B6-BC11-1D552762B345}"/>
              </a:ext>
            </a:extLst>
          </p:cNvPr>
          <p:cNvSpPr txBox="1"/>
          <p:nvPr/>
        </p:nvSpPr>
        <p:spPr>
          <a:xfrm>
            <a:off x="2355278" y="5549911"/>
            <a:ext cx="8133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Compare totals with the expected fixture results.</a:t>
            </a:r>
          </a:p>
        </p:txBody>
      </p:sp>
    </p:spTree>
    <p:extLst>
      <p:ext uri="{BB962C8B-B14F-4D97-AF65-F5344CB8AC3E}">
        <p14:creationId xmlns:p14="http://schemas.microsoft.com/office/powerpoint/2010/main" val="4239860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C964-EDA7-5D43-B216-E6FE2566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9099072-6F26-F666-F0BE-B8631A0CF937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Quality Checks across the Layers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F0E107C-5C06-A321-9D3D-51A69E45594A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27BC94C-FDA4-C0C4-B57E-C58DBE306874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EFE98679-1E27-9F3F-9463-6D93B460580B}"/>
              </a:ext>
            </a:extLst>
          </p:cNvPr>
          <p:cNvSpPr>
            <a:spLocks noGrp="1"/>
          </p:cNvSpPr>
          <p:nvPr/>
        </p:nvSpPr>
        <p:spPr>
          <a:xfrm>
            <a:off x="2632079" y="5160117"/>
            <a:ext cx="6927843" cy="61838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anchor="ctr" anchorCtr="0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800"/>
              <a:t>A passing cell is useful evidence only when it tests the requirement.</a:t>
            </a:r>
            <a:endParaRPr lang="en-US" sz="18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4043B6-516E-614A-ECCA-CC5FEB42D1CF}"/>
              </a:ext>
            </a:extLst>
          </p:cNvPr>
          <p:cNvGrpSpPr/>
          <p:nvPr/>
        </p:nvGrpSpPr>
        <p:grpSpPr>
          <a:xfrm>
            <a:off x="1846658" y="2013226"/>
            <a:ext cx="8498685" cy="2697628"/>
            <a:chOff x="1691762" y="2013226"/>
            <a:chExt cx="8498685" cy="269762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3DCE1E7-DCFC-1EFF-7812-824FC38DDD5D}"/>
                </a:ext>
              </a:extLst>
            </p:cNvPr>
            <p:cNvGrpSpPr/>
            <p:nvPr/>
          </p:nvGrpSpPr>
          <p:grpSpPr>
            <a:xfrm>
              <a:off x="1691762" y="2013226"/>
              <a:ext cx="1908045" cy="2697628"/>
              <a:chOff x="322219" y="1578616"/>
              <a:chExt cx="1908045" cy="2697628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072C7AE-7E0A-70A7-F569-870CF2B1F4AF}"/>
                  </a:ext>
                </a:extLst>
              </p:cNvPr>
              <p:cNvSpPr txBox="1"/>
              <p:nvPr/>
            </p:nvSpPr>
            <p:spPr>
              <a:xfrm>
                <a:off x="322219" y="1578616"/>
                <a:ext cx="11938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7200" dirty="0"/>
                  <a:t>🥉</a:t>
                </a:r>
              </a:p>
            </p:txBody>
          </p:sp>
          <p:sp>
            <p:nvSpPr>
              <p:cNvPr id="8" name="Text Placeholder 6">
                <a:extLst>
                  <a:ext uri="{FF2B5EF4-FFF2-40B4-BE49-F238E27FC236}">
                    <a16:creationId xmlns:a16="http://schemas.microsoft.com/office/drawing/2014/main" id="{9F0338E9-535E-7E5F-0D65-0933A35023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003" y="2874195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Bronze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800" i="1" dirty="0"/>
                  <a:t>Schema, source traceability and complete record counts.</a:t>
                </a:r>
                <a:endParaRPr kumimoji="0" lang="en-US" sz="1800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7E86B05-3B5F-3604-7EFF-3AFC8BC7EDCD}"/>
                </a:ext>
              </a:extLst>
            </p:cNvPr>
            <p:cNvGrpSpPr/>
            <p:nvPr/>
          </p:nvGrpSpPr>
          <p:grpSpPr>
            <a:xfrm>
              <a:off x="3888642" y="2013226"/>
              <a:ext cx="1908045" cy="2697628"/>
              <a:chOff x="2488795" y="2080186"/>
              <a:chExt cx="1908045" cy="2697628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6583CA3-BD44-7454-1BE5-795FD90EADEA}"/>
                  </a:ext>
                </a:extLst>
              </p:cNvPr>
              <p:cNvSpPr txBox="1"/>
              <p:nvPr/>
            </p:nvSpPr>
            <p:spPr>
              <a:xfrm>
                <a:off x="2488795" y="2080186"/>
                <a:ext cx="119786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7200" dirty="0"/>
                  <a:t>🥈</a:t>
                </a:r>
              </a:p>
            </p:txBody>
          </p:sp>
          <p:sp>
            <p:nvSpPr>
              <p:cNvPr id="50" name="Text Placeholder 6">
                <a:extLst>
                  <a:ext uri="{FF2B5EF4-FFF2-40B4-BE49-F238E27FC236}">
                    <a16:creationId xmlns:a16="http://schemas.microsoft.com/office/drawing/2014/main" id="{F9A70DF3-0156-FD0B-3B00-4CA3149B8D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1579" y="3375765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Silver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800" i="1" dirty="0"/>
                  <a:t>Valid types, business rules and unique keys.</a:t>
                </a:r>
                <a:endParaRPr kumimoji="0" lang="en-US" sz="1800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92783AC-4DA1-8234-C63A-5D92CB68AFC2}"/>
                </a:ext>
              </a:extLst>
            </p:cNvPr>
            <p:cNvGrpSpPr/>
            <p:nvPr/>
          </p:nvGrpSpPr>
          <p:grpSpPr>
            <a:xfrm>
              <a:off x="6085522" y="2013226"/>
              <a:ext cx="1908045" cy="2697628"/>
              <a:chOff x="4659435" y="2080186"/>
              <a:chExt cx="1908045" cy="2697628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6CCB3EC-179A-5B9E-D253-E913B280B10F}"/>
                  </a:ext>
                </a:extLst>
              </p:cNvPr>
              <p:cNvSpPr txBox="1"/>
              <p:nvPr/>
            </p:nvSpPr>
            <p:spPr>
              <a:xfrm>
                <a:off x="4659435" y="2080186"/>
                <a:ext cx="119786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7200" dirty="0"/>
                  <a:t>🥇</a:t>
                </a:r>
              </a:p>
            </p:txBody>
          </p:sp>
          <p:sp>
            <p:nvSpPr>
              <p:cNvPr id="56" name="Text Placeholder 6">
                <a:extLst>
                  <a:ext uri="{FF2B5EF4-FFF2-40B4-BE49-F238E27FC236}">
                    <a16:creationId xmlns:a16="http://schemas.microsoft.com/office/drawing/2014/main" id="{ABE28E3E-CA1F-5371-88FE-C75AADFF0E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42219" y="3375765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Gold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800" i="1" dirty="0"/>
                  <a:t>Correct grain, metric definition and reconciled totals.</a:t>
                </a:r>
                <a:endParaRPr kumimoji="0" lang="en-US" sz="1800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F83A4A0-9599-CC5C-2F0C-931794C09125}"/>
                </a:ext>
              </a:extLst>
            </p:cNvPr>
            <p:cNvGrpSpPr/>
            <p:nvPr/>
          </p:nvGrpSpPr>
          <p:grpSpPr>
            <a:xfrm>
              <a:off x="8282402" y="2013226"/>
              <a:ext cx="1908045" cy="2697628"/>
              <a:chOff x="2488795" y="2080186"/>
              <a:chExt cx="1908045" cy="2697628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F67E672-59FA-63BB-7EF1-5C685320D36D}"/>
                  </a:ext>
                </a:extLst>
              </p:cNvPr>
              <p:cNvSpPr txBox="1"/>
              <p:nvPr/>
            </p:nvSpPr>
            <p:spPr>
              <a:xfrm>
                <a:off x="2488795" y="2080186"/>
                <a:ext cx="119786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7200" dirty="0"/>
                  <a:t>🛠️</a:t>
                </a:r>
              </a:p>
            </p:txBody>
          </p:sp>
          <p:sp>
            <p:nvSpPr>
              <p:cNvPr id="62" name="Text Placeholder 6">
                <a:extLst>
                  <a:ext uri="{FF2B5EF4-FFF2-40B4-BE49-F238E27FC236}">
                    <a16:creationId xmlns:a16="http://schemas.microsoft.com/office/drawing/2014/main" id="{C862C4C7-E67C-30DA-7267-BFCEC8E87D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1579" y="3375765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Silver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800" i="1" dirty="0"/>
                  <a:t>Failure visibility and safe reruns.</a:t>
                </a:r>
                <a:endParaRPr kumimoji="0" lang="en-US" sz="1800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183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B4DB-0A57-D348-B3D6-95207082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fessional in an office">
            <a:extLst>
              <a:ext uri="{FF2B5EF4-FFF2-40B4-BE49-F238E27FC236}">
                <a16:creationId xmlns:a16="http://schemas.microsoft.com/office/drawing/2014/main" id="{C74A74AB-7B0B-4B3C-3BB1-98BA11D9E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7" r="17427"/>
          <a:stretch/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10F4DD-377D-023E-722B-833929830349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32</a:t>
            </a:fld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FD8EA9A-884E-6502-B3F3-CA43C3C46AD5}"/>
              </a:ext>
            </a:extLst>
          </p:cNvPr>
          <p:cNvSpPr/>
          <p:nvPr/>
        </p:nvSpPr>
        <p:spPr>
          <a:xfrm rot="5400000" flipH="1">
            <a:off x="-444500" y="444499"/>
            <a:ext cx="6858000" cy="596900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9C8F12A9-8AD3-581C-8D5C-6D9E320DCA25}"/>
              </a:ext>
            </a:extLst>
          </p:cNvPr>
          <p:cNvSpPr txBox="1">
            <a:spLocks/>
          </p:cNvSpPr>
          <p:nvPr/>
        </p:nvSpPr>
        <p:spPr>
          <a:xfrm>
            <a:off x="408173" y="2538246"/>
            <a:ext cx="5152654" cy="816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5400" b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05-minute Break</a:t>
            </a:r>
          </a:p>
        </p:txBody>
      </p:sp>
      <p:pic>
        <p:nvPicPr>
          <p:cNvPr id="10" name="Graphic 9" descr="End with solid fill">
            <a:extLst>
              <a:ext uri="{FF2B5EF4-FFF2-40B4-BE49-F238E27FC236}">
                <a16:creationId xmlns:a16="http://schemas.microsoft.com/office/drawing/2014/main" id="{10F87E18-CAFF-3011-11CC-88EEAD973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573" y="3354552"/>
            <a:ext cx="385182" cy="385182"/>
          </a:xfrm>
          <a:prstGeom prst="rect">
            <a:avLst/>
          </a:prstGeom>
        </p:spPr>
      </p:pic>
      <p:sp>
        <p:nvSpPr>
          <p:cNvPr id="13" name="Title 5">
            <a:extLst>
              <a:ext uri="{FF2B5EF4-FFF2-40B4-BE49-F238E27FC236}">
                <a16:creationId xmlns:a16="http://schemas.microsoft.com/office/drawing/2014/main" id="{23F5A41C-21B1-B8E4-8A93-AF0D1E8358AC}"/>
              </a:ext>
            </a:extLst>
          </p:cNvPr>
          <p:cNvSpPr txBox="1">
            <a:spLocks/>
          </p:cNvSpPr>
          <p:nvPr/>
        </p:nvSpPr>
        <p:spPr>
          <a:xfrm>
            <a:off x="960599" y="3365941"/>
            <a:ext cx="1508248" cy="3624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b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Up Next…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C481CD0-D585-9135-3AF4-8820C53FCB24}"/>
              </a:ext>
            </a:extLst>
          </p:cNvPr>
          <p:cNvSpPr>
            <a:spLocks noGrp="1"/>
          </p:cNvSpPr>
          <p:nvPr/>
        </p:nvSpPr>
        <p:spPr>
          <a:xfrm>
            <a:off x="560573" y="3846040"/>
            <a:ext cx="4949134" cy="6496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b="0" i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Two-minute demonstration with your group.</a:t>
            </a:r>
          </a:p>
        </p:txBody>
      </p:sp>
    </p:spTree>
    <p:extLst>
      <p:ext uri="{BB962C8B-B14F-4D97-AF65-F5344CB8AC3E}">
        <p14:creationId xmlns:p14="http://schemas.microsoft.com/office/powerpoint/2010/main" val="790622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FDBC-DB63-2E44-4927-D4440EA9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A420A1D4-3AF4-93B5-3EC9-A5D3B7149810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Retrospective and Next Steps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C6F0B84-5B52-E891-56ED-395867870BB6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104176D-77DE-F260-72C6-430C8DC127E0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60E71C-6AA5-A561-ACFF-91621065FA18}"/>
              </a:ext>
            </a:extLst>
          </p:cNvPr>
          <p:cNvSpPr/>
          <p:nvPr/>
        </p:nvSpPr>
        <p:spPr>
          <a:xfrm>
            <a:off x="405003" y="2315758"/>
            <a:ext cx="5068697" cy="762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Which check gave you the most confidence?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FABB92-0E53-107B-D6D3-AD5D08F13DC4}"/>
              </a:ext>
            </a:extLst>
          </p:cNvPr>
          <p:cNvSpPr/>
          <p:nvPr/>
        </p:nvSpPr>
        <p:spPr>
          <a:xfrm>
            <a:off x="5384800" y="3308445"/>
            <a:ext cx="6410198" cy="7620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r"/>
            <a:r>
              <a:rPr lang="en-US" sz="2000" dirty="0">
                <a:solidFill>
                  <a:schemeClr val="tx1"/>
                </a:solidFill>
              </a:rPr>
              <a:t>What would you improve before scheduling this pipeline?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90314A-8349-D410-4F30-1619679C7477}"/>
              </a:ext>
            </a:extLst>
          </p:cNvPr>
          <p:cNvSpPr/>
          <p:nvPr/>
        </p:nvSpPr>
        <p:spPr>
          <a:xfrm>
            <a:off x="405003" y="4301132"/>
            <a:ext cx="6410198" cy="762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Next practice: add one new rule and its validation check.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7F10DB8-0DFE-3FAD-B395-2F33AFE9A35C}"/>
              </a:ext>
            </a:extLst>
          </p:cNvPr>
          <p:cNvSpPr/>
          <p:nvPr/>
        </p:nvSpPr>
        <p:spPr>
          <a:xfrm>
            <a:off x="5194300" y="5293818"/>
            <a:ext cx="6600698" cy="7620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r"/>
            <a:r>
              <a:rPr lang="en-US" sz="2000" dirty="0">
                <a:solidFill>
                  <a:schemeClr val="tx1"/>
                </a:solidFill>
              </a:rPr>
              <a:t>Confidence comes from preparation and repeated practice.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6F38B17-3294-2332-825F-183B28E17073}"/>
              </a:ext>
            </a:extLst>
          </p:cNvPr>
          <p:cNvSpPr/>
          <p:nvPr/>
        </p:nvSpPr>
        <p:spPr>
          <a:xfrm>
            <a:off x="5473700" y="1323071"/>
            <a:ext cx="6321298" cy="7620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pPr algn="r"/>
            <a:r>
              <a:rPr lang="en-US" sz="2000" dirty="0">
                <a:solidFill>
                  <a:schemeClr val="tx1"/>
                </a:solidFill>
              </a:rPr>
              <a:t>What requirement changed the way you wrote the code?</a:t>
            </a:r>
          </a:p>
        </p:txBody>
      </p:sp>
    </p:spTree>
    <p:extLst>
      <p:ext uri="{BB962C8B-B14F-4D97-AF65-F5344CB8AC3E}">
        <p14:creationId xmlns:p14="http://schemas.microsoft.com/office/powerpoint/2010/main" val="581608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C9DE-E6A8-FA82-FA37-A65FA972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9600" dirty="0"/>
              <a:t>Thank you!</a:t>
            </a:r>
            <a:endParaRPr lang="en-US" sz="9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C6AD9-FBDA-0808-B9AD-A87F32826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PH" dirty="0"/>
              <a:t>And remember, Day 1 is just the beginning.</a:t>
            </a:r>
          </a:p>
          <a:p>
            <a:endParaRPr lang="en-PH" dirty="0"/>
          </a:p>
          <a:p>
            <a:r>
              <a:rPr lang="en-US" i="1" dirty="0"/>
              <a:t>You can build, question and improve the systems you work with.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A282B-D4A8-657F-C233-C143B51079D9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18252151-2B7E-3C46-8FEA-BD351472BD71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87E30-DF1D-8FAF-B1D4-40F139A384A2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29470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3 3Cloud">
      <a:dk1>
        <a:srgbClr val="58585B"/>
      </a:dk1>
      <a:lt1>
        <a:srgbClr val="FFFFFF"/>
      </a:lt1>
      <a:dk2>
        <a:srgbClr val="808285"/>
      </a:dk2>
      <a:lt2>
        <a:srgbClr val="E7E6E6"/>
      </a:lt2>
      <a:accent1>
        <a:srgbClr val="005185"/>
      </a:accent1>
      <a:accent2>
        <a:srgbClr val="008EB9"/>
      </a:accent2>
      <a:accent3>
        <a:srgbClr val="6BB7D0"/>
      </a:accent3>
      <a:accent4>
        <a:srgbClr val="739B2C"/>
      </a:accent4>
      <a:accent5>
        <a:srgbClr val="F36E44"/>
      </a:accent5>
      <a:accent6>
        <a:srgbClr val="C3235C"/>
      </a:accent6>
      <a:hlink>
        <a:srgbClr val="F36E44"/>
      </a:hlink>
      <a:folHlink>
        <a:srgbClr val="F36D4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023 3Clou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2023 3Cloud">
      <a:dk1>
        <a:srgbClr val="58585B"/>
      </a:dk1>
      <a:lt1>
        <a:srgbClr val="FFFFFF"/>
      </a:lt1>
      <a:dk2>
        <a:srgbClr val="808285"/>
      </a:dk2>
      <a:lt2>
        <a:srgbClr val="E7E6E6"/>
      </a:lt2>
      <a:accent1>
        <a:srgbClr val="005185"/>
      </a:accent1>
      <a:accent2>
        <a:srgbClr val="008EB9"/>
      </a:accent2>
      <a:accent3>
        <a:srgbClr val="6BB7D0"/>
      </a:accent3>
      <a:accent4>
        <a:srgbClr val="739B2C"/>
      </a:accent4>
      <a:accent5>
        <a:srgbClr val="F36E44"/>
      </a:accent5>
      <a:accent6>
        <a:srgbClr val="C3235C"/>
      </a:accent6>
      <a:hlink>
        <a:srgbClr val="F36E44"/>
      </a:hlink>
      <a:folHlink>
        <a:srgbClr val="F36D4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023 3Clou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c55576f-e738-4097-8c71-053078eadf3f}" enabled="0" method="" siteId="{7c55576f-e738-4097-8c71-053078eadf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3152</Words>
  <Application>Microsoft Office PowerPoint</Application>
  <DocSecurity>0</DocSecurity>
  <PresentationFormat>Widescreen</PresentationFormat>
  <Paragraphs>465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Edwardian Script ITC</vt:lpstr>
      <vt:lpstr>Office Theme</vt:lpstr>
      <vt:lpstr>Day One: Welcome to Data Engineering</vt:lpstr>
      <vt:lpstr>Your Facilitator</vt:lpstr>
      <vt:lpstr>Your Facilitator – Outside of Work</vt:lpstr>
      <vt:lpstr>About 3Cloud – A Cognizant Company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Christian Alcaria</cp:lastModifiedBy>
  <cp:revision>160</cp:revision>
  <dcterms:created xsi:type="dcterms:W3CDTF">2026-10-24T15:25:57Z</dcterms:created>
  <dcterms:modified xsi:type="dcterms:W3CDTF">2026-10-28T01:01:29Z</dcterms:modified>
</cp:coreProperties>
</file>