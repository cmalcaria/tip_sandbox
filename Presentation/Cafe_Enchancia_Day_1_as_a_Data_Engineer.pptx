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6.org&amp;utm_campaign=index&amp;utm_content=thumbnail" ContentType="image/png"/>
  <Override PartName="/ppt/media/image17.svg" ContentType="image/svg+xml"/>
  <Override PartName="/ppt/media/image18.fna&amp;_nc_ss=7b2a8&amp;oh=03_Q7cD6gGZE7jaWjLyNEyRzvjocO3cJmvZK_PLZNXIvLyBCuNW5w&amp;oe=6B052927" ContentType="image/jpeg"/>
  <Override PartName="/ppt/media/image20.svg" ContentType="image/svg+xml"/>
  <Override PartName="/ppt/media/image24.svg" ContentType="image/svg+xml"/>
  <Override PartName="/ppt/media/image25.svg" ContentType="image/svg+xml"/>
  <Override PartName="/ppt/media/image26.svg" ContentType="image/svg+xml"/>
  <Override PartName="/ppt/media/image27.svg" ContentType="image/svg+xml"/>
  <Override PartName="/ppt/media/image28.svg" ContentType="image/svg+xml"/>
  <Override PartName="/ppt/media/image2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6"/>
  </p:notesMasterIdLst>
  <p:sldIdLst>
    <p:sldId id="326" r:id="rId2"/>
    <p:sldId id="327" r:id="rId3"/>
    <p:sldId id="328" r:id="rId4"/>
    <p:sldId id="329" r:id="rId5"/>
    <p:sldId id="330" r:id="rId6"/>
    <p:sldId id="331" r:id="rId7"/>
    <p:sldId id="342" r:id="rId43"/>
    <p:sldId id="332" r:id="rId8"/>
    <p:sldId id="333" r:id="rId9"/>
    <p:sldId id="334" r:id="rId10"/>
    <p:sldId id="336" r:id="rId11"/>
    <p:sldId id="337" r:id="rId12"/>
    <p:sldId id="338" r:id="rId13"/>
    <p:sldId id="339" r:id="rId14"/>
    <p:sldId id="268" r:id="rId15"/>
    <p:sldId id="269" r:id="rId16"/>
    <p:sldId id="270" r:id="rId17"/>
    <p:sldId id="271" r:id="rId18"/>
    <p:sldId id="276" r:id="rId19"/>
    <p:sldId id="277" r:id="rId20"/>
    <p:sldId id="278" r:id="rId21"/>
    <p:sldId id="325" r:id="rId22"/>
    <p:sldId id="341" r:id="rId42"/>
    <p:sldId id="340" r:id="rId41"/>
    <p:sldId id="285" r:id="rId23"/>
    <p:sldId id="287" r:id="rId24"/>
    <p:sldId id="286" r:id="rId25"/>
    <p:sldId id="288" r:id="rId26"/>
    <p:sldId id="290" r:id="rId27"/>
    <p:sldId id="291" r:id="rId28"/>
    <p:sldId id="293" r:id="rId29"/>
    <p:sldId id="295" r:id="rId30"/>
    <p:sldId id="296" r:id="rId31"/>
    <p:sldId id="299" r:id="rId32"/>
    <p:sldId id="300" r:id="rId33"/>
    <p:sldId id="303" r:id="rId34"/>
    <p:sldId id="304" r:id="rId35"/>
  </p:sldIdLst>
  <p:sldSz cx="12192000" cy="68580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9E3A"/>
    <a:srgbClr val="C8B8DA"/>
    <a:srgbClr val="C0774A"/>
    <a:srgbClr val="196797"/>
    <a:srgbClr val="0051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3908" autoAdjust="0"/>
  </p:normalViewPr>
  <p:slideViewPr>
    <p:cSldViewPr snapToGrid="0">
      <p:cViewPr varScale="1">
        <p:scale>
          <a:sx n="78" d="100"/>
          <a:sy n="78" d="100"/>
        </p:scale>
        <p:origin x="175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2.xml"/><Relationship Id="rId23" Type="http://schemas.openxmlformats.org/officeDocument/2006/relationships/slide" Target="slides/slide25.xml"/><Relationship Id="rId24" Type="http://schemas.openxmlformats.org/officeDocument/2006/relationships/slide" Target="slides/slide26.xml"/><Relationship Id="rId25" Type="http://schemas.openxmlformats.org/officeDocument/2006/relationships/slide" Target="slides/slide27.xml"/><Relationship Id="rId26" Type="http://schemas.openxmlformats.org/officeDocument/2006/relationships/slide" Target="slides/slide28.xml"/><Relationship Id="rId27" Type="http://schemas.openxmlformats.org/officeDocument/2006/relationships/slide" Target="slides/slide29.xml"/><Relationship Id="rId28" Type="http://schemas.openxmlformats.org/officeDocument/2006/relationships/slide" Target="slides/slide30.xml"/><Relationship Id="rId29" Type="http://schemas.openxmlformats.org/officeDocument/2006/relationships/slide" Target="slides/slide31.xml"/><Relationship Id="rId30" Type="http://schemas.openxmlformats.org/officeDocument/2006/relationships/slide" Target="slides/slide32.xml"/><Relationship Id="rId31" Type="http://schemas.openxmlformats.org/officeDocument/2006/relationships/slide" Target="slides/slide33.xml"/><Relationship Id="rId32" Type="http://schemas.openxmlformats.org/officeDocument/2006/relationships/slide" Target="slides/slide34.xml"/><Relationship Id="rId33" Type="http://schemas.openxmlformats.org/officeDocument/2006/relationships/slide" Target="slides/slide35.xml"/><Relationship Id="rId34" Type="http://schemas.openxmlformats.org/officeDocument/2006/relationships/slide" Target="slides/slide36.xml"/><Relationship Id="rId35" Type="http://schemas.openxmlformats.org/officeDocument/2006/relationships/slide" Target="slides/slide37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Relationship Id="rId41" Type="http://schemas.openxmlformats.org/officeDocument/2006/relationships/slide" Target="slides/slide24.xml"/><Relationship Id="rId42" Type="http://schemas.openxmlformats.org/officeDocument/2006/relationships/slide" Target="slides/slide23.xml"/><Relationship Id="rId4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Café Enchancia workshop. Use README.md, Discovery Call/Facilitator_Notes.md and VALIDATION.md for setup, scope and expected results. The agenda remains four hours; supporting setup, sales-rule and scope slides fit within existing discussion/demo slots.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557685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5481E-2481-D796-B70B-B2945CA62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7118B6-BB0D-3932-F804-58C826396F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3AF589-CC7A-95B3-095C-B4695A6BA2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Café Enchancia workshop. Use README.md, Discovery Call/Facilitator_Notes.md and VALIDATION.md for setup, scope and expected results. The agenda remains four hours; supporting setup, sales-rule and scope slides fit within existing discussion/demo slots.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3D41BD-B846-0CA3-D6F1-33BC3C0A6E5C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676945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B4D25-4029-DDDF-F86D-B009B443C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F5B7E5-842F-5856-45C0-056309776F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DFCAE6-AB7B-2D43-F6B4-1FED93DC81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Café Enchancia workshop. Use README.md, Discovery Call/Facilitator_Notes.md and VALIDATION.md for setup, scope and expected results. The agenda remains four hours; supporting setup, sales-rule and scope slides fit within existing discussion/demo slots.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333BEA-1ED3-86E4-FE6C-59C3462E8A34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037298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5A45E-9021-AF8D-49B4-2CB485165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57DF0A-5851-0FBB-4FE2-4A1E476C74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B12EE3-61FB-789E-AC4D-FB16C1B674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Café Enchancia workshop. Use README.md, Discovery Call/Facilitator_Notes.md and VALIDATION.md for setup, scope and expected results. The agenda remains four hours; supporting setup, sales-rule and scope slides fit within existing discussion/demo slots.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82DDA9-2D73-0D51-E2FC-B33ABEA8BEB4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90320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1A6F9-24B8-24D2-F0C1-F85EF981F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435824-FB59-2E53-A047-98F9111B06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BE91FE-90DF-B19E-4B68-D0B8BBDB8D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Café Enchancia workshop. Use README.md, Discovery Call/Facilitator_Notes.md and VALIDATION.md for setup, scope and expected results. The agenda remains four hours; supporting setup, sales-rule and scope slides fit within existing discussion/demo slots.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200BE4-6770-22E3-97B9-0A834F18D1FA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94507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0F786-E507-E283-F519-B8AF21035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40ADB8-8A30-854B-684B-058982F28D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108B35-95A5-9EE2-4E96-3F1CC45B98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Café Enchancia workshop. Use README.md, Discovery Call/Facilitator_Notes.md and VALIDATION.md for setup, scope and expected results. The agenda remains four hours; supporting setup, sales-rule and scope slides fit within existing discussion/demo slots.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4CF05B-8B52-4489-BA2C-A519571B058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361990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EE03E-A94E-3C87-4102-4DB255955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D96885-0D4B-E743-B6A9-2655948385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A56C0A-6EB2-A2F2-92C4-553A0858BF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Café Enchancia workshop. Use README.md, Discovery Call/Facilitator_Notes.md and VALIDATION.md for setup, scope and expected results. The agenda remains four hours; supporting setup, sales-rule and scope slides fit within existing discussion/demo slots.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F55AFF-3346-A5F0-161F-5208F9FEB382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500416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Café Enchancia workshop. Use README.md, Discovery Call/Facilitator_Notes.md and VALIDATION.md for setup, scope and expected results. The agenda remains four hours; supporting setup, sales-rule and scope slides fit within existing discussion/demo slots.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Café Enchancia workshop. Use README.md, Discovery Call/Facilitator_Notes.md and VALIDATION.md for setup, scope and expected results. The agenda remains four hours; supporting setup, sales-rule and scope slides fit within existing discussion/demo slots.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Café Enchancia workshop. Use README.md, Discovery Call/Facilitator_Notes.md and VALIDATION.md for setup, scope and expected results. The agenda remains four hours; supporting setup, sales-rule and scope slides fit within existing discussion/demo slots.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Café Enchancia workshop. Use README.md, Discovery Call/Facilitator_Notes.md and VALIDATION.md for setup, scope and expected results. The agenda remains four hours; supporting setup, sales-rule and scope slides fit within existing discussion/demo slots.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Café Enchancia workshop. Use README.md, Discovery Call/Facilitator_Notes.md and VALIDATION.md for setup, scope and expected results. The agenda remains four hours; supporting setup, sales-rule and scope slides fit within existing discussion/demo slots.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Café Enchancia workshop. Use README.md, Discovery Call/Facilitator_Notes.md and VALIDATION.md for setup, scope and expected results. The agenda remains four hours; supporting setup, sales-rule and scope slides fit within existing discussion/demo slots.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Café Enchancia workshop. Use README.md, Discovery Call/Facilitator_Notes.md and VALIDATION.md for setup, scope and expected results. The agenda remains four hours; supporting setup, sales-rule and scope slides fit within existing discussion/demo slots.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Café Enchancia workshop. Use README.md, Discovery Call/Facilitator_Notes.md and VALIDATION.md for setup, scope and expected results. The agenda remains four hours; supporting setup, sales-rule and scope slides fit within existing discussion/demo slots.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Café Enchancia workshop. Use README.md, Discovery Call/Facilitator_Notes.md and VALIDATION.md for setup, scope and expected results. The agenda remains four hours; supporting setup, sales-rule and scope slides fit within existing discussion/demo slots.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Café Enchancia workshop. Use README.md, Discovery Call/Facilitator_Notes.md and VALIDATION.md for setup, scope and expected results. The agenda remains four hours; supporting setup, sales-rule and scope slides fit within existing discussion/demo slots.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Café Enchancia workshop. Use README.md, Discovery Call/Facilitator_Notes.md and VALIDATION.md for setup, scope and expected results. The agenda remains four hours; supporting setup, sales-rule and scope slides fit within existing discussion/demo slots.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Café Enchancia workshop. Use README.md, Discovery Call/Facilitator_Notes.md and VALIDATION.md for setup, scope and expected results. The agenda remains four hours; supporting setup, sales-rule and scope slides fit within existing discussion/demo slots.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Café Enchancia workshop. Use README.md, Discovery Call/Facilitator_Notes.md and VALIDATION.md for setup, scope and expected results. The agenda remains four hours; supporting setup, sales-rule and scope slides fit within existing discussion/demo slots.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Café Enchancia workshop. Use README.md, Discovery Call/Facilitator_Notes.md and VALIDATION.md for setup, scope and expected results. The agenda remains four hours; supporting setup, sales-rule and scope slides fit within existing discussion/demo slots.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Café Enchancia workshop. Use README.md, Discovery Call/Facilitator_Notes.md and VALIDATION.md for setup, scope and expected results. The agenda remains four hours; supporting setup, sales-rule and scope slides fit within existing discussion/demo slots.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Café Enchancia workshop. Use README.md, Discovery Call/Facilitator_Notes.md and VALIDATION.md for setup, scope and expected results. The agenda remains four hours; supporting setup, sales-rule and scope slides fit within existing discussion/demo slots.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Café Enchancia workshop. Use README.md, Discovery Call/Facilitator_Notes.md and VALIDATION.md for setup, scope and expected results. The agenda remains four hours; supporting setup, sales-rule and scope slides fit within existing discussion/demo slots.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Café Enchancia workshop. Use README.md, Discovery Call/Facilitator_Notes.md and VALIDATION.md for setup, scope and expected results. The agenda remains four hours; supporting setup, sales-rule and scope slides fit within existing discussion/demo slots.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Café Enchancia workshop. Use README.md, Discovery Call/Facilitator_Notes.md and VALIDATION.md for setup, scope and expected results. The agenda remains four hours; supporting setup, sales-rule and scope slides fit within existing discussion/demo slots.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Café Enchancia workshop. Use README.md, Discovery Call/Facilitator_Notes.md and VALIDATION.md for setup, scope and expected results. The agenda remains four hours; supporting setup, sales-rule and scope slides fit within existing discussion/demo slots.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image" Target="../media/image4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Relationship Id="rId3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Relationship Id="rId3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ustomer Logo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8727C-6B02-0D38-B732-A6EDD99663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2479" y="1910661"/>
            <a:ext cx="10075817" cy="1822951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75000"/>
              </a:lnSpc>
              <a:buNone/>
              <a:defRPr sz="6000">
                <a:solidFill>
                  <a:schemeClr val="bg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4A394A-30A1-77B3-C656-ACAE8B70A9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6024" y="3663940"/>
            <a:ext cx="9091747" cy="963792"/>
          </a:xfr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A40D01D1-3C03-5905-8C6E-6A615C396BD5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60366" y="6425485"/>
            <a:ext cx="2743200" cy="432515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3D49E3EF-4EA4-7A98-AFBC-422170047FE6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2681181" y="740229"/>
            <a:ext cx="3810000" cy="1166948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t>click to add logo</a:t>
            </a:r>
          </a:p>
        </p:txBody>
      </p:sp>
      <p:sp>
        <p:nvSpPr>
          <p:cNvPr id="15" name="Slide Number Placeholder 23">
            <a:extLst>
              <a:ext uri="{FF2B5EF4-FFF2-40B4-BE49-F238E27FC236}">
                <a16:creationId xmlns:a16="http://schemas.microsoft.com/office/drawing/2014/main" id="{FD8633EB-5F91-98E7-8F85-F6F101AB3AA5}"/>
              </a:ext>
            </a:extLst>
          </p:cNvPr>
          <p:cNvSpPr>
            <a:spLocks noGrp="1"/>
          </p:cNvSpPr>
          <p:nvPr>
            <p:ph type="sldNum" idx="16"/>
          </p:nvPr>
        </p:nvSpPr>
        <p:spPr>
          <a:xfrm>
            <a:off x="9188434" y="6425485"/>
            <a:ext cx="2743200" cy="432515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fld id="{18252151-2B7E-3C46-8FEA-BD351472BD71}" type="slidenum">
              <a:t>‹#›</a:t>
            </a:fld>
            <a:endParaRPr/>
          </a:p>
        </p:txBody>
      </p:sp>
      <p:sp>
        <p:nvSpPr>
          <p:cNvPr id="16" name="Footer Placeholder 22">
            <a:extLst>
              <a:ext uri="{FF2B5EF4-FFF2-40B4-BE49-F238E27FC236}">
                <a16:creationId xmlns:a16="http://schemas.microsoft.com/office/drawing/2014/main" id="{8DCC01EA-EE3B-633E-AFA1-11C8ACD0B3E4}"/>
              </a:ext>
            </a:extLst>
          </p:cNvPr>
          <p:cNvSpPr>
            <a:spLocks noGrp="1"/>
          </p:cNvSpPr>
          <p:nvPr>
            <p:ph type="ftr" idx="15"/>
          </p:nvPr>
        </p:nvSpPr>
        <p:spPr>
          <a:xfrm>
            <a:off x="4038600" y="6425485"/>
            <a:ext cx="4114800" cy="432515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t>©2026 3Cloud, Proprietary &amp; Confidential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468BDF-C671-DE92-7752-F5CAAD3575B0}"/>
              </a:ext>
            </a:extLst>
          </p:cNvPr>
          <p:cNvSpPr>
            <a:spLocks noGrp="1"/>
          </p:cNvSpPr>
          <p:nvPr/>
        </p:nvSpPr>
        <p:spPr>
          <a:xfrm>
            <a:off x="685983" y="811713"/>
            <a:ext cx="1515851" cy="10073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C0208E-6D84-40D2-8AD1-756EA2E6A72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36024" y="777152"/>
            <a:ext cx="1302242" cy="108724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8727C-6B02-0D38-B732-A6EDD99663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22179" y="2086896"/>
            <a:ext cx="8781200" cy="161274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75000"/>
              </a:lnSpc>
              <a:buNone/>
              <a:defRPr sz="6000">
                <a:solidFill>
                  <a:schemeClr val="bg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4A394A-30A1-77B3-C656-ACAE8B70A9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48306" y="3625619"/>
            <a:ext cx="8781200" cy="894130"/>
          </a:xfr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A40D01D1-3C03-5905-8C6E-6A615C396BD5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60366" y="6425485"/>
            <a:ext cx="2743200" cy="432515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15" name="Slide Number Placeholder 23">
            <a:extLst>
              <a:ext uri="{FF2B5EF4-FFF2-40B4-BE49-F238E27FC236}">
                <a16:creationId xmlns:a16="http://schemas.microsoft.com/office/drawing/2014/main" id="{FD8633EB-5F91-98E7-8F85-F6F101AB3AA5}"/>
              </a:ext>
            </a:extLst>
          </p:cNvPr>
          <p:cNvSpPr>
            <a:spLocks noGrp="1"/>
          </p:cNvSpPr>
          <p:nvPr>
            <p:ph type="sldNum" idx="16"/>
          </p:nvPr>
        </p:nvSpPr>
        <p:spPr>
          <a:xfrm>
            <a:off x="9188434" y="6425485"/>
            <a:ext cx="2743200" cy="432515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fld id="{18252151-2B7E-3C46-8FEA-BD351472BD71}" type="slidenum">
              <a:t>‹#›</a:t>
            </a:fld>
            <a:endParaRPr/>
          </a:p>
        </p:txBody>
      </p:sp>
      <p:sp>
        <p:nvSpPr>
          <p:cNvPr id="16" name="Footer Placeholder 22">
            <a:extLst>
              <a:ext uri="{FF2B5EF4-FFF2-40B4-BE49-F238E27FC236}">
                <a16:creationId xmlns:a16="http://schemas.microsoft.com/office/drawing/2014/main" id="{8DCC01EA-EE3B-633E-AFA1-11C8ACD0B3E4}"/>
              </a:ext>
            </a:extLst>
          </p:cNvPr>
          <p:cNvSpPr>
            <a:spLocks noGrp="1"/>
          </p:cNvSpPr>
          <p:nvPr>
            <p:ph type="ftr" idx="15"/>
          </p:nvPr>
        </p:nvSpPr>
        <p:spPr>
          <a:xfrm>
            <a:off x="4038600" y="6425485"/>
            <a:ext cx="4114800" cy="432515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t>©2026 3Cloud, Proprietary &amp; Confidential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89F370-D576-4835-9F76-34138ED603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60366" y="1968016"/>
            <a:ext cx="2211263" cy="184619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8727C-6B02-0D38-B732-A6EDD99663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3151" y="2924280"/>
            <a:ext cx="11259571" cy="161274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75000"/>
              </a:lnSpc>
              <a:buNone/>
              <a:defRPr sz="6000">
                <a:solidFill>
                  <a:schemeClr val="bg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4A394A-30A1-77B3-C656-ACAE8B70A9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9278" y="4396221"/>
            <a:ext cx="11233444" cy="894130"/>
          </a:xfr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A40D01D1-3C03-5905-8C6E-6A615C396BD5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60366" y="6425485"/>
            <a:ext cx="2743200" cy="432515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15" name="Slide Number Placeholder 23">
            <a:extLst>
              <a:ext uri="{FF2B5EF4-FFF2-40B4-BE49-F238E27FC236}">
                <a16:creationId xmlns:a16="http://schemas.microsoft.com/office/drawing/2014/main" id="{FD8633EB-5F91-98E7-8F85-F6F101AB3AA5}"/>
              </a:ext>
            </a:extLst>
          </p:cNvPr>
          <p:cNvSpPr>
            <a:spLocks noGrp="1"/>
          </p:cNvSpPr>
          <p:nvPr>
            <p:ph type="sldNum" idx="16"/>
          </p:nvPr>
        </p:nvSpPr>
        <p:spPr>
          <a:xfrm>
            <a:off x="9188434" y="6425485"/>
            <a:ext cx="2743200" cy="432515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fld id="{18252151-2B7E-3C46-8FEA-BD351472BD71}" type="slidenum">
              <a:t>‹#›</a:t>
            </a:fld>
            <a:endParaRPr/>
          </a:p>
        </p:txBody>
      </p:sp>
      <p:sp>
        <p:nvSpPr>
          <p:cNvPr id="16" name="Footer Placeholder 22">
            <a:extLst>
              <a:ext uri="{FF2B5EF4-FFF2-40B4-BE49-F238E27FC236}">
                <a16:creationId xmlns:a16="http://schemas.microsoft.com/office/drawing/2014/main" id="{8DCC01EA-EE3B-633E-AFA1-11C8ACD0B3E4}"/>
              </a:ext>
            </a:extLst>
          </p:cNvPr>
          <p:cNvSpPr>
            <a:spLocks noGrp="1"/>
          </p:cNvSpPr>
          <p:nvPr>
            <p:ph type="ftr" idx="15"/>
          </p:nvPr>
        </p:nvSpPr>
        <p:spPr>
          <a:xfrm>
            <a:off x="4038600" y="6425485"/>
            <a:ext cx="4114800" cy="432515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t>©2026 3Cloud, Proprietary &amp; Confidential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946DD2-2690-F2D6-F6B6-1A0133CB0675}"/>
              </a:ext>
            </a:extLst>
          </p:cNvPr>
          <p:cNvSpPr>
            <a:spLocks noGrp="1"/>
          </p:cNvSpPr>
          <p:nvPr/>
        </p:nvSpPr>
        <p:spPr>
          <a:xfrm>
            <a:off x="0" y="1778939"/>
            <a:ext cx="12218127" cy="11153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A2516F01-51B8-1BC2-8F9E-43F3690491CC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2280482" y="1972638"/>
            <a:ext cx="2633769" cy="760288"/>
          </a:xfrm>
        </p:spPr>
        <p:txBody>
          <a:bodyPr anchor="ctr"/>
          <a:lstStyle>
            <a:lvl1pPr marL="0" indent="0" algn="l">
              <a:lnSpc>
                <a:spcPct val="70000"/>
              </a:lnSpc>
              <a:spcBef>
                <a:spcPts val="0"/>
              </a:spcBef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t>Logo             Here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E287280B-41D0-4CAF-9C41-A5C2338E9494}"/>
              </a:ext>
            </a:extLst>
          </p:cNvPr>
          <p:cNvSpPr>
            <a:spLocks noGrp="1"/>
          </p:cNvSpPr>
          <p:nvPr/>
        </p:nvSpPr>
        <p:spPr>
          <a:xfrm>
            <a:off x="1797142" y="2507329"/>
            <a:ext cx="267132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A129B196-F755-477E-B458-86E90A4AAC7E}"/>
              </a:ext>
            </a:extLst>
          </p:cNvPr>
          <p:cNvSpPr>
            <a:spLocks noGrp="1"/>
          </p:cNvSpPr>
          <p:nvPr/>
        </p:nvSpPr>
        <p:spPr>
          <a:xfrm>
            <a:off x="1930708" y="2374445"/>
            <a:ext cx="0" cy="265769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3E6E13E-0D7D-4038-BAAA-495A2C9113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10407" y="1792998"/>
            <a:ext cx="1302242" cy="108724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ivider Slide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E97CB-3448-0E85-BB79-001BCADE51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217" y="1576251"/>
            <a:ext cx="7791005" cy="1612659"/>
          </a:xfrm>
          <a:prstGeom prst="rect">
            <a:avLst/>
          </a:prstGeom>
        </p:spPr>
        <p:txBody>
          <a:bodyPr anchor="b"/>
          <a:lstStyle>
            <a:lvl1pPr>
              <a:lnSpc>
                <a:spcPct val="75000"/>
              </a:lnSpc>
              <a:buNone/>
              <a:defRPr sz="6000">
                <a:solidFill>
                  <a:schemeClr val="bg1"/>
                </a:solidFill>
              </a:defRPr>
            </a:lvl1pPr>
          </a:lstStyle>
          <a:p>
            <a:r>
              <a:t>Divider Slide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92556B-A2A9-9C82-9025-2BD00C4938E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38596" y="3103733"/>
            <a:ext cx="5422273" cy="1500187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Divider Slide Subtitle</a:t>
            </a:r>
          </a:p>
        </p:txBody>
      </p:sp>
      <p:sp>
        <p:nvSpPr>
          <p:cNvPr id="10" name="Slide Number Placeholder 23">
            <a:extLst>
              <a:ext uri="{FF2B5EF4-FFF2-40B4-BE49-F238E27FC236}">
                <a16:creationId xmlns:a16="http://schemas.microsoft.com/office/drawing/2014/main" id="{82EA1C9F-A83F-F03B-CCCA-D693351EF5B0}"/>
              </a:ext>
            </a:extLst>
          </p:cNvPr>
          <p:cNvSpPr>
            <a:spLocks noGrp="1"/>
          </p:cNvSpPr>
          <p:nvPr>
            <p:ph type="sldNum" idx="16"/>
          </p:nvPr>
        </p:nvSpPr>
        <p:spPr>
          <a:xfrm>
            <a:off x="9188434" y="6425485"/>
            <a:ext cx="2743200" cy="432515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fld id="{18252151-2B7E-3C46-8FEA-BD351472BD71}" type="slidenum">
              <a:t>‹#›</a:t>
            </a:fld>
            <a:endParaRPr/>
          </a:p>
        </p:txBody>
      </p:sp>
      <p:sp>
        <p:nvSpPr>
          <p:cNvPr id="13" name="Footer Placeholder 22">
            <a:extLst>
              <a:ext uri="{FF2B5EF4-FFF2-40B4-BE49-F238E27FC236}">
                <a16:creationId xmlns:a16="http://schemas.microsoft.com/office/drawing/2014/main" id="{0A9D0D3D-D15B-D7E7-1A13-DE17419E57F4}"/>
              </a:ext>
            </a:extLst>
          </p:cNvPr>
          <p:cNvSpPr>
            <a:spLocks noGrp="1"/>
          </p:cNvSpPr>
          <p:nvPr>
            <p:ph type="ftr" idx="15"/>
          </p:nvPr>
        </p:nvSpPr>
        <p:spPr>
          <a:xfrm>
            <a:off x="4033563" y="6425485"/>
            <a:ext cx="4114800" cy="432515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t>©2026 3Cloud, Proprietary &amp; Confidential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960C1B-C19E-417B-B762-8C89F22354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34043" y="6078826"/>
            <a:ext cx="830412" cy="6933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Alternate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23">
            <a:extLst>
              <a:ext uri="{FF2B5EF4-FFF2-40B4-BE49-F238E27FC236}">
                <a16:creationId xmlns:a16="http://schemas.microsoft.com/office/drawing/2014/main" id="{82EA1C9F-A83F-F03B-CCCA-D693351EF5B0}"/>
              </a:ext>
            </a:extLst>
          </p:cNvPr>
          <p:cNvSpPr>
            <a:spLocks noGrp="1"/>
          </p:cNvSpPr>
          <p:nvPr>
            <p:ph type="sldNum" idx="16"/>
          </p:nvPr>
        </p:nvSpPr>
        <p:spPr>
          <a:xfrm>
            <a:off x="9188434" y="6425485"/>
            <a:ext cx="2743200" cy="432515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fld id="{18252151-2B7E-3C46-8FEA-BD351472BD71}" type="slidenum">
              <a:t>‹#›</a:t>
            </a:fld>
            <a:endParaRPr/>
          </a:p>
        </p:txBody>
      </p:sp>
      <p:sp>
        <p:nvSpPr>
          <p:cNvPr id="13" name="Footer Placeholder 22">
            <a:extLst>
              <a:ext uri="{FF2B5EF4-FFF2-40B4-BE49-F238E27FC236}">
                <a16:creationId xmlns:a16="http://schemas.microsoft.com/office/drawing/2014/main" id="{0A9D0D3D-D15B-D7E7-1A13-DE17419E57F4}"/>
              </a:ext>
            </a:extLst>
          </p:cNvPr>
          <p:cNvSpPr>
            <a:spLocks noGrp="1"/>
          </p:cNvSpPr>
          <p:nvPr>
            <p:ph type="ftr" idx="15"/>
          </p:nvPr>
        </p:nvSpPr>
        <p:spPr>
          <a:xfrm>
            <a:off x="4038599" y="6425485"/>
            <a:ext cx="4114800" cy="432515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t>©2026 3Cloud, Proprietary &amp; Confidential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85210A3-F720-69D2-1418-2A2B8080C7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4419" y="1576251"/>
            <a:ext cx="6668545" cy="1612659"/>
          </a:xfrm>
          <a:prstGeom prst="rect">
            <a:avLst/>
          </a:prstGeom>
        </p:spPr>
        <p:txBody>
          <a:bodyPr anchor="b"/>
          <a:lstStyle>
            <a:lvl1pPr algn="r">
              <a:lnSpc>
                <a:spcPct val="75000"/>
              </a:lnSpc>
              <a:buNone/>
              <a:defRPr sz="6000">
                <a:solidFill>
                  <a:schemeClr val="bg1"/>
                </a:solidFill>
              </a:defRPr>
            </a:lvl1pPr>
          </a:lstStyle>
          <a:p>
            <a:r>
              <a:t>Divider Slide Title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B81CDFA5-487A-F387-BA1C-D7702BD1CA7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255502" y="3103733"/>
            <a:ext cx="5422273" cy="1500187"/>
          </a:xfrm>
        </p:spPr>
        <p:txBody>
          <a:bodyPr/>
          <a:lstStyle>
            <a:lvl1pPr marL="0" indent="0" algn="r">
              <a:lnSpc>
                <a:spcPct val="100000"/>
              </a:lnSpc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Divider Slide Subtitle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2E72F47-98DA-46A3-807D-5DF2643C7B6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34043" y="6078826"/>
            <a:ext cx="830412" cy="6933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F0047187-A7F9-4491-A897-450229776CCF}"/>
              </a:ext>
            </a:extLst>
          </p:cNvPr>
          <p:cNvSpPr>
            <a:spLocks noGrp="1"/>
          </p:cNvSpPr>
          <p:nvPr/>
        </p:nvSpPr>
        <p:spPr>
          <a:xfrm>
            <a:off x="518160" y="975836"/>
            <a:ext cx="6810459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8B8104F1-781B-43B0-9595-AB2BCA2CE63B}"/>
              </a:ext>
            </a:extLst>
          </p:cNvPr>
          <p:cNvSpPr>
            <a:spLocks noGrp="1"/>
          </p:cNvSpPr>
          <p:nvPr/>
        </p:nvSpPr>
        <p:spPr>
          <a:xfrm>
            <a:off x="1287780" y="6429533"/>
            <a:ext cx="6078220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C3B06610-200E-4C60-4ADE-6E3508068DF8}"/>
              </a:ext>
            </a:extLst>
          </p:cNvPr>
          <p:cNvSpPr>
            <a:spLocks noGrp="1"/>
          </p:cNvSpPr>
          <p:nvPr>
            <p:ph type="sldNum" idx="16"/>
          </p:nvPr>
        </p:nvSpPr>
        <p:spPr>
          <a:xfrm>
            <a:off x="9188434" y="6425485"/>
            <a:ext cx="2743200" cy="432515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tx1"/>
                </a:solidFill>
              </a:defRPr>
            </a:lvl1pPr>
          </a:lstStyle>
          <a:p>
            <a:fld id="{18252151-2B7E-3C46-8FEA-BD351472BD71}" type="slidenum">
              <a:t>‹#›</a:t>
            </a:fld>
            <a:endParaRPr/>
          </a:p>
        </p:txBody>
      </p:sp>
      <p:sp>
        <p:nvSpPr>
          <p:cNvPr id="26" name="Content Placeholder 25">
            <a:extLst>
              <a:ext uri="{FF2B5EF4-FFF2-40B4-BE49-F238E27FC236}">
                <a16:creationId xmlns:a16="http://schemas.microsoft.com/office/drawing/2014/main" id="{DAA57D79-38FA-098A-8A69-F902589D0D3B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428002" y="1219200"/>
            <a:ext cx="6502187" cy="4773770"/>
          </a:xfrm>
        </p:spPr>
        <p:txBody>
          <a:bodyPr>
            <a:normAutofit/>
          </a:bodyPr>
          <a:lstStyle>
            <a:lvl1pPr marL="514350" indent="-514350">
              <a:lnSpc>
                <a:spcPct val="125000"/>
              </a:lnSpc>
              <a:buFont typeface="+mj-lt"/>
              <a:buAutoNum type="arabicPeriod"/>
              <a:defRPr sz="3200"/>
            </a:lvl1pPr>
          </a:lstStyle>
          <a:p>
            <a:pPr lvl="0">
              <a:buNone/>
            </a:pPr>
            <a:r>
              <a:t>Click to add agenda items</a:t>
            </a:r>
          </a:p>
        </p:txBody>
      </p:sp>
      <p:sp>
        <p:nvSpPr>
          <p:cNvPr id="2" name="Footer Placeholder 22">
            <a:extLst>
              <a:ext uri="{FF2B5EF4-FFF2-40B4-BE49-F238E27FC236}">
                <a16:creationId xmlns:a16="http://schemas.microsoft.com/office/drawing/2014/main" id="{834D6083-84A4-A5DB-6228-6EEB92A4A64A}"/>
              </a:ext>
            </a:extLst>
          </p:cNvPr>
          <p:cNvSpPr>
            <a:spLocks noGrp="1"/>
          </p:cNvSpPr>
          <p:nvPr>
            <p:ph type="ftr" idx="15"/>
          </p:nvPr>
        </p:nvSpPr>
        <p:spPr>
          <a:xfrm>
            <a:off x="4027811" y="6425485"/>
            <a:ext cx="4114800" cy="432515"/>
          </a:xfrm>
          <a:prstGeom prst="rect">
            <a:avLst/>
          </a:prstGeom>
        </p:spPr>
        <p:txBody>
          <a:bodyPr/>
          <a:lstStyle/>
          <a:p>
            <a:r>
              <a:t>©2026 3Cloud, Proprietary &amp; Confidential 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59FCBEE8-AFB9-589E-6ECA-624D0CCA64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5004" y="276701"/>
            <a:ext cx="6923615" cy="699135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Slide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5D97B40-3D3A-4C2E-9B64-6D582BD0B1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34043" y="6078827"/>
            <a:ext cx="830412" cy="6933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ecutive Summary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E9D76D4B-1B11-4859-A835-4AC5D80595A1}"/>
              </a:ext>
            </a:extLst>
          </p:cNvPr>
          <p:cNvSpPr>
            <a:spLocks noGrp="1"/>
          </p:cNvSpPr>
          <p:nvPr/>
        </p:nvSpPr>
        <p:spPr>
          <a:xfrm>
            <a:off x="518160" y="975836"/>
            <a:ext cx="6810459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4930D599-EB84-4745-B902-3C191047F6BB}"/>
              </a:ext>
            </a:extLst>
          </p:cNvPr>
          <p:cNvSpPr>
            <a:spLocks noGrp="1"/>
          </p:cNvSpPr>
          <p:nvPr/>
        </p:nvSpPr>
        <p:spPr>
          <a:xfrm>
            <a:off x="1287780" y="6429533"/>
            <a:ext cx="6078220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C3B06610-200E-4C60-4ADE-6E3508068DF8}"/>
              </a:ext>
            </a:extLst>
          </p:cNvPr>
          <p:cNvSpPr>
            <a:spLocks noGrp="1"/>
          </p:cNvSpPr>
          <p:nvPr>
            <p:ph type="sldNum" idx="16"/>
          </p:nvPr>
        </p:nvSpPr>
        <p:spPr>
          <a:xfrm>
            <a:off x="9188434" y="6425485"/>
            <a:ext cx="2743200" cy="432515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fld id="{18252151-2B7E-3C46-8FEA-BD351472BD71}" type="slidenum">
              <a:t>‹#›</a:t>
            </a:fld>
            <a:endParaRPr/>
          </a:p>
        </p:txBody>
      </p:sp>
      <p:sp>
        <p:nvSpPr>
          <p:cNvPr id="26" name="Content Placeholder 25">
            <a:extLst>
              <a:ext uri="{FF2B5EF4-FFF2-40B4-BE49-F238E27FC236}">
                <a16:creationId xmlns:a16="http://schemas.microsoft.com/office/drawing/2014/main" id="{DAA57D79-38FA-098A-8A69-F902589D0D3B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428002" y="1588468"/>
            <a:ext cx="6900617" cy="477377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+mj-lt"/>
              <a:buNone/>
              <a:defRPr sz="2800"/>
            </a:lvl1pPr>
          </a:lstStyle>
          <a:p>
            <a:pPr lvl="0">
              <a:buNone/>
            </a:pPr>
            <a:r>
              <a:t>Click to add text</a:t>
            </a:r>
          </a:p>
        </p:txBody>
      </p:sp>
      <p:sp>
        <p:nvSpPr>
          <p:cNvPr id="2" name="Footer Placeholder 22">
            <a:extLst>
              <a:ext uri="{FF2B5EF4-FFF2-40B4-BE49-F238E27FC236}">
                <a16:creationId xmlns:a16="http://schemas.microsoft.com/office/drawing/2014/main" id="{834D6083-84A4-A5DB-6228-6EEB92A4A64A}"/>
              </a:ext>
            </a:extLst>
          </p:cNvPr>
          <p:cNvSpPr>
            <a:spLocks noGrp="1"/>
          </p:cNvSpPr>
          <p:nvPr>
            <p:ph type="ftr" idx="15"/>
          </p:nvPr>
        </p:nvSpPr>
        <p:spPr>
          <a:xfrm>
            <a:off x="4027811" y="6425485"/>
            <a:ext cx="4114800" cy="432515"/>
          </a:xfrm>
          <a:prstGeom prst="rect">
            <a:avLst/>
          </a:prstGeom>
        </p:spPr>
        <p:txBody>
          <a:bodyPr/>
          <a:lstStyle/>
          <a:p>
            <a:r>
              <a:t>©2026 3Cloud, Proprietary &amp; Confidential </a:t>
            </a:r>
          </a:p>
        </p:txBody>
      </p:sp>
      <p:sp>
        <p:nvSpPr>
          <p:cNvPr id="15" name="Content Placeholder 25">
            <a:extLst>
              <a:ext uri="{FF2B5EF4-FFF2-40B4-BE49-F238E27FC236}">
                <a16:creationId xmlns:a16="http://schemas.microsoft.com/office/drawing/2014/main" id="{101070C2-B05F-C760-FFF0-D83086B19F3C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8358720" y="578074"/>
            <a:ext cx="3564796" cy="5784164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Font typeface="Arial"/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Click to add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C71E170-5B10-C135-2D33-C51AD5FDCA13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428002" y="1038383"/>
            <a:ext cx="6900617" cy="36511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</a:lstStyle>
          <a:p>
            <a:pPr lvl="0">
              <a:buNone/>
            </a:pPr>
            <a:r>
              <a:t>Slide Subtitle</a:t>
            </a: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76F4CCB4-FDDA-F666-6092-EDC21EBB9D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5005" y="276701"/>
            <a:ext cx="6960996" cy="699135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Slide Title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F78B35-167A-407B-9180-B0384351D7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34043" y="6078827"/>
            <a:ext cx="830412" cy="6933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FC023554-2614-4514-9FF0-594169E7A700}"/>
              </a:ext>
            </a:extLst>
          </p:cNvPr>
          <p:cNvSpPr>
            <a:spLocks noGrp="1"/>
          </p:cNvSpPr>
          <p:nvPr/>
        </p:nvSpPr>
        <p:spPr>
          <a:xfrm>
            <a:off x="518160" y="975836"/>
            <a:ext cx="11299675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PH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93BC6907-6DE8-E971-19F0-A1219696A2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5004" y="276701"/>
            <a:ext cx="11389971" cy="699135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Slide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5A23D84-3F8E-D9B7-04DD-6208A4FA90EE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428002" y="1038383"/>
            <a:ext cx="11389833" cy="36511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</a:lstStyle>
          <a:p>
            <a:pPr lvl="0">
              <a:buNone/>
            </a:pPr>
            <a:r>
              <a:t>Slide Subtitle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222C711E-9243-438C-A515-9323794FC7A7}"/>
              </a:ext>
            </a:extLst>
          </p:cNvPr>
          <p:cNvSpPr>
            <a:spLocks noGrp="1"/>
          </p:cNvSpPr>
          <p:nvPr/>
        </p:nvSpPr>
        <p:spPr>
          <a:xfrm>
            <a:off x="1287780" y="6429533"/>
            <a:ext cx="10530055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PH"/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C3B06610-200E-4C60-4ADE-6E3508068DF8}"/>
              </a:ext>
            </a:extLst>
          </p:cNvPr>
          <p:cNvSpPr>
            <a:spLocks noGrp="1"/>
          </p:cNvSpPr>
          <p:nvPr>
            <p:ph type="sldNum" idx="16"/>
          </p:nvPr>
        </p:nvSpPr>
        <p:spPr>
          <a:xfrm>
            <a:off x="9188434" y="6425485"/>
            <a:ext cx="2743200" cy="432515"/>
          </a:xfrm>
          <a:prstGeom prst="rect">
            <a:avLst/>
          </a:prstGeom>
        </p:spPr>
        <p:txBody>
          <a:bodyPr/>
          <a:lstStyle/>
          <a:p>
            <a:fld id="{18252151-2B7E-3C46-8FEA-BD351472BD71}" type="slidenum">
              <a:t>‹#›</a:t>
            </a:fld>
            <a:endParaRPr/>
          </a:p>
        </p:txBody>
      </p:sp>
      <p:sp>
        <p:nvSpPr>
          <p:cNvPr id="26" name="Content Placeholder 25">
            <a:extLst>
              <a:ext uri="{FF2B5EF4-FFF2-40B4-BE49-F238E27FC236}">
                <a16:creationId xmlns:a16="http://schemas.microsoft.com/office/drawing/2014/main" id="{DAA57D79-38FA-098A-8A69-F902589D0D3B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28002" y="1643063"/>
            <a:ext cx="11314418" cy="4419600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2" name="Footer Placeholder 22">
            <a:extLst>
              <a:ext uri="{FF2B5EF4-FFF2-40B4-BE49-F238E27FC236}">
                <a16:creationId xmlns:a16="http://schemas.microsoft.com/office/drawing/2014/main" id="{5E53536D-5A6C-381E-34E8-3C0FC336E80C}"/>
              </a:ext>
            </a:extLst>
          </p:cNvPr>
          <p:cNvSpPr>
            <a:spLocks noGrp="1"/>
          </p:cNvSpPr>
          <p:nvPr>
            <p:ph type="ftr" idx="15"/>
          </p:nvPr>
        </p:nvSpPr>
        <p:spPr>
          <a:xfrm>
            <a:off x="4027811" y="6425485"/>
            <a:ext cx="4114800" cy="432515"/>
          </a:xfrm>
          <a:prstGeom prst="rect">
            <a:avLst/>
          </a:prstGeom>
        </p:spPr>
        <p:txBody>
          <a:bodyPr/>
          <a:lstStyle/>
          <a:p>
            <a:r>
              <a:t>©2026 3Cloud, Proprietary &amp; Confidential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E4788C-506E-4EA8-83DA-8220FB1ED7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34043" y="6078827"/>
            <a:ext cx="830412" cy="6933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848671C-305A-3729-8B06-6E845F849236}"/>
              </a:ext>
            </a:extLst>
          </p:cNvPr>
          <p:cNvSpPr>
            <a:spLocks noGrp="1"/>
          </p:cNvSpPr>
          <p:nvPr/>
        </p:nvSpPr>
        <p:spPr>
          <a:xfrm>
            <a:off x="0" y="2875002"/>
            <a:ext cx="12191999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6600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21" name="Date Placeholder 8">
            <a:extLst>
              <a:ext uri="{FF2B5EF4-FFF2-40B4-BE49-F238E27FC236}">
                <a16:creationId xmlns:a16="http://schemas.microsoft.com/office/drawing/2014/main" id="{B9022593-03FE-E188-37E9-AFA36508346F}"/>
              </a:ext>
            </a:extLst>
          </p:cNvPr>
          <p:cNvSpPr>
            <a:spLocks noGrp="1"/>
          </p:cNvSpPr>
          <p:nvPr/>
        </p:nvSpPr>
        <p:spPr>
          <a:xfrm>
            <a:off x="260366" y="6425485"/>
            <a:ext cx="2743200" cy="43251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marL="0" algn="l" defTabSz="914400">
              <a:buNone/>
              <a:defRPr sz="1200" kern="120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fld id="{99772556-380A-C941-8820-D9DA311A1F3C}" type="datetime4">
              <a:rPr lang="en-US" sz="1400"/>
              <a:t>October 27, 2026</a:t>
            </a:fld>
            <a:endParaRPr sz="1400"/>
          </a:p>
        </p:txBody>
      </p:sp>
      <p:sp>
        <p:nvSpPr>
          <p:cNvPr id="22" name="Slide Number Placeholder 23">
            <a:extLst>
              <a:ext uri="{FF2B5EF4-FFF2-40B4-BE49-F238E27FC236}">
                <a16:creationId xmlns:a16="http://schemas.microsoft.com/office/drawing/2014/main" id="{B4E2C96F-84D7-1B0F-8E06-5E267DAA95DA}"/>
              </a:ext>
            </a:extLst>
          </p:cNvPr>
          <p:cNvSpPr>
            <a:spLocks noGrp="1"/>
          </p:cNvSpPr>
          <p:nvPr/>
        </p:nvSpPr>
        <p:spPr>
          <a:xfrm>
            <a:off x="9188434" y="6425485"/>
            <a:ext cx="2743200" cy="43251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marL="0" algn="r" defTabSz="914400">
              <a:buNone/>
              <a:defRPr sz="1200" kern="120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fld id="{18252151-2B7E-3C46-8FEA-BD351472BD71}" type="slidenum">
              <a:rPr sz="1400"/>
              <a:t>‹#›</a:t>
            </a:fld>
            <a:endParaRPr sz="1400"/>
          </a:p>
        </p:txBody>
      </p:sp>
      <p:sp>
        <p:nvSpPr>
          <p:cNvPr id="2" name="Footer Placeholder 22">
            <a:extLst>
              <a:ext uri="{FF2B5EF4-FFF2-40B4-BE49-F238E27FC236}">
                <a16:creationId xmlns:a16="http://schemas.microsoft.com/office/drawing/2014/main" id="{DC57F1BE-B71E-70CF-4FC3-95D0D6FCF409}"/>
              </a:ext>
            </a:extLst>
          </p:cNvPr>
          <p:cNvSpPr>
            <a:spLocks noGrp="1"/>
          </p:cNvSpPr>
          <p:nvPr>
            <p:ph type="ftr" idx="15"/>
          </p:nvPr>
        </p:nvSpPr>
        <p:spPr>
          <a:xfrm>
            <a:off x="4027811" y="6425485"/>
            <a:ext cx="4114800" cy="432515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t>©2026 3Cloud, Proprietary &amp; Confidential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003E24-7D13-49FC-A7A9-B74CDC3DCE6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68063" y="5040721"/>
            <a:ext cx="1655869" cy="1382494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EE2563-330F-BDD0-0160-6EA8B9049C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1320" y="183578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10" name="Title Placeholder 9">
            <a:extLst>
              <a:ext uri="{FF2B5EF4-FFF2-40B4-BE49-F238E27FC236}">
                <a16:creationId xmlns:a16="http://schemas.microsoft.com/office/drawing/2014/main" id="{CCDEFDDD-8BAA-4CE7-8C79-9308A90E5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7ED3F5-258C-C8FB-5C6A-FE87BEBEFB37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6546C-B800-6DA2-A81F-6DF832B4136C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t>©2026 3Cloud, Proprietary &amp; Confidential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3E1FD2-2BF8-3635-1161-3B614014E5BE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6F8928-93E4-274E-9983-0B427259B1CE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hdr="0" dt="0"/>
  <p:txStyles>
    <p:titleStyle>
      <a:lvl1pPr algn="l" defTabSz="914400">
        <a:lnSpc>
          <a:spcPct val="90000"/>
        </a:lnSpc>
        <a:spcBef>
          <a:spcPct val="0"/>
        </a:spcBef>
        <a:buNone/>
        <a:defRPr sz="4400" b="0" i="0" kern="1200">
          <a:solidFill>
            <a:schemeClr val="tx1">
              <a:lumMod val="50000"/>
            </a:schemeClr>
          </a:solidFill>
          <a:latin typeface="Calibri"/>
          <a:ea typeface="Calibri"/>
          <a:cs typeface="Calibri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>
              <a:lumMod val="50000"/>
            </a:schemeClr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>
              <a:lumMod val="50000"/>
            </a:schemeClr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>
              <a:lumMod val="50000"/>
            </a:schemeClr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>
              <a:lumMod val="50000"/>
            </a:schemeClr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>
              <a:lumMod val="50000"/>
            </a:schemeClr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0.png"/><Relationship Id="rId3" Type="http://schemas.openxmlformats.org/officeDocument/2006/relationships/image" Target="../media/image11.jpeg"/><Relationship Id="rId4" Type="http://schemas.openxmlformats.org/officeDocument/2006/relationships/image" Target="../media/image12.jpe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hyperlink" Target="https://www.linkedin.com/in/christian-matthew-alcaria-093a5a1a9/?isSelfProfile=true" TargetMode="External"/><Relationship Id="rId9" Type="http://schemas.openxmlformats.org/officeDocument/2006/relationships/image" Target="../media/image16.org&amp;utm_campaign=index&amp;utm_content=thumbnail"/><Relationship Id="rId10" Type="http://schemas.openxmlformats.org/officeDocument/2006/relationships/image" Target="../media/image17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8.fna&amp;_nc_ss=7b2a8&amp;oh=03_Q7cD6gGZE7jaWjLyNEyRzvjocO3cJmvZK_PLZNXIvLyBCuNW5w&amp;oe=6B052927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hyperlink" Target="https://3cloudsolutions.com/resources/3cloud-acquires-pragmatic-works-consulting" TargetMode="External"/><Relationship Id="rId3" Type="http://schemas.openxmlformats.org/officeDocument/2006/relationships/hyperlink" Target="https://3cloudsolutions.com/awards/" TargetMode="External"/><Relationship Id="rId4" Type="http://schemas.openxmlformats.org/officeDocument/2006/relationships/hyperlink" Target="https://3cloudsolutions.com/resources/microsoft-recognizes-3cloud-as-top-azure-partner-worldwide-with-multiple-partner-of-the-year-awards/" TargetMode="External"/><Relationship Id="rId5" Type="http://schemas.openxmlformats.org/officeDocument/2006/relationships/hyperlink" Target="https://techcommunity.microsoft.com/blog/partnernews/partner-case-study--3cloud/4445266" TargetMode="External"/><Relationship Id="rId6" Type="http://schemas.openxmlformats.org/officeDocument/2006/relationships/hyperlink" Target="http://www.prnewswire.com/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9.jpg"/><Relationship Id="rId3" Type="http://schemas.openxmlformats.org/officeDocument/2006/relationships/image" Target="../media/image20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1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4.svg"/><Relationship Id="rId4" Type="http://schemas.openxmlformats.org/officeDocument/2006/relationships/image" Target="../media/image25.svg"/><Relationship Id="rId5" Type="http://schemas.openxmlformats.org/officeDocument/2006/relationships/image" Target="../media/image26.svg"/><Relationship Id="rId6" Type="http://schemas.openxmlformats.org/officeDocument/2006/relationships/image" Target="../media/image27.svg"/><Relationship Id="rId7" Type="http://schemas.openxmlformats.org/officeDocument/2006/relationships/image" Target="../media/image28.sv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9.sv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jpeg"/><Relationship Id="rId6" Type="http://schemas.openxmlformats.org/officeDocument/2006/relationships/image" Target="../media/image33.png"/><Relationship Id="rId7" Type="http://schemas.openxmlformats.org/officeDocument/2006/relationships/image" Target="../media/image34.png"/><Relationship Id="rId8" Type="http://schemas.openxmlformats.org/officeDocument/2006/relationships/image" Target="../media/image35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B8FD5-4A39-2967-A374-DBDB3520D5B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PH" dirty="0"/>
              <a:t>Day One:</a:t>
            </a:r>
            <a:br>
              <a:rPr lang="en-PH" dirty="0"/>
            </a:br>
            <a:r>
              <a:rPr lang="en-PH" dirty="0"/>
              <a:t>Welcome to Data Engineering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0B55A4-471F-548E-28E2-291BEA87683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PH" i="1" dirty="0"/>
              <a:t>Christian Alcaria</a:t>
            </a:r>
            <a:endParaRPr lang="en-US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7F2CC5-401C-8336-0614-B5DE44DAD892}"/>
              </a:ext>
            </a:extLst>
          </p:cNvPr>
          <p:cNvSpPr>
            <a:spLocks noGrp="1"/>
          </p:cNvSpPr>
          <p:nvPr>
            <p:ph type="sldNum" idx="16"/>
          </p:nvPr>
        </p:nvSpPr>
        <p:spPr/>
        <p:txBody>
          <a:bodyPr wrap="square"/>
          <a:lstStyle/>
          <a:p>
            <a:r>
              <a:t>1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3D305-C5E5-5F5A-42B9-B2A588E7AAFD}"/>
              </a:ext>
            </a:extLst>
          </p:cNvPr>
          <p:cNvSpPr>
            <a:spLocks noGrp="1"/>
          </p:cNvSpPr>
          <p:nvPr>
            <p:ph type="ftr" idx="15"/>
          </p:nvPr>
        </p:nvSpPr>
        <p:spPr/>
        <p:txBody>
          <a:bodyPr/>
          <a:lstStyle/>
          <a:p>
            <a:r>
              <a:rPr lang="en-US"/>
              <a:t>©2026 3Cloud, Proprietary &amp; Confidential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EE04732-906E-A44D-5C10-237AB040A0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5275" y="150822"/>
            <a:ext cx="1601864" cy="1115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269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Picture 116" descr="Alteryx - Credly">
            <a:extLst>
              <a:ext uri="{FF2B5EF4-FFF2-40B4-BE49-F238E27FC236}">
                <a16:creationId xmlns:a16="http://schemas.microsoft.com/office/drawing/2014/main" id="{4F15BCDD-846A-30F9-B066-5B02CF5956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702" y="5006710"/>
            <a:ext cx="484632" cy="484632"/>
          </a:xfrm>
          <a:prstGeom prst="rect">
            <a:avLst/>
          </a:prstGeom>
        </p:spPr>
      </p:pic>
      <p:pic>
        <p:nvPicPr>
          <p:cNvPr id="113" name="Picture 112" descr="Snowflake | LinkedIn">
            <a:extLst>
              <a:ext uri="{FF2B5EF4-FFF2-40B4-BE49-F238E27FC236}">
                <a16:creationId xmlns:a16="http://schemas.microsoft.com/office/drawing/2014/main" id="{639EFFD7-6BD0-8409-8E9C-3EF24A1A77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702" y="4357026"/>
            <a:ext cx="484632" cy="484632"/>
          </a:xfrm>
          <a:prstGeom prst="rect">
            <a:avLst/>
          </a:prstGeom>
        </p:spPr>
      </p:pic>
      <p:sp>
        <p:nvSpPr>
          <p:cNvPr id="111" name="Rectangle 110">
            <a:extLst>
              <a:ext uri="{FF2B5EF4-FFF2-40B4-BE49-F238E27FC236}">
                <a16:creationId xmlns:a16="http://schemas.microsoft.com/office/drawing/2014/main" id="{8E254BFD-85E7-60B8-FBBC-119A085DD22E}"/>
              </a:ext>
            </a:extLst>
          </p:cNvPr>
          <p:cNvSpPr/>
          <p:nvPr/>
        </p:nvSpPr>
        <p:spPr>
          <a:xfrm>
            <a:off x="6604702" y="3707342"/>
            <a:ext cx="484632" cy="484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9" name="Picture 108" descr="Databricks Company Profile Funding &amp; Investors | YourStory">
            <a:extLst>
              <a:ext uri="{FF2B5EF4-FFF2-40B4-BE49-F238E27FC236}">
                <a16:creationId xmlns:a16="http://schemas.microsoft.com/office/drawing/2014/main" id="{B9B808A6-753C-18BA-CABA-5780561E9B7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698" t="9783" r="9209" b="10124"/>
          <a:stretch>
            <a:fillRect/>
          </a:stretch>
        </p:blipFill>
        <p:spPr>
          <a:xfrm>
            <a:off x="6604702" y="1758290"/>
            <a:ext cx="484632" cy="484632"/>
          </a:xfrm>
          <a:prstGeom prst="rect">
            <a:avLst/>
          </a:prstGeom>
        </p:spPr>
      </p:pic>
      <p:pic>
        <p:nvPicPr>
          <p:cNvPr id="108" name="Picture 107">
            <a:extLst>
              <a:ext uri="{FF2B5EF4-FFF2-40B4-BE49-F238E27FC236}">
                <a16:creationId xmlns:a16="http://schemas.microsoft.com/office/drawing/2014/main" id="{5E377C48-2F5C-A9D7-162A-AF7397B30D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4702" y="2407974"/>
            <a:ext cx="484632" cy="484632"/>
          </a:xfrm>
          <a:prstGeom prst="rect">
            <a:avLst/>
          </a:prstGeom>
        </p:spPr>
      </p:pic>
      <p:pic>
        <p:nvPicPr>
          <p:cNvPr id="106" name="Picture 105" descr="dbt for Mac, Windows, and Linux - WebCatalog">
            <a:extLst>
              <a:ext uri="{FF2B5EF4-FFF2-40B4-BE49-F238E27FC236}">
                <a16:creationId xmlns:a16="http://schemas.microsoft.com/office/drawing/2014/main" id="{E9BA1E78-4D58-0C2D-AF88-A99E70CC2F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4702" y="3057658"/>
            <a:ext cx="484632" cy="48463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881E650-E917-683C-ABA7-219586420B18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  <a:ln>
            <a:noFill/>
          </a:ln>
        </p:spPr>
        <p:txBody>
          <a:bodyPr>
            <a:normAutofit/>
          </a:bodyPr>
          <a:lstStyle/>
          <a:p>
            <a:r>
              <a:rPr lang="en-PH" sz="3600" dirty="0"/>
              <a:t>Your Facilitator</a:t>
            </a:r>
            <a:endParaRPr lang="en-US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A918F4-4D7E-D651-AB98-D51D41011F60}"/>
              </a:ext>
            </a:extLst>
          </p:cNvPr>
          <p:cNvSpPr>
            <a:spLocks noGrp="1"/>
          </p:cNvSpPr>
          <p:nvPr>
            <p:ph type="sldNum" idx="16"/>
          </p:nvPr>
        </p:nvSpPr>
        <p:spPr/>
        <p:txBody>
          <a:bodyPr wrap="square"/>
          <a:lstStyle/>
          <a:p>
            <a:r>
              <a:t>2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5C4F63-82D5-676C-4871-904C6D0B029D}"/>
              </a:ext>
            </a:extLst>
          </p:cNvPr>
          <p:cNvSpPr>
            <a:spLocks noGrp="1"/>
          </p:cNvSpPr>
          <p:nvPr>
            <p:ph type="ftr" idx="15"/>
          </p:nvPr>
        </p:nvSpPr>
        <p:spPr/>
        <p:txBody>
          <a:bodyPr/>
          <a:lstStyle/>
          <a:p>
            <a:r>
              <a:rPr lang="en-US"/>
              <a:t>©2026 3Cloud, Proprietary &amp; Confidential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822427-FC32-A75C-463A-5C1DD7C0F1AB}"/>
              </a:ext>
            </a:extLst>
          </p:cNvPr>
          <p:cNvSpPr/>
          <p:nvPr/>
        </p:nvSpPr>
        <p:spPr>
          <a:xfrm>
            <a:off x="0" y="5938787"/>
            <a:ext cx="3407343" cy="9192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E823A15-51E7-DBB9-E93A-FE769CAD8BD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7"/>
          <a:srcRect l="5614" r="11345"/>
          <a:stretch>
            <a:fillRect/>
          </a:stretch>
        </p:blipFill>
        <p:spPr>
          <a:xfrm>
            <a:off x="-1" y="2743200"/>
            <a:ext cx="3416969" cy="4114800"/>
          </a:xfrm>
          <a:prstGeom prst="rect">
            <a:avLst/>
          </a:prstGeom>
        </p:spPr>
      </p:pic>
      <p:sp>
        <p:nvSpPr>
          <p:cNvPr id="21" name="text">
            <a:extLst>
              <a:ext uri="{FF2B5EF4-FFF2-40B4-BE49-F238E27FC236}">
                <a16:creationId xmlns:a16="http://schemas.microsoft.com/office/drawing/2014/main" id="{BA8E81B6-C388-0BAF-08D1-6AEBA8B1CFF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416968" y="5938787"/>
            <a:ext cx="8378007" cy="48669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defPPr>
            <a:lvl1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1pPr>
            <a:lvl2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2pPr>
            <a:lvl3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3pPr>
            <a:lvl4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4pPr>
            <a:lvl5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5pPr>
            <a:lvl6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6pPr>
            <a:lvl7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7pPr>
            <a:lvl8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8pPr>
            <a:lvl9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pPr>
            <a:r>
              <a:rPr lang="en-PH" dirty="0"/>
              <a:t>      </a:t>
            </a:r>
            <a:r>
              <a:rPr sz="2400" b="1" dirty="0">
                <a:solidFill>
                  <a:srgbClr val="005185"/>
                </a:solidFill>
                <a:latin typeface="Calibri"/>
                <a:ea typeface="Calibri"/>
                <a:cs typeface="Calibri"/>
              </a:rPr>
              <a:t>Christian Alcari</a:t>
            </a:r>
            <a:r>
              <a:rPr lang="en-US" sz="2400" b="1" dirty="0">
                <a:solidFill>
                  <a:srgbClr val="005185"/>
                </a:solidFill>
                <a:latin typeface="Calibri"/>
                <a:ea typeface="Calibri"/>
                <a:cs typeface="Calibri"/>
              </a:rPr>
              <a:t>a</a:t>
            </a:r>
            <a:r>
              <a:rPr lang="en-US" b="0" dirty="0">
                <a:solidFill>
                  <a:schemeClr val="tx1"/>
                </a:solidFill>
              </a:rPr>
              <a:t>, 3Cloud </a:t>
            </a:r>
            <a:r>
              <a:rPr lang="en-US" sz="2400" b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Lead Consultant / Data Engineer</a:t>
            </a:r>
          </a:p>
          <a:p>
            <a: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pPr>
            <a:endParaRPr lang="en-US" sz="2400" b="0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24" name="Picture 23" descr="File:LinkedIn icon.svg - Wikimedia Commons">
            <a:hlinkClick r:id="rId8"/>
            <a:extLst>
              <a:ext uri="{FF2B5EF4-FFF2-40B4-BE49-F238E27FC236}">
                <a16:creationId xmlns:a16="http://schemas.microsoft.com/office/drawing/2014/main" id="{5E2B9F5E-B388-0979-957D-D2B76CB5168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33719" y="6044976"/>
            <a:ext cx="274320" cy="274320"/>
          </a:xfrm>
          <a:prstGeom prst="rect">
            <a:avLst/>
          </a:prstGeom>
        </p:spPr>
      </p:pic>
      <p:sp>
        <p:nvSpPr>
          <p:cNvPr id="31" name="text">
            <a:extLst>
              <a:ext uri="{FF2B5EF4-FFF2-40B4-BE49-F238E27FC236}">
                <a16:creationId xmlns:a16="http://schemas.microsoft.com/office/drawing/2014/main" id="{3947DA86-8208-9652-DBD6-F1EE317EDA4D}"/>
              </a:ext>
            </a:extLst>
          </p:cNvPr>
          <p:cNvSpPr>
            <a:spLocks noGrp="1"/>
          </p:cNvSpPr>
          <p:nvPr/>
        </p:nvSpPr>
        <p:spPr>
          <a:xfrm>
            <a:off x="3416968" y="1360432"/>
            <a:ext cx="2601583" cy="5781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defPPr>
            <a:lvl1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1pPr>
            <a:lvl2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2pPr>
            <a:lvl3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3pPr>
            <a:lvl4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4pPr>
            <a:lvl5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5pPr>
            <a:lvl6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6pPr>
            <a:lvl7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7pPr>
            <a:lvl8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8pPr>
            <a:lvl9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pPr>
            <a:r>
              <a:rPr lang="en-PH" sz="1200" b="1" dirty="0">
                <a:solidFill>
                  <a:srgbClr val="005185"/>
                </a:solidFill>
                <a:latin typeface="Calibri"/>
                <a:ea typeface="Calibri"/>
                <a:cs typeface="Calibri"/>
              </a:rPr>
              <a:t>Professional Profile</a:t>
            </a:r>
          </a:p>
          <a:p>
            <a: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pPr>
            <a:r>
              <a:rPr lang="en-PH" sz="1200" b="0" dirty="0"/>
              <a:t>Microsoft &amp; Data Platform Specialist</a:t>
            </a:r>
            <a:endParaRPr lang="en-US" sz="1200" b="0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4E3861EA-3C47-E36D-2F3C-67F2116D7A2F}"/>
              </a:ext>
            </a:extLst>
          </p:cNvPr>
          <p:cNvSpPr/>
          <p:nvPr/>
        </p:nvSpPr>
        <p:spPr>
          <a:xfrm>
            <a:off x="3416968" y="1905707"/>
            <a:ext cx="2601583" cy="578172"/>
          </a:xfrm>
          <a:prstGeom prst="roundRect">
            <a:avLst>
              <a:gd name="adj" fmla="val 9154"/>
            </a:avLst>
          </a:prstGeom>
          <a:solidFill>
            <a:schemeClr val="bg1">
              <a:lumMod val="9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4C14D18-E9F8-96F6-C469-53377AD17C21}"/>
              </a:ext>
            </a:extLst>
          </p:cNvPr>
          <p:cNvSpPr txBox="1"/>
          <p:nvPr/>
        </p:nvSpPr>
        <p:spPr>
          <a:xfrm>
            <a:off x="3484423" y="1960659"/>
            <a:ext cx="16675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1200" b="1" dirty="0"/>
              <a:t>7 Years</a:t>
            </a:r>
          </a:p>
          <a:p>
            <a:r>
              <a:rPr lang="en-PH" sz="1200" dirty="0"/>
              <a:t>Professional Experience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9EAE7F70-47D1-C9BE-5EB8-778F89F0610B}"/>
              </a:ext>
            </a:extLst>
          </p:cNvPr>
          <p:cNvSpPr/>
          <p:nvPr/>
        </p:nvSpPr>
        <p:spPr>
          <a:xfrm>
            <a:off x="3416968" y="2577889"/>
            <a:ext cx="2601583" cy="578172"/>
          </a:xfrm>
          <a:prstGeom prst="roundRect">
            <a:avLst>
              <a:gd name="adj" fmla="val 9154"/>
            </a:avLst>
          </a:prstGeom>
          <a:solidFill>
            <a:schemeClr val="bg1">
              <a:lumMod val="9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583EA6F-9937-2697-2E5E-4094A97ECBA6}"/>
              </a:ext>
            </a:extLst>
          </p:cNvPr>
          <p:cNvSpPr txBox="1"/>
          <p:nvPr/>
        </p:nvSpPr>
        <p:spPr>
          <a:xfrm>
            <a:off x="3484423" y="2632841"/>
            <a:ext cx="13619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1200" b="1" dirty="0"/>
              <a:t>9x</a:t>
            </a:r>
          </a:p>
          <a:p>
            <a:r>
              <a:rPr lang="en-PH" sz="1200" dirty="0"/>
              <a:t>Microsoft Certified</a:t>
            </a:r>
          </a:p>
        </p:txBody>
      </p:sp>
      <p:sp>
        <p:nvSpPr>
          <p:cNvPr id="40" name="text">
            <a:extLst>
              <a:ext uri="{FF2B5EF4-FFF2-40B4-BE49-F238E27FC236}">
                <a16:creationId xmlns:a16="http://schemas.microsoft.com/office/drawing/2014/main" id="{E6C295D4-56EC-D301-B049-8242BB2EC762}"/>
              </a:ext>
            </a:extLst>
          </p:cNvPr>
          <p:cNvSpPr>
            <a:spLocks noGrp="1"/>
          </p:cNvSpPr>
          <p:nvPr/>
        </p:nvSpPr>
        <p:spPr>
          <a:xfrm>
            <a:off x="3416968" y="3304716"/>
            <a:ext cx="2601583" cy="12578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defPPr>
            <a:lvl1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1pPr>
            <a:lvl2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2pPr>
            <a:lvl3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3pPr>
            <a:lvl4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4pPr>
            <a:lvl5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5pPr>
            <a:lvl6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6pPr>
            <a:lvl7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7pPr>
            <a:lvl8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8pPr>
            <a:lvl9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pPr>
            <a:r>
              <a:rPr lang="en-PH" sz="1200" b="0" dirty="0">
                <a:solidFill>
                  <a:schemeClr val="tx1"/>
                </a:solidFill>
              </a:rPr>
              <a:t>Practice Line Advisor</a:t>
            </a:r>
          </a:p>
          <a:p>
            <a:pPr marL="171450" indent="-171450">
              <a:buFont typeface="Arial" panose="020B0604020202020204" pitchFamily="34" charset="0"/>
              <a:buChar char="•"/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pPr>
            <a:r>
              <a:rPr lang="en-PH" sz="1200" b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Mic</a:t>
            </a:r>
            <a:r>
              <a:rPr lang="en-PH" sz="1200" b="0" dirty="0">
                <a:solidFill>
                  <a:schemeClr val="tx1"/>
                </a:solidFill>
              </a:rPr>
              <a:t>rosoft Partner</a:t>
            </a:r>
          </a:p>
          <a:p>
            <a:pPr marL="171450" indent="-171450">
              <a:buFont typeface="Arial" panose="020B0604020202020204" pitchFamily="34" charset="0"/>
              <a:buChar char="•"/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pPr>
            <a:r>
              <a:rPr lang="en-PH" sz="1200" b="0" dirty="0">
                <a:solidFill>
                  <a:schemeClr val="tx1"/>
                </a:solidFill>
              </a:rPr>
              <a:t>Microsoft MVP Aspirant</a:t>
            </a:r>
          </a:p>
          <a:p>
            <a: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pPr>
            <a:endParaRPr lang="en-PH" sz="1200" b="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pPr>
            <a:r>
              <a:rPr lang="en-PH" sz="1200" b="0" dirty="0">
                <a:solidFill>
                  <a:schemeClr val="tx1"/>
                </a:solidFill>
              </a:rPr>
              <a:t>Gumby Awardee</a:t>
            </a:r>
          </a:p>
          <a:p>
            <a:pPr marL="171450" indent="-171450">
              <a:buFont typeface="Arial" panose="020B0604020202020204" pitchFamily="34" charset="0"/>
              <a:buChar char="•"/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pPr>
            <a:r>
              <a:rPr lang="en-PH" sz="1200" b="0" dirty="0">
                <a:solidFill>
                  <a:schemeClr val="tx1"/>
                </a:solidFill>
              </a:rPr>
              <a:t>Data Community Champion</a:t>
            </a:r>
          </a:p>
        </p:txBody>
      </p:sp>
      <p:sp>
        <p:nvSpPr>
          <p:cNvPr id="42" name="text">
            <a:extLst>
              <a:ext uri="{FF2B5EF4-FFF2-40B4-BE49-F238E27FC236}">
                <a16:creationId xmlns:a16="http://schemas.microsoft.com/office/drawing/2014/main" id="{960F8875-B36B-B1A8-905F-8DD0F588F29C}"/>
              </a:ext>
            </a:extLst>
          </p:cNvPr>
          <p:cNvSpPr>
            <a:spLocks noGrp="1"/>
          </p:cNvSpPr>
          <p:nvPr/>
        </p:nvSpPr>
        <p:spPr>
          <a:xfrm>
            <a:off x="3416968" y="4731904"/>
            <a:ext cx="2601583" cy="3516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defPPr>
            <a:lvl1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1pPr>
            <a:lvl2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2pPr>
            <a:lvl3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3pPr>
            <a:lvl4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4pPr>
            <a:lvl5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5pPr>
            <a:lvl6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6pPr>
            <a:lvl7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7pPr>
            <a:lvl8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8pPr>
            <a:lvl9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pPr>
            <a:r>
              <a:rPr lang="en-PH" sz="1200" b="1" dirty="0">
                <a:solidFill>
                  <a:srgbClr val="005185"/>
                </a:solidFill>
                <a:latin typeface="Calibri"/>
                <a:ea typeface="Calibri"/>
                <a:cs typeface="Calibri"/>
              </a:rPr>
              <a:t>Certifications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BF1C49CC-98A8-CEC0-5EFB-E88B8D5C3A52}"/>
              </a:ext>
            </a:extLst>
          </p:cNvPr>
          <p:cNvSpPr/>
          <p:nvPr/>
        </p:nvSpPr>
        <p:spPr>
          <a:xfrm>
            <a:off x="3416970" y="5078437"/>
            <a:ext cx="870217" cy="324337"/>
          </a:xfrm>
          <a:prstGeom prst="roundRect">
            <a:avLst>
              <a:gd name="adj" fmla="val 50000"/>
            </a:avLst>
          </a:prstGeom>
          <a:solidFill>
            <a:schemeClr val="accent3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100" dirty="0">
                <a:solidFill>
                  <a:schemeClr val="tx1"/>
                </a:solidFill>
              </a:rPr>
              <a:t>Lean Agile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07A7627E-2C23-08E5-1942-4103F80563D8}"/>
              </a:ext>
            </a:extLst>
          </p:cNvPr>
          <p:cNvSpPr/>
          <p:nvPr/>
        </p:nvSpPr>
        <p:spPr>
          <a:xfrm>
            <a:off x="5103361" y="5078437"/>
            <a:ext cx="915190" cy="324337"/>
          </a:xfrm>
          <a:prstGeom prst="roundRect">
            <a:avLst>
              <a:gd name="adj" fmla="val 50000"/>
            </a:avLst>
          </a:prstGeom>
          <a:solidFill>
            <a:schemeClr val="accent3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100" dirty="0">
                <a:solidFill>
                  <a:schemeClr val="tx1"/>
                </a:solidFill>
              </a:rPr>
              <a:t>Microsoft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DD911397-546B-D924-13BB-92ADDE4453D7}"/>
              </a:ext>
            </a:extLst>
          </p:cNvPr>
          <p:cNvSpPr/>
          <p:nvPr/>
        </p:nvSpPr>
        <p:spPr>
          <a:xfrm>
            <a:off x="4340298" y="5078437"/>
            <a:ext cx="709951" cy="324337"/>
          </a:xfrm>
          <a:prstGeom prst="roundRect">
            <a:avLst>
              <a:gd name="adj" fmla="val 50000"/>
            </a:avLst>
          </a:prstGeom>
          <a:solidFill>
            <a:schemeClr val="accent3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100" dirty="0">
                <a:solidFill>
                  <a:schemeClr val="tx1"/>
                </a:solidFill>
              </a:rPr>
              <a:t>ITIL v4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62" name="text">
            <a:extLst>
              <a:ext uri="{FF2B5EF4-FFF2-40B4-BE49-F238E27FC236}">
                <a16:creationId xmlns:a16="http://schemas.microsoft.com/office/drawing/2014/main" id="{A8836E3D-45C9-5E57-6DA5-1024CBA18EF7}"/>
              </a:ext>
            </a:extLst>
          </p:cNvPr>
          <p:cNvSpPr>
            <a:spLocks noGrp="1"/>
          </p:cNvSpPr>
          <p:nvPr/>
        </p:nvSpPr>
        <p:spPr>
          <a:xfrm>
            <a:off x="6604703" y="1360433"/>
            <a:ext cx="2223914" cy="3978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defPPr>
            <a:lvl1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1pPr>
            <a:lvl2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2pPr>
            <a:lvl3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3pPr>
            <a:lvl4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4pPr>
            <a:lvl5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5pPr>
            <a:lvl6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6pPr>
            <a:lvl7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7pPr>
            <a:lvl8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8pPr>
            <a:lvl9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pPr>
            <a:r>
              <a:rPr lang="en-PH" sz="1200" b="1" dirty="0">
                <a:solidFill>
                  <a:srgbClr val="005185"/>
                </a:solidFill>
                <a:latin typeface="Calibri"/>
                <a:ea typeface="Calibri"/>
                <a:cs typeface="Calibri"/>
              </a:rPr>
              <a:t>Data &amp; Technology Expertise</a:t>
            </a:r>
          </a:p>
        </p:txBody>
      </p:sp>
      <p:sp>
        <p:nvSpPr>
          <p:cNvPr id="66" name="text">
            <a:extLst>
              <a:ext uri="{FF2B5EF4-FFF2-40B4-BE49-F238E27FC236}">
                <a16:creationId xmlns:a16="http://schemas.microsoft.com/office/drawing/2014/main" id="{97A9293F-38D9-FB16-1961-DB07AC1B1B57}"/>
              </a:ext>
            </a:extLst>
          </p:cNvPr>
          <p:cNvSpPr>
            <a:spLocks noGrp="1"/>
          </p:cNvSpPr>
          <p:nvPr/>
        </p:nvSpPr>
        <p:spPr>
          <a:xfrm>
            <a:off x="7209787" y="1843567"/>
            <a:ext cx="1302434" cy="3161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>
            <a:def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defPPr>
            <a:lvl1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1pPr>
            <a:lvl2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2pPr>
            <a:lvl3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3pPr>
            <a:lvl4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4pPr>
            <a:lvl5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5pPr>
            <a:lvl6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6pPr>
            <a:lvl7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7pPr>
            <a:lvl8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8pPr>
            <a:lvl9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pPr>
            <a:r>
              <a:rPr lang="en-PH" sz="1200" b="0" dirty="0">
                <a:solidFill>
                  <a:schemeClr val="tx1"/>
                </a:solidFill>
              </a:rPr>
              <a:t>Databricks</a:t>
            </a:r>
          </a:p>
        </p:txBody>
      </p:sp>
      <p:sp>
        <p:nvSpPr>
          <p:cNvPr id="70" name="text">
            <a:extLst>
              <a:ext uri="{FF2B5EF4-FFF2-40B4-BE49-F238E27FC236}">
                <a16:creationId xmlns:a16="http://schemas.microsoft.com/office/drawing/2014/main" id="{B321C973-86B4-7DCE-CBC5-8BB312265096}"/>
              </a:ext>
            </a:extLst>
          </p:cNvPr>
          <p:cNvSpPr>
            <a:spLocks noGrp="1"/>
          </p:cNvSpPr>
          <p:nvPr/>
        </p:nvSpPr>
        <p:spPr>
          <a:xfrm>
            <a:off x="7209787" y="2493251"/>
            <a:ext cx="1302434" cy="3161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>
            <a:def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defPPr>
            <a:lvl1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1pPr>
            <a:lvl2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2pPr>
            <a:lvl3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3pPr>
            <a:lvl4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4pPr>
            <a:lvl5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5pPr>
            <a:lvl6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6pPr>
            <a:lvl7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7pPr>
            <a:lvl8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8pPr>
            <a:lvl9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pPr>
            <a:r>
              <a:rPr lang="en-PH" sz="1200" b="0" dirty="0">
                <a:solidFill>
                  <a:schemeClr val="tx1"/>
                </a:solidFill>
              </a:rPr>
              <a:t>Azure Synapse</a:t>
            </a:r>
          </a:p>
        </p:txBody>
      </p:sp>
      <p:sp>
        <p:nvSpPr>
          <p:cNvPr id="74" name="text">
            <a:extLst>
              <a:ext uri="{FF2B5EF4-FFF2-40B4-BE49-F238E27FC236}">
                <a16:creationId xmlns:a16="http://schemas.microsoft.com/office/drawing/2014/main" id="{321F4F2C-AD36-F1B4-47A6-6FB0369BC1F6}"/>
              </a:ext>
            </a:extLst>
          </p:cNvPr>
          <p:cNvSpPr>
            <a:spLocks noGrp="1"/>
          </p:cNvSpPr>
          <p:nvPr/>
        </p:nvSpPr>
        <p:spPr>
          <a:xfrm>
            <a:off x="7209787" y="3142935"/>
            <a:ext cx="1302434" cy="3161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>
            <a:def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defPPr>
            <a:lvl1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1pPr>
            <a:lvl2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2pPr>
            <a:lvl3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3pPr>
            <a:lvl4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4pPr>
            <a:lvl5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5pPr>
            <a:lvl6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6pPr>
            <a:lvl7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7pPr>
            <a:lvl8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8pPr>
            <a:lvl9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pPr>
            <a:r>
              <a:rPr lang="en-PH" sz="1200" b="0" dirty="0" err="1">
                <a:solidFill>
                  <a:schemeClr val="tx1"/>
                </a:solidFill>
              </a:rPr>
              <a:t>dbt</a:t>
            </a:r>
            <a:endParaRPr lang="en-PH" sz="1200" b="0" dirty="0">
              <a:solidFill>
                <a:schemeClr val="tx1"/>
              </a:solidFill>
            </a:endParaRPr>
          </a:p>
        </p:txBody>
      </p:sp>
      <p:sp>
        <p:nvSpPr>
          <p:cNvPr id="78" name="text">
            <a:extLst>
              <a:ext uri="{FF2B5EF4-FFF2-40B4-BE49-F238E27FC236}">
                <a16:creationId xmlns:a16="http://schemas.microsoft.com/office/drawing/2014/main" id="{82A87B83-B433-CC6C-C2C3-5195FB1D97F0}"/>
              </a:ext>
            </a:extLst>
          </p:cNvPr>
          <p:cNvSpPr>
            <a:spLocks noGrp="1"/>
          </p:cNvSpPr>
          <p:nvPr/>
        </p:nvSpPr>
        <p:spPr>
          <a:xfrm>
            <a:off x="7209787" y="3792619"/>
            <a:ext cx="1302434" cy="3161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>
            <a:def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defPPr>
            <a:lvl1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1pPr>
            <a:lvl2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2pPr>
            <a:lvl3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3pPr>
            <a:lvl4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4pPr>
            <a:lvl5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5pPr>
            <a:lvl6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6pPr>
            <a:lvl7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7pPr>
            <a:lvl8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8pPr>
            <a:lvl9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pPr>
            <a:r>
              <a:rPr lang="en-PH" sz="1200" b="0" dirty="0">
                <a:solidFill>
                  <a:schemeClr val="tx1"/>
                </a:solidFill>
              </a:rPr>
              <a:t>Microsoft Fabric</a:t>
            </a:r>
          </a:p>
        </p:txBody>
      </p:sp>
      <p:sp>
        <p:nvSpPr>
          <p:cNvPr id="88" name="text">
            <a:extLst>
              <a:ext uri="{FF2B5EF4-FFF2-40B4-BE49-F238E27FC236}">
                <a16:creationId xmlns:a16="http://schemas.microsoft.com/office/drawing/2014/main" id="{AA175F2D-92BA-67C2-56FF-FAC60BF0398D}"/>
              </a:ext>
            </a:extLst>
          </p:cNvPr>
          <p:cNvSpPr>
            <a:spLocks noGrp="1"/>
          </p:cNvSpPr>
          <p:nvPr/>
        </p:nvSpPr>
        <p:spPr>
          <a:xfrm>
            <a:off x="7209787" y="4442303"/>
            <a:ext cx="1302434" cy="3161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>
            <a:def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defPPr>
            <a:lvl1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1pPr>
            <a:lvl2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2pPr>
            <a:lvl3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3pPr>
            <a:lvl4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4pPr>
            <a:lvl5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5pPr>
            <a:lvl6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6pPr>
            <a:lvl7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7pPr>
            <a:lvl8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8pPr>
            <a:lvl9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pPr>
            <a:r>
              <a:rPr lang="en-PH" sz="1200" b="0" dirty="0">
                <a:solidFill>
                  <a:schemeClr val="tx1"/>
                </a:solidFill>
              </a:rPr>
              <a:t>Snowflake</a:t>
            </a:r>
          </a:p>
        </p:txBody>
      </p:sp>
      <p:sp>
        <p:nvSpPr>
          <p:cNvPr id="92" name="text">
            <a:extLst>
              <a:ext uri="{FF2B5EF4-FFF2-40B4-BE49-F238E27FC236}">
                <a16:creationId xmlns:a16="http://schemas.microsoft.com/office/drawing/2014/main" id="{7140CE33-9F26-0563-27C6-98D249949375}"/>
              </a:ext>
            </a:extLst>
          </p:cNvPr>
          <p:cNvSpPr>
            <a:spLocks noGrp="1"/>
          </p:cNvSpPr>
          <p:nvPr/>
        </p:nvSpPr>
        <p:spPr>
          <a:xfrm>
            <a:off x="7209787" y="5091987"/>
            <a:ext cx="1618829" cy="3161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>
            <a:def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defPPr>
            <a:lvl1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1pPr>
            <a:lvl2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2pPr>
            <a:lvl3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3pPr>
            <a:lvl4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4pPr>
            <a:lvl5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5pPr>
            <a:lvl6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6pPr>
            <a:lvl7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7pPr>
            <a:lvl8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8pPr>
            <a:lvl9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pPr>
            <a:r>
              <a:rPr lang="en-PH" sz="1200" b="0" dirty="0">
                <a:solidFill>
                  <a:schemeClr val="tx1"/>
                </a:solidFill>
              </a:rPr>
              <a:t>Alteryx Development</a:t>
            </a:r>
          </a:p>
        </p:txBody>
      </p:sp>
      <p:sp>
        <p:nvSpPr>
          <p:cNvPr id="94" name="text">
            <a:extLst>
              <a:ext uri="{FF2B5EF4-FFF2-40B4-BE49-F238E27FC236}">
                <a16:creationId xmlns:a16="http://schemas.microsoft.com/office/drawing/2014/main" id="{FD96A670-52B3-F8D8-2FE9-3457863B0BD1}"/>
              </a:ext>
            </a:extLst>
          </p:cNvPr>
          <p:cNvSpPr>
            <a:spLocks noGrp="1"/>
          </p:cNvSpPr>
          <p:nvPr/>
        </p:nvSpPr>
        <p:spPr>
          <a:xfrm>
            <a:off x="9213495" y="1360431"/>
            <a:ext cx="2601583" cy="3516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defPPr>
            <a:lvl1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1pPr>
            <a:lvl2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2pPr>
            <a:lvl3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3pPr>
            <a:lvl4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4pPr>
            <a:lvl5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5pPr>
            <a:lvl6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6pPr>
            <a:lvl7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7pPr>
            <a:lvl8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8pPr>
            <a:lvl9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pPr>
            <a:r>
              <a:rPr lang="en-PH" sz="1200" b="1" dirty="0">
                <a:solidFill>
                  <a:srgbClr val="005185"/>
                </a:solidFill>
                <a:latin typeface="Calibri"/>
                <a:ea typeface="Calibri"/>
                <a:cs typeface="Calibri"/>
              </a:rPr>
              <a:t>Industry Expertise</a:t>
            </a:r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633A4CC4-2AD4-AFDB-A99B-C1D5AACE099C}"/>
              </a:ext>
            </a:extLst>
          </p:cNvPr>
          <p:cNvSpPr/>
          <p:nvPr/>
        </p:nvSpPr>
        <p:spPr>
          <a:xfrm>
            <a:off x="9213498" y="1706964"/>
            <a:ext cx="547928" cy="324337"/>
          </a:xfrm>
          <a:prstGeom prst="roundRect">
            <a:avLst>
              <a:gd name="adj" fmla="val 50000"/>
            </a:avLst>
          </a:prstGeom>
          <a:solidFill>
            <a:schemeClr val="accent3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100" dirty="0">
                <a:solidFill>
                  <a:schemeClr val="tx1"/>
                </a:solidFill>
              </a:rPr>
              <a:t>BPO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98" name="Rectangle: Rounded Corners 97">
            <a:extLst>
              <a:ext uri="{FF2B5EF4-FFF2-40B4-BE49-F238E27FC236}">
                <a16:creationId xmlns:a16="http://schemas.microsoft.com/office/drawing/2014/main" id="{0CC4B5B0-D911-1986-4A26-C41929B3833D}"/>
              </a:ext>
            </a:extLst>
          </p:cNvPr>
          <p:cNvSpPr/>
          <p:nvPr/>
        </p:nvSpPr>
        <p:spPr>
          <a:xfrm>
            <a:off x="10899888" y="1706964"/>
            <a:ext cx="915190" cy="324337"/>
          </a:xfrm>
          <a:prstGeom prst="roundRect">
            <a:avLst>
              <a:gd name="adj" fmla="val 50000"/>
            </a:avLst>
          </a:prstGeom>
          <a:solidFill>
            <a:schemeClr val="accent3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100" dirty="0">
                <a:solidFill>
                  <a:schemeClr val="tx1"/>
                </a:solidFill>
              </a:rPr>
              <a:t>Healthcare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6B9905E0-42D5-A391-9B84-25193A5D206D}"/>
              </a:ext>
            </a:extLst>
          </p:cNvPr>
          <p:cNvSpPr/>
          <p:nvPr/>
        </p:nvSpPr>
        <p:spPr>
          <a:xfrm>
            <a:off x="9826160" y="1706964"/>
            <a:ext cx="1008995" cy="324337"/>
          </a:xfrm>
          <a:prstGeom prst="roundRect">
            <a:avLst>
              <a:gd name="adj" fmla="val 50000"/>
            </a:avLst>
          </a:prstGeom>
          <a:solidFill>
            <a:schemeClr val="accent3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100" dirty="0">
                <a:solidFill>
                  <a:schemeClr val="tx1"/>
                </a:solidFill>
              </a:rPr>
              <a:t>Automotive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756F5865-3915-845C-9229-AFB6CB2557A2}"/>
              </a:ext>
            </a:extLst>
          </p:cNvPr>
          <p:cNvSpPr/>
          <p:nvPr/>
        </p:nvSpPr>
        <p:spPr>
          <a:xfrm>
            <a:off x="9213498" y="2099528"/>
            <a:ext cx="1008994" cy="324337"/>
          </a:xfrm>
          <a:prstGeom prst="roundRect">
            <a:avLst>
              <a:gd name="adj" fmla="val 50000"/>
            </a:avLst>
          </a:prstGeom>
          <a:solidFill>
            <a:schemeClr val="accent3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100" dirty="0">
                <a:solidFill>
                  <a:schemeClr val="tx1"/>
                </a:solidFill>
              </a:rPr>
              <a:t>E-commerce</a:t>
            </a:r>
            <a:endParaRPr lang="en-US" sz="1100" dirty="0">
              <a:solidFill>
                <a:schemeClr val="tx1"/>
              </a:solidFill>
            </a:endParaRPr>
          </a:p>
        </p:txBody>
      </p:sp>
      <p:pic>
        <p:nvPicPr>
          <p:cNvPr id="112" name="Graphic 111" descr="Microsoft Fabric | Logopedia | Fandom">
            <a:extLst>
              <a:ext uri="{FF2B5EF4-FFF2-40B4-BE49-F238E27FC236}">
                <a16:creationId xmlns:a16="http://schemas.microsoft.com/office/drawing/2014/main" id="{4EFE0D45-32A8-F26D-218D-44F5003D15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86998" y="3789638"/>
            <a:ext cx="320040" cy="32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1100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642BC-43B1-EC07-F5A1-17FF4548E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No description available.">
            <a:extLst>
              <a:ext uri="{FF2B5EF4-FFF2-40B4-BE49-F238E27FC236}">
                <a16:creationId xmlns:a16="http://schemas.microsoft.com/office/drawing/2014/main" id="{133B24B0-34A7-1ADF-10B1-BA74DB487B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7213" y="975836"/>
            <a:ext cx="4411624" cy="588216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460D21-6ABF-9A9C-C202-10A52FACA320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  <a:ln>
            <a:noFill/>
          </a:ln>
        </p:spPr>
        <p:txBody>
          <a:bodyPr>
            <a:normAutofit/>
          </a:bodyPr>
          <a:lstStyle/>
          <a:p>
            <a:r>
              <a:rPr lang="en-PH" sz="3600" dirty="0"/>
              <a:t>Your Facilitator – Outside of Work</a:t>
            </a:r>
            <a:endParaRPr lang="en-US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577DD8-A046-B5D5-1261-15F48CA8A126}"/>
              </a:ext>
            </a:extLst>
          </p:cNvPr>
          <p:cNvSpPr>
            <a:spLocks noGrp="1"/>
          </p:cNvSpPr>
          <p:nvPr>
            <p:ph type="sldNum" idx="16"/>
          </p:nvPr>
        </p:nvSpPr>
        <p:spPr/>
        <p:txBody>
          <a:bodyPr wrap="square"/>
          <a:lstStyle/>
          <a:p>
            <a:r>
              <a:t>3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C0363B-D994-54E1-62CE-700C7BF2DF3B}"/>
              </a:ext>
            </a:extLst>
          </p:cNvPr>
          <p:cNvSpPr>
            <a:spLocks noGrp="1"/>
          </p:cNvSpPr>
          <p:nvPr>
            <p:ph type="ftr" idx="15"/>
          </p:nvPr>
        </p:nvSpPr>
        <p:spPr/>
        <p:txBody>
          <a:bodyPr/>
          <a:lstStyle/>
          <a:p>
            <a:r>
              <a:rPr lang="en-US" dirty="0"/>
              <a:t>©2026 3Cloud, Proprietary &amp; Confidential 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7774D17E-0C2A-EB5B-0638-DAF33A303189}"/>
              </a:ext>
            </a:extLst>
          </p:cNvPr>
          <p:cNvSpPr/>
          <p:nvPr/>
        </p:nvSpPr>
        <p:spPr>
          <a:xfrm>
            <a:off x="633913" y="1462203"/>
            <a:ext cx="9068353" cy="6991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defPPr>
            <a:lvl1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1pPr>
            <a:lvl2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2pPr>
            <a:lvl3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3pPr>
            <a:lvl4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4pPr>
            <a:lvl5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5pPr>
            <a:lvl6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6pPr>
            <a:lvl7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7pPr>
            <a:lvl8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8pPr>
            <a:lvl9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pPr>
            <a:r>
              <a:rPr sz="4000" b="1" dirty="0">
                <a:solidFill>
                  <a:srgbClr val="005185"/>
                </a:solidFill>
                <a:latin typeface="Calibri"/>
                <a:ea typeface="Calibri"/>
                <a:cs typeface="Calibri"/>
              </a:rPr>
              <a:t>Christian Alcari</a:t>
            </a:r>
            <a:r>
              <a:rPr lang="en-US" sz="4000" b="1" dirty="0">
                <a:solidFill>
                  <a:srgbClr val="005185"/>
                </a:solidFill>
                <a:latin typeface="Calibri"/>
                <a:ea typeface="Calibri"/>
                <a:cs typeface="Calibri"/>
              </a:rPr>
              <a:t>a </a:t>
            </a:r>
            <a:endParaRPr lang="en-US" sz="4000" b="0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FE8B3FC-19DF-D8BF-B681-F00BF228A88B}"/>
              </a:ext>
            </a:extLst>
          </p:cNvPr>
          <p:cNvSpPr/>
          <p:nvPr/>
        </p:nvSpPr>
        <p:spPr>
          <a:xfrm>
            <a:off x="633913" y="2631031"/>
            <a:ext cx="2132560" cy="52411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400" b="1" dirty="0">
                <a:solidFill>
                  <a:schemeClr val="tx1"/>
                </a:solidFill>
              </a:rPr>
              <a:t>Data Enthusiast 📊📉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6DB8B5B-D4AD-91CE-A9E8-E65D99A97AC8}"/>
              </a:ext>
            </a:extLst>
          </p:cNvPr>
          <p:cNvSpPr/>
          <p:nvPr/>
        </p:nvSpPr>
        <p:spPr>
          <a:xfrm>
            <a:off x="633913" y="3396895"/>
            <a:ext cx="2309258" cy="52411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400" b="1" dirty="0">
                <a:solidFill>
                  <a:schemeClr val="tx1"/>
                </a:solidFill>
              </a:rPr>
              <a:t>PC / Console Gamer 🎮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61E1B318-BA6D-1B7E-0C65-8E2E1C5AE3BE}"/>
              </a:ext>
            </a:extLst>
          </p:cNvPr>
          <p:cNvSpPr/>
          <p:nvPr/>
        </p:nvSpPr>
        <p:spPr>
          <a:xfrm>
            <a:off x="2943170" y="2631031"/>
            <a:ext cx="2623449" cy="52411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400" b="1" dirty="0">
                <a:solidFill>
                  <a:schemeClr val="tx1"/>
                </a:solidFill>
              </a:rPr>
              <a:t>Car / </a:t>
            </a:r>
            <a:r>
              <a:rPr lang="en-PH" sz="1400" b="1" dirty="0" err="1">
                <a:solidFill>
                  <a:schemeClr val="tx1"/>
                </a:solidFill>
              </a:rPr>
              <a:t>DieCast</a:t>
            </a:r>
            <a:r>
              <a:rPr lang="en-PH" sz="1400" b="1" dirty="0">
                <a:solidFill>
                  <a:schemeClr val="tx1"/>
                </a:solidFill>
              </a:rPr>
              <a:t> Enthusiast 🚗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5ADEFCB-85CA-5F97-0275-21F4B799F6E7}"/>
              </a:ext>
            </a:extLst>
          </p:cNvPr>
          <p:cNvSpPr/>
          <p:nvPr/>
        </p:nvSpPr>
        <p:spPr>
          <a:xfrm>
            <a:off x="5743316" y="2631031"/>
            <a:ext cx="1883211" cy="52411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400" b="1" dirty="0">
                <a:solidFill>
                  <a:schemeClr val="tx1"/>
                </a:solidFill>
              </a:rPr>
              <a:t>TCG Hobbyist 🎴🏴‍☠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B788A2C4-3E67-674E-2671-63C9C10F12E2}"/>
              </a:ext>
            </a:extLst>
          </p:cNvPr>
          <p:cNvSpPr/>
          <p:nvPr/>
        </p:nvSpPr>
        <p:spPr>
          <a:xfrm>
            <a:off x="3117130" y="3396895"/>
            <a:ext cx="1859938" cy="52411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400" b="1" dirty="0">
                <a:solidFill>
                  <a:schemeClr val="tx1"/>
                </a:solidFill>
              </a:rPr>
              <a:t>Mountaineer ⛰️🧗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22D624C9-5143-CE25-DEDC-0F0C9B45C101}"/>
              </a:ext>
            </a:extLst>
          </p:cNvPr>
          <p:cNvSpPr/>
          <p:nvPr/>
        </p:nvSpPr>
        <p:spPr>
          <a:xfrm>
            <a:off x="633912" y="4162759"/>
            <a:ext cx="2795087" cy="52411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400" b="1" dirty="0">
                <a:solidFill>
                  <a:schemeClr val="tx1"/>
                </a:solidFill>
              </a:rPr>
              <a:t>Weekend Warrior Athlete 🏃🥇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527230BF-F0E9-B3C3-5FFA-771CEBAB6B64}"/>
              </a:ext>
            </a:extLst>
          </p:cNvPr>
          <p:cNvSpPr/>
          <p:nvPr/>
        </p:nvSpPr>
        <p:spPr>
          <a:xfrm>
            <a:off x="3588152" y="4162759"/>
            <a:ext cx="2170947" cy="52411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400" b="1" dirty="0">
                <a:solidFill>
                  <a:schemeClr val="tx1"/>
                </a:solidFill>
              </a:rPr>
              <a:t>World Wanderer 🌍✈️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88AA2378-C838-A5FB-D539-4EE0BD9501F3}"/>
              </a:ext>
            </a:extLst>
          </p:cNvPr>
          <p:cNvSpPr/>
          <p:nvPr/>
        </p:nvSpPr>
        <p:spPr>
          <a:xfrm>
            <a:off x="633913" y="4928623"/>
            <a:ext cx="2672756" cy="52411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400" b="1" dirty="0">
                <a:solidFill>
                  <a:schemeClr val="tx1"/>
                </a:solidFill>
              </a:rPr>
              <a:t>Disney Castle Chaser </a:t>
            </a:r>
            <a:r>
              <a:rPr lang="en-PH" sz="1400" b="1" dirty="0"/>
              <a:t>🏰✨</a:t>
            </a:r>
            <a:endParaRPr lang="en-US" sz="1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03575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4CC85-3E1B-4F44-A6C1-1FD7688E6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9B621-4AB7-0FDF-4F8C-E5991400169E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  <a:ln>
            <a:noFill/>
          </a:ln>
        </p:spPr>
        <p:txBody>
          <a:bodyPr>
            <a:normAutofit/>
          </a:bodyPr>
          <a:lstStyle/>
          <a:p>
            <a:r>
              <a:rPr lang="en-PH" sz="3600" dirty="0"/>
              <a:t>About 3Cloud – A Cognizant Company</a:t>
            </a:r>
            <a:endParaRPr lang="en-US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CE26D6-C564-3C00-978B-7F8EE9E24C9E}"/>
              </a:ext>
            </a:extLst>
          </p:cNvPr>
          <p:cNvSpPr>
            <a:spLocks noGrp="1"/>
          </p:cNvSpPr>
          <p:nvPr>
            <p:ph type="sldNum" idx="16"/>
          </p:nvPr>
        </p:nvSpPr>
        <p:spPr/>
        <p:txBody>
          <a:bodyPr wrap="square"/>
          <a:lstStyle/>
          <a:p>
            <a:r>
              <a:t>4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250EA2-B3F8-9A18-8163-901021BA223C}"/>
              </a:ext>
            </a:extLst>
          </p:cNvPr>
          <p:cNvSpPr>
            <a:spLocks noGrp="1"/>
          </p:cNvSpPr>
          <p:nvPr>
            <p:ph type="ftr" idx="15"/>
          </p:nvPr>
        </p:nvSpPr>
        <p:spPr/>
        <p:txBody>
          <a:bodyPr/>
          <a:lstStyle/>
          <a:p>
            <a:r>
              <a:rPr lang="en-US" dirty="0"/>
              <a:t>©2026 3Cloud, Proprietary &amp; Confidential 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62C66CC-E8C3-C30C-E97F-00106994D612}"/>
              </a:ext>
            </a:extLst>
          </p:cNvPr>
          <p:cNvSpPr/>
          <p:nvPr/>
        </p:nvSpPr>
        <p:spPr>
          <a:xfrm>
            <a:off x="740409" y="3290510"/>
            <a:ext cx="274320" cy="27432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E0BB177-AC82-545A-E2DB-432B54EA0E23}"/>
              </a:ext>
            </a:extLst>
          </p:cNvPr>
          <p:cNvCxnSpPr>
            <a:cxnSpLocks/>
          </p:cNvCxnSpPr>
          <p:nvPr/>
        </p:nvCxnSpPr>
        <p:spPr>
          <a:xfrm>
            <a:off x="0" y="3429000"/>
            <a:ext cx="12192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464EBB1C-C56E-1650-F0BF-E5FF6D777BF0}"/>
              </a:ext>
            </a:extLst>
          </p:cNvPr>
          <p:cNvSpPr/>
          <p:nvPr/>
        </p:nvSpPr>
        <p:spPr>
          <a:xfrm>
            <a:off x="2827781" y="3290510"/>
            <a:ext cx="274320" cy="27432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9DA7593-0318-0AE4-C449-BF82C71E382C}"/>
              </a:ext>
            </a:extLst>
          </p:cNvPr>
          <p:cNvSpPr/>
          <p:nvPr/>
        </p:nvSpPr>
        <p:spPr>
          <a:xfrm>
            <a:off x="4915153" y="3290510"/>
            <a:ext cx="274320" cy="27432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2928A03-CA94-88A0-EC38-037A8BE8BC77}"/>
              </a:ext>
            </a:extLst>
          </p:cNvPr>
          <p:cNvSpPr/>
          <p:nvPr/>
        </p:nvSpPr>
        <p:spPr>
          <a:xfrm>
            <a:off x="7002525" y="3290510"/>
            <a:ext cx="274320" cy="27432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5AE047F-2787-03E7-EFBB-38B6491AD6B0}"/>
              </a:ext>
            </a:extLst>
          </p:cNvPr>
          <p:cNvSpPr/>
          <p:nvPr/>
        </p:nvSpPr>
        <p:spPr>
          <a:xfrm>
            <a:off x="9089897" y="3290510"/>
            <a:ext cx="274320" cy="27432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3BD8264-78DB-1963-15FC-06E01E62110E}"/>
              </a:ext>
            </a:extLst>
          </p:cNvPr>
          <p:cNvSpPr/>
          <p:nvPr/>
        </p:nvSpPr>
        <p:spPr>
          <a:xfrm>
            <a:off x="11177271" y="3290510"/>
            <a:ext cx="274320" cy="27432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3282F01B-8CA1-D7EE-6AA5-880364D63F52}"/>
              </a:ext>
            </a:extLst>
          </p:cNvPr>
          <p:cNvGrpSpPr/>
          <p:nvPr/>
        </p:nvGrpSpPr>
        <p:grpSpPr>
          <a:xfrm>
            <a:off x="100490" y="3635247"/>
            <a:ext cx="1554159" cy="1892998"/>
            <a:chOff x="100490" y="3635247"/>
            <a:chExt cx="1554159" cy="1892998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7CC131D5-7431-7FA5-1F6A-41B8625B1EA4}"/>
                </a:ext>
              </a:extLst>
            </p:cNvPr>
            <p:cNvSpPr/>
            <p:nvPr/>
          </p:nvSpPr>
          <p:spPr>
            <a:xfrm>
              <a:off x="564692" y="3635247"/>
              <a:ext cx="625754" cy="324337"/>
            </a:xfrm>
            <a:prstGeom prst="roundRect">
              <a:avLst>
                <a:gd name="adj" fmla="val 50000"/>
              </a:avLst>
            </a:prstGeom>
            <a:solidFill>
              <a:schemeClr val="accent3">
                <a:lumMod val="20000"/>
                <a:lumOff val="80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PH" sz="1100" dirty="0">
                  <a:solidFill>
                    <a:schemeClr val="tx1"/>
                  </a:solidFill>
                </a:rPr>
                <a:t>2020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695A90D2-04AC-CDF3-019B-05D039221858}"/>
                </a:ext>
              </a:extLst>
            </p:cNvPr>
            <p:cNvSpPr/>
            <p:nvPr/>
          </p:nvSpPr>
          <p:spPr>
            <a:xfrm>
              <a:off x="100490" y="3959584"/>
              <a:ext cx="1554159" cy="1568661"/>
            </a:xfrm>
            <a:prstGeom prst="roundRect">
              <a:avLst>
                <a:gd name="adj" fmla="val 4296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PH" sz="1000" b="1" dirty="0">
                <a:solidFill>
                  <a:schemeClr val="tx1"/>
                </a:solidFill>
              </a:endParaRPr>
            </a:p>
            <a:p>
              <a:pPr algn="ctr"/>
              <a:r>
                <a:rPr lang="en-PH" sz="1000" b="1" dirty="0">
                  <a:solidFill>
                    <a:schemeClr val="tx1"/>
                  </a:solidFill>
                </a:rPr>
                <a:t>Microsoft US Azure</a:t>
              </a:r>
            </a:p>
            <a:p>
              <a:pPr algn="ctr"/>
              <a:r>
                <a:rPr lang="en-PH" sz="1000" b="1" dirty="0">
                  <a:solidFill>
                    <a:schemeClr val="tx1"/>
                  </a:solidFill>
                </a:rPr>
                <a:t>Influencer Partner Award</a:t>
              </a:r>
            </a:p>
            <a:p>
              <a:pPr algn="ctr"/>
              <a:r>
                <a:rPr lang="en-PH" sz="1000" i="1" dirty="0">
                  <a:solidFill>
                    <a:schemeClr val="tx1"/>
                  </a:solidFill>
                </a:rPr>
                <a:t>Helping customers adopt and succeed with Azure. Pragmatic Works, acquired by 3Cloud that year, also won the US Power BI Partner Award.</a:t>
              </a:r>
            </a:p>
            <a:p>
              <a:pPr algn="ctr"/>
              <a:r>
                <a:rPr lang="en-PH" sz="1000" i="1" dirty="0">
                  <a:hlinkClick r:id="rId2"/>
                </a:rPr>
                <a:t>Learn more</a:t>
              </a:r>
              <a:endParaRPr lang="en-PH" sz="1000" i="1" dirty="0"/>
            </a:p>
            <a:p>
              <a:pPr algn="ctr"/>
              <a:endParaRPr lang="en-PH" sz="10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561FC6D7-AF0F-1E72-0448-7340EE0699CA}"/>
              </a:ext>
            </a:extLst>
          </p:cNvPr>
          <p:cNvGrpSpPr/>
          <p:nvPr/>
        </p:nvGrpSpPr>
        <p:grpSpPr>
          <a:xfrm>
            <a:off x="2174823" y="1326453"/>
            <a:ext cx="1554159" cy="1899754"/>
            <a:chOff x="2174823" y="1326453"/>
            <a:chExt cx="1554159" cy="1899754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DF020579-C8D4-6670-6D94-9E3BF8AD1926}"/>
                </a:ext>
              </a:extLst>
            </p:cNvPr>
            <p:cNvSpPr/>
            <p:nvPr/>
          </p:nvSpPr>
          <p:spPr>
            <a:xfrm>
              <a:off x="2652064" y="2901870"/>
              <a:ext cx="625754" cy="324337"/>
            </a:xfrm>
            <a:prstGeom prst="roundRect">
              <a:avLst>
                <a:gd name="adj" fmla="val 50000"/>
              </a:avLst>
            </a:prstGeom>
            <a:solidFill>
              <a:schemeClr val="accent3">
                <a:lumMod val="20000"/>
                <a:lumOff val="80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PH" sz="1100" dirty="0">
                  <a:solidFill>
                    <a:schemeClr val="tx1"/>
                  </a:solidFill>
                </a:rPr>
                <a:t>2021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B5285718-C168-4313-BBE9-40ABEEC5BF78}"/>
                </a:ext>
              </a:extLst>
            </p:cNvPr>
            <p:cNvSpPr/>
            <p:nvPr/>
          </p:nvSpPr>
          <p:spPr>
            <a:xfrm>
              <a:off x="2174823" y="1326453"/>
              <a:ext cx="1554159" cy="1568661"/>
            </a:xfrm>
            <a:prstGeom prst="roundRect">
              <a:avLst>
                <a:gd name="adj" fmla="val 4296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PH" sz="1000" b="1" dirty="0">
                <a:solidFill>
                  <a:schemeClr val="tx1"/>
                </a:solidFill>
              </a:endParaRPr>
            </a:p>
            <a:p>
              <a:pPr algn="ctr"/>
              <a:r>
                <a:rPr lang="en-US" sz="1000" b="1" dirty="0">
                  <a:solidFill>
                    <a:schemeClr val="tx1"/>
                  </a:solidFill>
                </a:rPr>
                <a:t>Microsoft US Power BI Partner and Azure Influencer awards</a:t>
              </a:r>
            </a:p>
            <a:p>
              <a:pPr algn="ctr"/>
              <a:r>
                <a:rPr lang="en-US" sz="1000" i="1" dirty="0">
                  <a:solidFill>
                    <a:schemeClr val="tx1"/>
                  </a:solidFill>
                </a:rPr>
                <a:t>Expertise in business intelligence and Azure adoption, as listed on 3Cloud’s awards page. </a:t>
              </a:r>
              <a:r>
                <a:rPr lang="en-PH" sz="1000" i="1" dirty="0">
                  <a:hlinkClick r:id="rId3"/>
                </a:rPr>
                <a:t>Learn more</a:t>
              </a:r>
              <a:endParaRPr lang="en-PH" sz="1000" i="1" dirty="0"/>
            </a:p>
            <a:p>
              <a:pPr algn="ctr"/>
              <a:endParaRPr lang="en-PH" sz="10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42E6CA72-F749-E323-C336-1258407496B6}"/>
              </a:ext>
            </a:extLst>
          </p:cNvPr>
          <p:cNvGrpSpPr/>
          <p:nvPr/>
        </p:nvGrpSpPr>
        <p:grpSpPr>
          <a:xfrm>
            <a:off x="4275233" y="3635247"/>
            <a:ext cx="1554159" cy="2333753"/>
            <a:chOff x="100490" y="3635247"/>
            <a:chExt cx="1554159" cy="2333753"/>
          </a:xfrm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346D76B8-8DD7-DD10-BB72-C44186E5DA58}"/>
                </a:ext>
              </a:extLst>
            </p:cNvPr>
            <p:cNvSpPr/>
            <p:nvPr/>
          </p:nvSpPr>
          <p:spPr>
            <a:xfrm>
              <a:off x="564692" y="3635247"/>
              <a:ext cx="625754" cy="324337"/>
            </a:xfrm>
            <a:prstGeom prst="roundRect">
              <a:avLst>
                <a:gd name="adj" fmla="val 50000"/>
              </a:avLst>
            </a:prstGeom>
            <a:solidFill>
              <a:schemeClr val="accent3">
                <a:lumMod val="20000"/>
                <a:lumOff val="80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PH" sz="1100" dirty="0">
                  <a:solidFill>
                    <a:schemeClr val="tx1"/>
                  </a:solidFill>
                </a:rPr>
                <a:t>2022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272DFE49-7FA1-F5EB-7A3A-E71DF9B1E6CF}"/>
                </a:ext>
              </a:extLst>
            </p:cNvPr>
            <p:cNvSpPr/>
            <p:nvPr/>
          </p:nvSpPr>
          <p:spPr>
            <a:xfrm>
              <a:off x="100490" y="3959584"/>
              <a:ext cx="1554159" cy="2009416"/>
            </a:xfrm>
            <a:prstGeom prst="roundRect">
              <a:avLst>
                <a:gd name="adj" fmla="val 4296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PH" sz="1000" b="1" dirty="0">
                <a:solidFill>
                  <a:schemeClr val="tx1"/>
                </a:solidFill>
              </a:endParaRPr>
            </a:p>
            <a:p>
              <a:pPr algn="ctr"/>
              <a:r>
                <a:rPr lang="en-US" sz="1000" b="1" dirty="0">
                  <a:solidFill>
                    <a:schemeClr val="tx1"/>
                  </a:solidFill>
                </a:rPr>
                <a:t>Microsoft Worldwide Migration to Azure and Solution Assessments awards; US Solution Assessments and Modernizing Applications awards</a:t>
              </a:r>
            </a:p>
            <a:p>
              <a:pPr algn="ctr"/>
              <a:r>
                <a:rPr lang="en-US" sz="1000" i="1" dirty="0">
                  <a:solidFill>
                    <a:schemeClr val="tx1"/>
                  </a:solidFill>
                </a:rPr>
                <a:t>Helping organizations assess, migrate, and modernize their technology.</a:t>
              </a:r>
            </a:p>
            <a:p>
              <a:pPr algn="ctr"/>
              <a:r>
                <a:rPr lang="en-PH" sz="1000" i="1" dirty="0">
                  <a:hlinkClick r:id="rId4"/>
                </a:rPr>
                <a:t>Learn more</a:t>
              </a:r>
              <a:endParaRPr lang="en-PH" sz="1000" i="1" dirty="0"/>
            </a:p>
            <a:p>
              <a:pPr algn="ctr"/>
              <a:endParaRPr lang="en-PH" sz="10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6291BD24-8730-BA87-08A7-4E79568FF631}"/>
              </a:ext>
            </a:extLst>
          </p:cNvPr>
          <p:cNvGrpSpPr/>
          <p:nvPr/>
        </p:nvGrpSpPr>
        <p:grpSpPr>
          <a:xfrm>
            <a:off x="8449977" y="3635247"/>
            <a:ext cx="1554159" cy="1749553"/>
            <a:chOff x="100490" y="3635247"/>
            <a:chExt cx="1554159" cy="1749553"/>
          </a:xfrm>
        </p:grpSpPr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8A119D28-8754-A17D-C4C1-66D55622C3BF}"/>
                </a:ext>
              </a:extLst>
            </p:cNvPr>
            <p:cNvSpPr/>
            <p:nvPr/>
          </p:nvSpPr>
          <p:spPr>
            <a:xfrm>
              <a:off x="564692" y="3635247"/>
              <a:ext cx="625754" cy="324337"/>
            </a:xfrm>
            <a:prstGeom prst="roundRect">
              <a:avLst>
                <a:gd name="adj" fmla="val 50000"/>
              </a:avLst>
            </a:prstGeom>
            <a:solidFill>
              <a:schemeClr val="accent3">
                <a:lumMod val="20000"/>
                <a:lumOff val="80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PH" sz="1100" dirty="0">
                  <a:solidFill>
                    <a:schemeClr val="tx1"/>
                  </a:solidFill>
                </a:rPr>
                <a:t>2024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58816742-2776-758B-588B-85C6EFB8C010}"/>
                </a:ext>
              </a:extLst>
            </p:cNvPr>
            <p:cNvSpPr/>
            <p:nvPr/>
          </p:nvSpPr>
          <p:spPr>
            <a:xfrm>
              <a:off x="100490" y="3959583"/>
              <a:ext cx="1554159" cy="1425217"/>
            </a:xfrm>
            <a:prstGeom prst="roundRect">
              <a:avLst>
                <a:gd name="adj" fmla="val 4296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PH" sz="1000" b="1" dirty="0">
                <a:solidFill>
                  <a:schemeClr val="tx1"/>
                </a:solidFill>
              </a:endParaRPr>
            </a:p>
            <a:p>
              <a:pPr algn="ctr"/>
              <a:r>
                <a:rPr lang="en-US" sz="1000" b="1" dirty="0">
                  <a:solidFill>
                    <a:schemeClr val="tx1"/>
                  </a:solidFill>
                </a:rPr>
                <a:t>Microsoft Americas Partner of the Year — Data &amp; AI; Health &amp; Life Sciences</a:t>
              </a:r>
            </a:p>
            <a:p>
              <a:pPr algn="ctr"/>
              <a:r>
                <a:rPr lang="en-US" sz="1000" i="1" dirty="0">
                  <a:solidFill>
                    <a:schemeClr val="tx1"/>
                  </a:solidFill>
                </a:rPr>
                <a:t>Delivering data, AI, and healthcare technology solutions. </a:t>
              </a:r>
            </a:p>
            <a:p>
              <a:pPr algn="ctr"/>
              <a:r>
                <a:rPr lang="en-PH" sz="1000" i="1" dirty="0">
                  <a:hlinkClick r:id="rId5"/>
                </a:rPr>
                <a:t>Learn more</a:t>
              </a:r>
              <a:endParaRPr lang="en-PH" sz="1000" i="1" dirty="0"/>
            </a:p>
            <a:p>
              <a:pPr algn="ctr"/>
              <a:endParaRPr lang="en-PH" sz="10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E5307AF2-2331-BD35-7553-38A615007ED5}"/>
              </a:ext>
            </a:extLst>
          </p:cNvPr>
          <p:cNvGrpSpPr/>
          <p:nvPr/>
        </p:nvGrpSpPr>
        <p:grpSpPr>
          <a:xfrm>
            <a:off x="6362605" y="1490133"/>
            <a:ext cx="1554159" cy="1738555"/>
            <a:chOff x="2174823" y="1487652"/>
            <a:chExt cx="1554159" cy="1738555"/>
          </a:xfrm>
        </p:grpSpPr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6E456B9C-773A-46CC-188D-36B50E19D63E}"/>
                </a:ext>
              </a:extLst>
            </p:cNvPr>
            <p:cNvSpPr/>
            <p:nvPr/>
          </p:nvSpPr>
          <p:spPr>
            <a:xfrm>
              <a:off x="2652064" y="2901870"/>
              <a:ext cx="625754" cy="324337"/>
            </a:xfrm>
            <a:prstGeom prst="roundRect">
              <a:avLst>
                <a:gd name="adj" fmla="val 50000"/>
              </a:avLst>
            </a:prstGeom>
            <a:solidFill>
              <a:schemeClr val="accent3">
                <a:lumMod val="20000"/>
                <a:lumOff val="80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PH" sz="1100" dirty="0">
                  <a:solidFill>
                    <a:schemeClr val="tx1"/>
                  </a:solidFill>
                </a:rPr>
                <a:t>2023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425BDEAA-50EF-7F7D-A997-E4A3A27765A7}"/>
                </a:ext>
              </a:extLst>
            </p:cNvPr>
            <p:cNvSpPr/>
            <p:nvPr/>
          </p:nvSpPr>
          <p:spPr>
            <a:xfrm>
              <a:off x="2174823" y="1487652"/>
              <a:ext cx="1554159" cy="1407462"/>
            </a:xfrm>
            <a:prstGeom prst="roundRect">
              <a:avLst>
                <a:gd name="adj" fmla="val 4296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PH" sz="1000" b="1" dirty="0">
                <a:solidFill>
                  <a:schemeClr val="tx1"/>
                </a:solidFill>
              </a:endParaRPr>
            </a:p>
            <a:p>
              <a:pPr algn="ctr"/>
              <a:r>
                <a:rPr lang="en-US" sz="1000" b="1" dirty="0">
                  <a:solidFill>
                    <a:schemeClr val="tx1"/>
                  </a:solidFill>
                </a:rPr>
                <a:t>Microsoft US Partner of the Year and US Azure Analytics</a:t>
              </a:r>
            </a:p>
            <a:p>
              <a:pPr algn="ctr"/>
              <a:r>
                <a:rPr lang="en-US" sz="1000" i="1" dirty="0">
                  <a:solidFill>
                    <a:schemeClr val="tx1"/>
                  </a:solidFill>
                </a:rPr>
                <a:t>Customer impact through Microsoft solutions and cloud analytics. </a:t>
              </a:r>
            </a:p>
            <a:p>
              <a:pPr algn="ctr"/>
              <a:r>
                <a:rPr lang="en-PH" sz="1000" i="1" dirty="0">
                  <a:hlinkClick r:id="rId6"/>
                </a:rPr>
                <a:t>Learn more</a:t>
              </a:r>
              <a:endParaRPr lang="en-PH" sz="1000" i="1" dirty="0"/>
            </a:p>
            <a:p>
              <a:pPr algn="ctr"/>
              <a:endParaRPr lang="en-PH" sz="10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BF324C04-1EC7-52EF-AEC7-FFE6BE209F6B}"/>
              </a:ext>
            </a:extLst>
          </p:cNvPr>
          <p:cNvGrpSpPr/>
          <p:nvPr/>
        </p:nvGrpSpPr>
        <p:grpSpPr>
          <a:xfrm>
            <a:off x="10537351" y="1490133"/>
            <a:ext cx="1554159" cy="1736074"/>
            <a:chOff x="2174823" y="1490133"/>
            <a:chExt cx="1554159" cy="1736074"/>
          </a:xfrm>
        </p:grpSpPr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4864F9E7-FE29-DFB7-2173-2E5F523AFC73}"/>
                </a:ext>
              </a:extLst>
            </p:cNvPr>
            <p:cNvSpPr/>
            <p:nvPr/>
          </p:nvSpPr>
          <p:spPr>
            <a:xfrm>
              <a:off x="2652064" y="2901870"/>
              <a:ext cx="625754" cy="324337"/>
            </a:xfrm>
            <a:prstGeom prst="roundRect">
              <a:avLst>
                <a:gd name="adj" fmla="val 50000"/>
              </a:avLst>
            </a:prstGeom>
            <a:solidFill>
              <a:schemeClr val="accent3">
                <a:lumMod val="20000"/>
                <a:lumOff val="80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PH" sz="1100" dirty="0">
                  <a:solidFill>
                    <a:schemeClr val="tx1"/>
                  </a:solidFill>
                </a:rPr>
                <a:t>2025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E7FE1EA7-C2A9-E591-D94C-2B6A4EF069CA}"/>
                </a:ext>
              </a:extLst>
            </p:cNvPr>
            <p:cNvSpPr/>
            <p:nvPr/>
          </p:nvSpPr>
          <p:spPr>
            <a:xfrm>
              <a:off x="2174823" y="1490133"/>
              <a:ext cx="1554159" cy="1404981"/>
            </a:xfrm>
            <a:prstGeom prst="roundRect">
              <a:avLst>
                <a:gd name="adj" fmla="val 4296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PH" sz="1000" b="1" dirty="0">
                <a:solidFill>
                  <a:schemeClr val="tx1"/>
                </a:solidFill>
              </a:endParaRPr>
            </a:p>
            <a:p>
              <a:pPr algn="ctr"/>
              <a:r>
                <a:rPr lang="en-US" sz="1000" b="1" dirty="0">
                  <a:solidFill>
                    <a:schemeClr val="tx1"/>
                  </a:solidFill>
                </a:rPr>
                <a:t>Microsoft Americas Channel US Partner of the Year</a:t>
              </a:r>
            </a:p>
            <a:p>
              <a:pPr algn="ctr"/>
              <a:r>
                <a:rPr lang="en-US" sz="1000" i="1" dirty="0">
                  <a:solidFill>
                    <a:schemeClr val="tx1"/>
                  </a:solidFill>
                </a:rPr>
                <a:t>Innovation and business impact using Microsoft technologies. </a:t>
              </a:r>
            </a:p>
            <a:p>
              <a:pPr algn="ctr"/>
              <a:r>
                <a:rPr lang="en-PH" sz="1000" i="1" dirty="0">
                  <a:hlinkClick r:id="rId3"/>
                </a:rPr>
                <a:t>Learn more</a:t>
              </a:r>
              <a:endParaRPr lang="en-PH" sz="1000" i="1" dirty="0"/>
            </a:p>
            <a:p>
              <a:pPr algn="ctr"/>
              <a:endParaRPr lang="en-PH" sz="1000" b="1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948213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6" descr="Classroom of students raising their hands in front of a teacher">
            <a:extLst>
              <a:ext uri="{FF2B5EF4-FFF2-40B4-BE49-F238E27FC236}">
                <a16:creationId xmlns:a16="http://schemas.microsoft.com/office/drawing/2014/main" id="{0D0A7C3D-D7E9-EF71-8457-A139FC7F49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006" b="1530"/>
          <a:stretch>
            <a:fillRect/>
          </a:stretch>
        </p:blipFill>
        <p:spPr>
          <a:xfrm>
            <a:off x="4427621" y="-5067"/>
            <a:ext cx="7770031" cy="685800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3D39503-3DAC-D453-17B3-AB63DA0194C4}"/>
              </a:ext>
            </a:extLst>
          </p:cNvPr>
          <p:cNvSpPr>
            <a:spLocks noGrp="1"/>
          </p:cNvSpPr>
          <p:nvPr>
            <p:ph type="sldNum" idx="16"/>
          </p:nvPr>
        </p:nvSpPr>
        <p:spPr/>
        <p:txBody>
          <a:bodyPr wrap="square"/>
          <a:lstStyle/>
          <a:p>
            <a:r>
              <a:t>5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56366A-D84A-CB16-BA23-FA6E0E9E2CA6}"/>
              </a:ext>
            </a:extLst>
          </p:cNvPr>
          <p:cNvSpPr>
            <a:spLocks noGrp="1"/>
          </p:cNvSpPr>
          <p:nvPr>
            <p:ph type="ftr" idx="15"/>
          </p:nvPr>
        </p:nvSpPr>
        <p:spPr/>
        <p:txBody>
          <a:bodyPr/>
          <a:lstStyle/>
          <a:p>
            <a:r>
              <a:rPr lang="en-US"/>
              <a:t>©2026 3Cloud, Proprietary &amp; Confidential </a:t>
            </a:r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E574F1B7-7C10-2A35-8046-BFC2BBE0FE9B}"/>
              </a:ext>
            </a:extLst>
          </p:cNvPr>
          <p:cNvSpPr/>
          <p:nvPr/>
        </p:nvSpPr>
        <p:spPr>
          <a:xfrm rot="5400000" flipH="1">
            <a:off x="335560" y="-335561"/>
            <a:ext cx="6858000" cy="7529120"/>
          </a:xfrm>
          <a:prstGeom prst="round2SameRect">
            <a:avLst>
              <a:gd name="adj1" fmla="val 500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165100" sx="101000" sy="101000" algn="ctr" rotWithShape="0">
              <a:prstClr val="black">
                <a:alpha val="19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04C91623-DD1C-985E-1A0C-C41071324C04}"/>
              </a:ext>
            </a:extLst>
          </p:cNvPr>
          <p:cNvSpPr txBox="1">
            <a:spLocks/>
          </p:cNvSpPr>
          <p:nvPr/>
        </p:nvSpPr>
        <p:spPr>
          <a:xfrm>
            <a:off x="409128" y="1246561"/>
            <a:ext cx="6700331" cy="78035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Creating a productive, respectful, and enjoyable environment is key to our success. By following these simple guidelines, we can ensure that everyone feels valued, heard, and engaged.</a:t>
            </a:r>
          </a:p>
        </p:txBody>
      </p:sp>
      <p:sp>
        <p:nvSpPr>
          <p:cNvPr id="11" name="Title 5">
            <a:extLst>
              <a:ext uri="{FF2B5EF4-FFF2-40B4-BE49-F238E27FC236}">
                <a16:creationId xmlns:a16="http://schemas.microsoft.com/office/drawing/2014/main" id="{28546F35-C232-A1E6-9E60-3B0307B5B08E}"/>
              </a:ext>
            </a:extLst>
          </p:cNvPr>
          <p:cNvSpPr txBox="1">
            <a:spLocks/>
          </p:cNvSpPr>
          <p:nvPr/>
        </p:nvSpPr>
        <p:spPr>
          <a:xfrm>
            <a:off x="1463662" y="556413"/>
            <a:ext cx="5152654" cy="46909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PH" sz="24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Code of Cooperation</a:t>
            </a:r>
          </a:p>
        </p:txBody>
      </p:sp>
      <p:pic>
        <p:nvPicPr>
          <p:cNvPr id="15" name="Graphic 14" descr="Handshake outline">
            <a:extLst>
              <a:ext uri="{FF2B5EF4-FFF2-40B4-BE49-F238E27FC236}">
                <a16:creationId xmlns:a16="http://schemas.microsoft.com/office/drawing/2014/main" id="{EAA42DC0-C6BE-DE15-5755-14ABA0B721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97130" y="333759"/>
            <a:ext cx="914400" cy="914400"/>
          </a:xfrm>
          <a:prstGeom prst="rect">
            <a:avLst/>
          </a:prstGeom>
        </p:spPr>
      </p:pic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4267322A-F923-778B-14E9-A940286EA52A}"/>
              </a:ext>
            </a:extLst>
          </p:cNvPr>
          <p:cNvSpPr txBox="1">
            <a:spLocks/>
          </p:cNvSpPr>
          <p:nvPr/>
        </p:nvSpPr>
        <p:spPr>
          <a:xfrm>
            <a:off x="403129" y="2785897"/>
            <a:ext cx="6700331" cy="73152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300" b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Training Resources and Data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30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Use only assigned training resources, environments, and fictional data. Never share passwords, access tokens, or confidential information.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4BAE66E6-9219-FB3C-4457-4F139CF928A8}"/>
              </a:ext>
            </a:extLst>
          </p:cNvPr>
          <p:cNvSpPr txBox="1">
            <a:spLocks/>
          </p:cNvSpPr>
          <p:nvPr/>
        </p:nvSpPr>
        <p:spPr>
          <a:xfrm>
            <a:off x="403129" y="3664245"/>
            <a:ext cx="6700331" cy="73152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300" b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Active Participation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1300" dirty="0"/>
              <a:t>Rotate the keyboard so everyone gets hands-on experience. Collaborate, share ideas, and help your teammates learn.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8E26DC0B-744A-7D05-8724-FD183348691C}"/>
              </a:ext>
            </a:extLst>
          </p:cNvPr>
          <p:cNvSpPr txBox="1">
            <a:spLocks/>
          </p:cNvSpPr>
          <p:nvPr/>
        </p:nvSpPr>
        <p:spPr>
          <a:xfrm>
            <a:off x="403129" y="4542593"/>
            <a:ext cx="6700331" cy="78035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300" b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Troubleshooting and Questions</a:t>
            </a:r>
          </a:p>
          <a:p>
            <a:pPr marR="0" lvl="0" algn="ju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300" dirty="0"/>
              <a:t>Raise your hand when you encounter a blocker. Share the error message and what you have tried. Feel free to ask questions and learn from others.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91DFF767-29BC-6613-F3C5-9DBD34CA958D}"/>
              </a:ext>
            </a:extLst>
          </p:cNvPr>
          <p:cNvSpPr txBox="1">
            <a:spLocks/>
          </p:cNvSpPr>
          <p:nvPr/>
        </p:nvSpPr>
        <p:spPr>
          <a:xfrm>
            <a:off x="403129" y="5469780"/>
            <a:ext cx="6700331" cy="54864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300" b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Breaks Schedule 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1300" dirty="0"/>
              <a:t>We will have two 10-minute breaks, followed by a final 5-minute break.</a:t>
            </a:r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308D07AF-9D4A-7CB9-73C0-73D2D1643ECD}"/>
              </a:ext>
            </a:extLst>
          </p:cNvPr>
          <p:cNvSpPr txBox="1">
            <a:spLocks/>
          </p:cNvSpPr>
          <p:nvPr/>
        </p:nvSpPr>
        <p:spPr>
          <a:xfrm>
            <a:off x="403129" y="2090429"/>
            <a:ext cx="6700331" cy="54864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300" b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Participant ID and Group Number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30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Please keep your participant ID and group number visible throughout the session.</a:t>
            </a:r>
          </a:p>
        </p:txBody>
      </p:sp>
    </p:spTree>
    <p:extLst>
      <p:ext uri="{BB962C8B-B14F-4D97-AF65-F5344CB8AC3E}">
        <p14:creationId xmlns:p14="http://schemas.microsoft.com/office/powerpoint/2010/main" val="16204089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ED443-CA81-43A5-CD4D-80E10F9BC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C8E31FBB-D303-7222-52C2-71D1D59D17C1}"/>
              </a:ext>
            </a:extLst>
          </p:cNvPr>
          <p:cNvGrpSpPr>
            <a:grpSpLocks/>
          </p:cNvGrpSpPr>
          <p:nvPr/>
        </p:nvGrpSpPr>
        <p:grpSpPr>
          <a:xfrm>
            <a:off x="8417983" y="1422399"/>
            <a:ext cx="3377015" cy="3496734"/>
            <a:chOff x="8417983" y="1422399"/>
            <a:chExt cx="3377015" cy="3496734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D48FEC62-262F-8CFA-C9BD-D7224DFFCB80}"/>
                </a:ext>
              </a:extLst>
            </p:cNvPr>
            <p:cNvSpPr>
              <a:spLocks/>
            </p:cNvSpPr>
            <p:nvPr/>
          </p:nvSpPr>
          <p:spPr>
            <a:xfrm>
              <a:off x="8646584" y="1651000"/>
              <a:ext cx="3148414" cy="3268133"/>
            </a:xfrm>
            <a:prstGeom prst="roundRect">
              <a:avLst>
                <a:gd name="adj" fmla="val 203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2880" bIns="91440" rtlCol="0" anchor="t" anchorCtr="0"/>
            <a:lstStyle/>
            <a:p>
              <a:pPr lvl="1"/>
              <a:r>
                <a:rPr lang="en-PH" sz="2400" b="1" dirty="0">
                  <a:solidFill>
                    <a:schemeClr val="tx1"/>
                  </a:solidFill>
                </a:rPr>
                <a:t>Collaborate</a:t>
              </a:r>
            </a:p>
            <a:p>
              <a:pPr marL="576263" lvl="1" indent="-119063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200" i="1" dirty="0">
                  <a:solidFill>
                    <a:schemeClr val="tx1"/>
                  </a:solidFill>
                </a:rPr>
                <a:t>Work together to complete the assigned tasks.</a:t>
              </a:r>
            </a:p>
            <a:p>
              <a:pPr marL="576263" lvl="1" indent="-119063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200" i="1" dirty="0">
                  <a:solidFill>
                    <a:schemeClr val="tx1"/>
                  </a:solidFill>
                </a:rPr>
                <a:t>Review and discuss each change before implementing it.</a:t>
              </a:r>
            </a:p>
            <a:p>
              <a:pPr marL="576263" lvl="1" indent="-119063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200" i="1" dirty="0">
                  <a:solidFill>
                    <a:schemeClr val="tx1"/>
                  </a:solidFill>
                </a:rPr>
                <a:t>Make sure everyone understands the code and the results.</a:t>
              </a:r>
            </a:p>
            <a:p>
              <a:pPr marL="576263" lvl="1" indent="-119063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200" i="1" dirty="0">
                  <a:solidFill>
                    <a:schemeClr val="tx1"/>
                  </a:solidFill>
                </a:rPr>
                <a:t>Rotate team roles for each layer of the activity so that everyone has an opportunity to participate and develop different skills.</a:t>
              </a:r>
            </a:p>
            <a:p>
              <a:pPr lvl="1"/>
              <a:endParaRPr lang="en-PH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9AF861A2-A38F-ACCE-62DA-161728989CCB}"/>
                </a:ext>
              </a:extLst>
            </p:cNvPr>
            <p:cNvSpPr>
              <a:spLocks/>
            </p:cNvSpPr>
            <p:nvPr/>
          </p:nvSpPr>
          <p:spPr>
            <a:xfrm>
              <a:off x="8417983" y="1422399"/>
              <a:ext cx="619177" cy="619177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PH" b="1" dirty="0"/>
                <a:t>03</a:t>
              </a:r>
              <a:endParaRPr lang="en-US" b="1" dirty="0"/>
            </a:p>
          </p:txBody>
        </p:sp>
      </p:grp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A123E254-3B6D-6019-3646-B96B158DDE6F}"/>
              </a:ext>
            </a:extLst>
          </p:cNvPr>
          <p:cNvSpPr/>
          <p:nvPr/>
        </p:nvSpPr>
        <p:spPr>
          <a:xfrm>
            <a:off x="6910416" y="2080471"/>
            <a:ext cx="2126744" cy="1146808"/>
          </a:xfrm>
          <a:prstGeom prst="rightArrow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924A076-8CE6-4DAE-E41E-AA14912EF29A}"/>
              </a:ext>
            </a:extLst>
          </p:cNvPr>
          <p:cNvGrpSpPr/>
          <p:nvPr/>
        </p:nvGrpSpPr>
        <p:grpSpPr>
          <a:xfrm>
            <a:off x="4479367" y="1422399"/>
            <a:ext cx="3377015" cy="4412983"/>
            <a:chOff x="4256438" y="1422399"/>
            <a:chExt cx="3377015" cy="4412983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B37141EC-0453-4FB7-2BD5-5C5FAE9FE87C}"/>
                </a:ext>
              </a:extLst>
            </p:cNvPr>
            <p:cNvSpPr/>
            <p:nvPr/>
          </p:nvSpPr>
          <p:spPr>
            <a:xfrm>
              <a:off x="4485039" y="1651000"/>
              <a:ext cx="3148414" cy="4184382"/>
            </a:xfrm>
            <a:prstGeom prst="roundRect">
              <a:avLst>
                <a:gd name="adj" fmla="val 296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2880" bIns="91440" rtlCol="0" anchor="t" anchorCtr="0"/>
            <a:lstStyle/>
            <a:p>
              <a:pPr lvl="1"/>
              <a:r>
                <a:rPr lang="en-PH" sz="2400" b="1" dirty="0">
                  <a:solidFill>
                    <a:schemeClr val="tx1"/>
                  </a:solidFill>
                </a:rPr>
                <a:t>Assign Roles</a:t>
              </a:r>
            </a:p>
            <a:p>
              <a:pPr lvl="1"/>
              <a:r>
                <a:rPr lang="en-PH" sz="1200" i="1" dirty="0">
                  <a:solidFill>
                    <a:schemeClr val="tx1"/>
                  </a:solidFill>
                </a:rPr>
                <a:t>Each group must assign the following roles:</a:t>
              </a:r>
            </a:p>
            <a:p>
              <a:pPr lvl="1"/>
              <a:endParaRPr lang="en-PH" sz="1200" i="1" dirty="0">
                <a:solidFill>
                  <a:schemeClr val="tx1"/>
                </a:solidFill>
              </a:endParaRPr>
            </a:p>
            <a:p>
              <a:pPr lvl="1"/>
              <a:r>
                <a:rPr lang="en-PH" sz="1200" b="1" i="1" dirty="0">
                  <a:solidFill>
                    <a:schemeClr val="tx1"/>
                  </a:solidFill>
                </a:rPr>
                <a:t>Driver</a:t>
              </a:r>
            </a:p>
            <a:p>
              <a:pPr lvl="1"/>
              <a:r>
                <a:rPr lang="en-US" sz="1200" i="1" dirty="0">
                  <a:solidFill>
                    <a:schemeClr val="tx1"/>
                  </a:solidFill>
                </a:rPr>
                <a:t>Runs the notebook and explains each code change.</a:t>
              </a:r>
            </a:p>
            <a:p>
              <a:pPr lvl="1"/>
              <a:endParaRPr lang="en-US" sz="1200" i="1" dirty="0">
                <a:solidFill>
                  <a:schemeClr val="tx1"/>
                </a:solidFill>
              </a:endParaRPr>
            </a:p>
            <a:p>
              <a:pPr lvl="1"/>
              <a:r>
                <a:rPr lang="en-US" sz="1200" b="1" i="1" dirty="0">
                  <a:solidFill>
                    <a:schemeClr val="tx1"/>
                  </a:solidFill>
                </a:rPr>
                <a:t>Reviewer</a:t>
              </a:r>
            </a:p>
            <a:p>
              <a:pPr lvl="1"/>
              <a:r>
                <a:rPr lang="en-US" sz="1200" i="1" dirty="0">
                  <a:solidFill>
                    <a:schemeClr val="tx1"/>
                  </a:solidFill>
                </a:rPr>
                <a:t>Checks the requirements, code, and results for accuracy.</a:t>
              </a:r>
              <a:endParaRPr lang="en-PH" sz="1200" i="1" dirty="0">
                <a:solidFill>
                  <a:schemeClr val="tx1"/>
                </a:solidFill>
              </a:endParaRPr>
            </a:p>
            <a:p>
              <a:pPr lvl="1"/>
              <a:endParaRPr lang="en-PH" sz="1200" b="1" dirty="0">
                <a:solidFill>
                  <a:schemeClr val="tx1"/>
                </a:solidFill>
              </a:endParaRPr>
            </a:p>
            <a:p>
              <a:pPr lvl="1"/>
              <a:r>
                <a:rPr lang="en-PH" sz="1200" b="1" i="1" dirty="0">
                  <a:solidFill>
                    <a:schemeClr val="tx1"/>
                  </a:solidFill>
                </a:rPr>
                <a:t>Recorder</a:t>
              </a:r>
            </a:p>
            <a:p>
              <a:pPr lvl="1"/>
              <a:r>
                <a:rPr lang="en-US" sz="1200" i="1" dirty="0">
                  <a:solidFill>
                    <a:schemeClr val="tx1"/>
                  </a:solidFill>
                </a:rPr>
                <a:t>Documents team decisions, evidence, and any problems encountered.</a:t>
              </a:r>
            </a:p>
            <a:p>
              <a:pPr lvl="1"/>
              <a:endParaRPr lang="en-US" sz="1200" i="1" dirty="0">
                <a:solidFill>
                  <a:schemeClr val="tx1"/>
                </a:solidFill>
              </a:endParaRPr>
            </a:p>
            <a:p>
              <a:pPr lvl="1"/>
              <a:r>
                <a:rPr lang="en-PH" sz="1200" b="1" i="1" dirty="0">
                  <a:solidFill>
                    <a:schemeClr val="tx1"/>
                  </a:solidFill>
                </a:rPr>
                <a:t>Presenter</a:t>
              </a:r>
            </a:p>
            <a:p>
              <a:pPr lvl="1"/>
              <a:r>
                <a:rPr lang="en-US" sz="1200" i="1" dirty="0">
                  <a:solidFill>
                    <a:schemeClr val="tx1"/>
                  </a:solidFill>
                </a:rPr>
                <a:t>Explains the team's results and their business implications.</a:t>
              </a:r>
              <a:endParaRPr lang="en-PH" sz="1200" i="1" dirty="0">
                <a:solidFill>
                  <a:schemeClr val="tx1"/>
                </a:solidFill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4A97A05F-6B89-340C-CD8B-986BDC05486E}"/>
                </a:ext>
              </a:extLst>
            </p:cNvPr>
            <p:cNvSpPr/>
            <p:nvPr/>
          </p:nvSpPr>
          <p:spPr>
            <a:xfrm>
              <a:off x="4256438" y="1422399"/>
              <a:ext cx="619177" cy="619177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PH" b="1" dirty="0"/>
                <a:t>02</a:t>
              </a:r>
              <a:endParaRPr lang="en-US" b="1" dirty="0"/>
            </a:p>
          </p:txBody>
        </p:sp>
      </p:grp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D73324FA-EA27-754D-DA2B-32F74D8CF20E}"/>
              </a:ext>
            </a:extLst>
          </p:cNvPr>
          <p:cNvSpPr/>
          <p:nvPr/>
        </p:nvSpPr>
        <p:spPr>
          <a:xfrm>
            <a:off x="2971800" y="2080471"/>
            <a:ext cx="2126744" cy="1146808"/>
          </a:xfrm>
          <a:prstGeom prst="rightArrow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37C98BA4-E495-20D7-42FF-F9F8E20F8C92}"/>
              </a:ext>
            </a:extLst>
          </p:cNvPr>
          <p:cNvSpPr>
            <a:spLocks noGrp="1"/>
          </p:cNvSpPr>
          <p:nvPr/>
        </p:nvSpPr>
        <p:spPr>
          <a:xfrm>
            <a:off x="405003" y="276701"/>
            <a:ext cx="1138999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lang="en-PH" sz="3600" b="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Form your Engineering Teams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B9B8A6A5-D9CF-2ACA-1D53-E02DD43B39D1}"/>
              </a:ext>
            </a:extLst>
          </p:cNvPr>
          <p:cNvSpPr>
            <a:spLocks noGrp="1"/>
          </p:cNvSpPr>
          <p:nvPr/>
        </p:nvSpPr>
        <p:spPr>
          <a:xfrm>
            <a:off x="4027837" y="6534150"/>
            <a:ext cx="411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©2026 3Cloud, Proprietary &amp; Confidential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8209343C-C27D-71BF-1530-F3733072092B}"/>
              </a:ext>
            </a:extLst>
          </p:cNvPr>
          <p:cNvSpPr>
            <a:spLocks noGrp="1"/>
          </p:cNvSpPr>
          <p:nvPr/>
        </p:nvSpPr>
        <p:spPr>
          <a:xfrm>
            <a:off x="10953750" y="6534150"/>
            <a:ext cx="85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>
            <a:def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55A5237-0851-6A76-737C-9E1C1C5BB150}"/>
              </a:ext>
            </a:extLst>
          </p:cNvPr>
          <p:cNvGrpSpPr/>
          <p:nvPr/>
        </p:nvGrpSpPr>
        <p:grpSpPr>
          <a:xfrm>
            <a:off x="540751" y="1422399"/>
            <a:ext cx="3377015" cy="1794934"/>
            <a:chOff x="650822" y="1422399"/>
            <a:chExt cx="3377015" cy="1794934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B431B99A-7A22-8004-FB1F-129BED0521F7}"/>
                </a:ext>
              </a:extLst>
            </p:cNvPr>
            <p:cNvSpPr/>
            <p:nvPr/>
          </p:nvSpPr>
          <p:spPr>
            <a:xfrm>
              <a:off x="879423" y="1651000"/>
              <a:ext cx="3148414" cy="1566333"/>
            </a:xfrm>
            <a:prstGeom prst="roundRect">
              <a:avLst>
                <a:gd name="adj" fmla="val 591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2880" bIns="91440" rtlCol="0" anchor="t" anchorCtr="0"/>
            <a:lstStyle/>
            <a:p>
              <a:pPr lvl="1"/>
              <a:r>
                <a:rPr lang="en-PH" sz="2400" b="1" dirty="0">
                  <a:solidFill>
                    <a:schemeClr val="tx1"/>
                  </a:solidFill>
                </a:rPr>
                <a:t>Form your Groups</a:t>
              </a:r>
            </a:p>
            <a:p>
              <a:pPr marL="576263" lvl="1" indent="-119063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PH" sz="1200" i="1" dirty="0">
                  <a:solidFill>
                    <a:schemeClr val="tx1"/>
                  </a:solidFill>
                </a:rPr>
                <a:t>We need 10 groups, numbered 01-10</a:t>
              </a:r>
            </a:p>
            <a:p>
              <a:pPr marL="576263" lvl="1" indent="-119063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PH" sz="1200" i="1" dirty="0">
                  <a:solidFill>
                    <a:schemeClr val="tx1"/>
                  </a:solidFill>
                </a:rPr>
                <a:t>Aim for 4-5 people per group</a:t>
              </a:r>
            </a:p>
            <a:p>
              <a:pPr lvl="1"/>
              <a:endParaRPr lang="en-PH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869C0318-4064-B4A3-E4EF-E3B242AB7D68}"/>
                </a:ext>
              </a:extLst>
            </p:cNvPr>
            <p:cNvSpPr/>
            <p:nvPr/>
          </p:nvSpPr>
          <p:spPr>
            <a:xfrm>
              <a:off x="650822" y="1422399"/>
              <a:ext cx="619177" cy="619177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PH" b="1" dirty="0"/>
                <a:t>01</a:t>
              </a:r>
              <a:endParaRPr lang="en-US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457667888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" name="text">
            <a:extLst>
              <a:ext uri="{FF2B5EF4-FFF2-40B4-BE49-F238E27FC236}">
                <a16:creationId xmlns:a16="http://schemas.microsoft.com/office/drawing/2014/main" id="{FF8FADDF-A5D2-4C94-882D-0F964DEAA561}"/>
              </a:ext>
            </a:extLst>
          </p:cNvPr>
          <p:cNvSpPr>
            <a:spLocks noGrp="1"/>
          </p:cNvSpPr>
          <p:nvPr/>
        </p:nvSpPr>
        <p:spPr>
          <a:xfrm>
            <a:off x="405003" y="276701"/>
            <a:ext cx="1138999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>
            <a:def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30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Group setup and run order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D0BBA691-BA6F-4DC2-B12C-0E0FB779AF4C}"/>
              </a:ext>
            </a:extLst>
          </p:cNvPr>
          <p:cNvSpPr>
            <a:spLocks noGrp="1"/>
          </p:cNvSpPr>
          <p:nvPr/>
        </p:nvSpPr>
        <p:spPr>
          <a:xfrm>
            <a:off x="4027837" y="6534150"/>
            <a:ext cx="411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©2026 3Cloud, Proprietary &amp; Confidential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CB6BF6F9-220B-4D37-8C24-5B9306C8FA59}"/>
              </a:ext>
            </a:extLst>
          </p:cNvPr>
          <p:cNvSpPr>
            <a:spLocks noGrp="1"/>
          </p:cNvSpPr>
          <p:nvPr/>
        </p:nvSpPr>
        <p:spPr>
          <a:xfrm>
            <a:off x="10953750" y="6534150"/>
            <a:ext cx="85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>
            <a:def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C94EE4B3-BBA8-427F-B195-BA36F6C7F9F8}"/>
              </a:ext>
            </a:extLst>
          </p:cNvPr>
          <p:cNvSpPr>
            <a:spLocks noGrp="1"/>
          </p:cNvSpPr>
          <p:nvPr/>
        </p:nvSpPr>
        <p:spPr>
          <a:xfrm>
            <a:off x="590550" y="1381125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Use ten groups. README.md assigns each group a store and tip_group_01–10 schema.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DF6A0F37-A2D2-4DCA-A04B-2EA5726096C2}"/>
              </a:ext>
            </a:extLst>
          </p:cNvPr>
          <p:cNvSpPr>
            <a:spLocks noGrp="1"/>
          </p:cNvSpPr>
          <p:nvPr/>
        </p:nvSpPr>
        <p:spPr>
          <a:xfrm>
            <a:off x="590550" y="2247900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Set store and target_schema in every notebook. Keep them consistent across layers.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1A8A971F-6521-4C9B-A7EB-BA6EDD3AD678}"/>
              </a:ext>
            </a:extLst>
          </p:cNvPr>
          <p:cNvSpPr>
            <a:spLocks noGrp="1"/>
          </p:cNvSpPr>
          <p:nvPr/>
        </p:nvSpPr>
        <p:spPr>
          <a:xfrm>
            <a:off x="590550" y="3114675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Bronze source_path is /Volumes/ws_tip_demo/tip_demo_schema, without a country suffix.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266EAD61-F38D-4010-A4C6-4F48615C9F72}"/>
              </a:ext>
            </a:extLst>
          </p:cNvPr>
          <p:cNvSpPr>
            <a:spLocks noGrp="1"/>
          </p:cNvSpPr>
          <p:nvPr/>
        </p:nvSpPr>
        <p:spPr>
          <a:xfrm>
            <a:off x="590550" y="3981450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Run Bronze, then Silver, then Gold for your assigned store. Compare VALIDATION.md.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D623F099-26B8-46EE-8F62-8182B9C4D159}"/>
              </a:ext>
            </a:extLst>
          </p:cNvPr>
          <p:cNvSpPr>
            <a:spLocks noGrp="1"/>
          </p:cNvSpPr>
          <p:nvPr/>
        </p:nvSpPr>
        <p:spPr>
          <a:xfrm>
            <a:off x="590550" y="4848225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Instructor: load all seven stores in one schema before running Gold with store = ALL.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9BD4B-9D52-D9A5-D1F9-B08E94B3D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85489104-C589-E3A5-080B-557E4C11CE7C}"/>
              </a:ext>
            </a:extLst>
          </p:cNvPr>
          <p:cNvSpPr/>
          <p:nvPr/>
        </p:nvSpPr>
        <p:spPr>
          <a:xfrm flipH="1">
            <a:off x="8365186" y="1710669"/>
            <a:ext cx="3429812" cy="1862265"/>
          </a:xfrm>
          <a:prstGeom prst="roundRect">
            <a:avLst>
              <a:gd name="adj" fmla="val 4815"/>
            </a:avLst>
          </a:prstGeom>
          <a:solidFill>
            <a:srgbClr val="F09E3A">
              <a:alpha val="20000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9C98688-181E-61F1-F47F-5E641282CF76}"/>
              </a:ext>
            </a:extLst>
          </p:cNvPr>
          <p:cNvSpPr txBox="1"/>
          <p:nvPr/>
        </p:nvSpPr>
        <p:spPr>
          <a:xfrm>
            <a:off x="8225421" y="1639723"/>
            <a:ext cx="119786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dirty="0"/>
              <a:t>🥇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76CED6FB-2F17-7016-5154-3EF282DB6026}"/>
              </a:ext>
            </a:extLst>
          </p:cNvPr>
          <p:cNvSpPr/>
          <p:nvPr/>
        </p:nvSpPr>
        <p:spPr>
          <a:xfrm flipH="1">
            <a:off x="4385094" y="1710669"/>
            <a:ext cx="3429812" cy="1862265"/>
          </a:xfrm>
          <a:prstGeom prst="roundRect">
            <a:avLst>
              <a:gd name="adj" fmla="val 4815"/>
            </a:avLst>
          </a:prstGeom>
          <a:solidFill>
            <a:srgbClr val="C8B8DA">
              <a:alpha val="20000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AD47333-6D00-2136-EA8A-A35209B8976E}"/>
              </a:ext>
            </a:extLst>
          </p:cNvPr>
          <p:cNvSpPr txBox="1"/>
          <p:nvPr/>
        </p:nvSpPr>
        <p:spPr>
          <a:xfrm>
            <a:off x="4245329" y="1639723"/>
            <a:ext cx="119786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dirty="0"/>
              <a:t>🥈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E42B9206-CB75-79FA-79C7-D01FAAAA7D9F}"/>
              </a:ext>
            </a:extLst>
          </p:cNvPr>
          <p:cNvSpPr>
            <a:spLocks noGrp="1"/>
          </p:cNvSpPr>
          <p:nvPr/>
        </p:nvSpPr>
        <p:spPr>
          <a:xfrm>
            <a:off x="405003" y="276701"/>
            <a:ext cx="1138999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lang="en-US" sz="360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What Your Team Will Deliver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2480E2E4-696F-A982-D77D-782452739CB6}"/>
              </a:ext>
            </a:extLst>
          </p:cNvPr>
          <p:cNvSpPr>
            <a:spLocks noGrp="1"/>
          </p:cNvSpPr>
          <p:nvPr/>
        </p:nvSpPr>
        <p:spPr>
          <a:xfrm>
            <a:off x="4027837" y="6534150"/>
            <a:ext cx="411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©2026 3Cloud, Proprietary &amp; Confidential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02435A50-27EC-5E30-F4A8-F0C91ECB2E80}"/>
              </a:ext>
            </a:extLst>
          </p:cNvPr>
          <p:cNvSpPr>
            <a:spLocks noGrp="1"/>
          </p:cNvSpPr>
          <p:nvPr/>
        </p:nvSpPr>
        <p:spPr>
          <a:xfrm>
            <a:off x="10953750" y="6534150"/>
            <a:ext cx="85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>
            <a:def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2F772C-EA62-7139-449C-9009BC71B12D}"/>
              </a:ext>
            </a:extLst>
          </p:cNvPr>
          <p:cNvSpPr txBox="1"/>
          <p:nvPr/>
        </p:nvSpPr>
        <p:spPr>
          <a:xfrm>
            <a:off x="405003" y="1128069"/>
            <a:ext cx="113934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lang="en-US" sz="1600" dirty="0"/>
              <a:t>Your team must use </a:t>
            </a:r>
            <a:r>
              <a:rPr lang="en-US" sz="1600" b="1" dirty="0"/>
              <a:t>Databricks and the Medallion Architecture </a:t>
            </a:r>
            <a:r>
              <a:rPr lang="en-US" sz="1600" dirty="0"/>
              <a:t>to develop a solution that addresses a business need.</a:t>
            </a:r>
            <a:endParaRPr lang="en-US" sz="1600" dirty="0">
              <a:solidFill>
                <a:srgbClr val="2C2C2D"/>
              </a:solidFill>
              <a:latin typeface="Calibri"/>
              <a:ea typeface="Calibri"/>
              <a:cs typeface="Calibri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D12CBC7-2254-A97D-F651-34FA42FFEC7D}"/>
              </a:ext>
            </a:extLst>
          </p:cNvPr>
          <p:cNvGrpSpPr/>
          <p:nvPr/>
        </p:nvGrpSpPr>
        <p:grpSpPr>
          <a:xfrm>
            <a:off x="265238" y="1639723"/>
            <a:ext cx="3569577" cy="1933211"/>
            <a:chOff x="265238" y="1688917"/>
            <a:chExt cx="3569577" cy="1933211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E9DE0EF4-B37D-856E-EA23-0B79AE2C024F}"/>
                </a:ext>
              </a:extLst>
            </p:cNvPr>
            <p:cNvSpPr/>
            <p:nvPr/>
          </p:nvSpPr>
          <p:spPr>
            <a:xfrm flipH="1">
              <a:off x="405003" y="1759863"/>
              <a:ext cx="3429812" cy="1862265"/>
            </a:xfrm>
            <a:prstGeom prst="roundRect">
              <a:avLst>
                <a:gd name="adj" fmla="val 4815"/>
              </a:avLst>
            </a:prstGeom>
            <a:solidFill>
              <a:srgbClr val="C0774A">
                <a:alpha val="20000"/>
              </a:srgb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H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C7876E9-845B-82BD-3010-9260FB75E073}"/>
                </a:ext>
              </a:extLst>
            </p:cNvPr>
            <p:cNvSpPr txBox="1"/>
            <p:nvPr/>
          </p:nvSpPr>
          <p:spPr>
            <a:xfrm>
              <a:off x="1234606" y="1935138"/>
              <a:ext cx="251554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 sz="2400" b="0">
                  <a:solidFill>
                    <a:srgbClr val="2C2C2D"/>
                  </a:solidFill>
                  <a:latin typeface="Calibri"/>
                  <a:ea typeface="Calibri"/>
                  <a:cs typeface="Calibri"/>
                </a:defRPr>
              </a:pPr>
              <a:r>
                <a:rPr lang="en-US" sz="2800" b="1" dirty="0"/>
                <a:t>BRONZE LAYER</a:t>
              </a:r>
              <a:endParaRPr lang="en-US" sz="2800" b="1" dirty="0">
                <a:solidFill>
                  <a:srgbClr val="2C2C2D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9278055-2C24-9092-D0DD-4965BAF86859}"/>
                </a:ext>
              </a:extLst>
            </p:cNvPr>
            <p:cNvSpPr txBox="1"/>
            <p:nvPr/>
          </p:nvSpPr>
          <p:spPr>
            <a:xfrm>
              <a:off x="265238" y="1688917"/>
              <a:ext cx="1193800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6000" dirty="0"/>
                <a:t>🥉</a:t>
              </a: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1198F738-AA9F-39CF-F5AF-B8FE4521E5A6}"/>
              </a:ext>
            </a:extLst>
          </p:cNvPr>
          <p:cNvSpPr txBox="1"/>
          <p:nvPr/>
        </p:nvSpPr>
        <p:spPr>
          <a:xfrm>
            <a:off x="9194789" y="1885944"/>
            <a:ext cx="25155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lang="en-PH" sz="2800" b="1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G</a:t>
            </a:r>
            <a:r>
              <a:rPr lang="en-US" sz="2800" b="1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OLD LAYER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02CF116-5D0A-8393-C16D-32C92644180A}"/>
              </a:ext>
            </a:extLst>
          </p:cNvPr>
          <p:cNvSpPr txBox="1"/>
          <p:nvPr/>
        </p:nvSpPr>
        <p:spPr>
          <a:xfrm>
            <a:off x="5214697" y="1885944"/>
            <a:ext cx="25155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lang="en-PH" sz="2800" b="1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S</a:t>
            </a:r>
            <a:r>
              <a:rPr lang="en-US" sz="2800" b="1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ILVER LAYER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EB85A6D-0A3C-C5D5-15CA-D7321FF824E5}"/>
              </a:ext>
            </a:extLst>
          </p:cNvPr>
          <p:cNvSpPr txBox="1"/>
          <p:nvPr/>
        </p:nvSpPr>
        <p:spPr>
          <a:xfrm>
            <a:off x="499533" y="2618373"/>
            <a:ext cx="32506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lang="en-US" sz="1600" dirty="0"/>
              <a:t>Create a Bronze table that preserves the original input records.</a:t>
            </a:r>
            <a:endParaRPr lang="en-US" sz="1600" dirty="0">
              <a:solidFill>
                <a:srgbClr val="2C2C2D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A6E83F-2CA7-EC6F-1A56-3513903C8BB0}"/>
              </a:ext>
            </a:extLst>
          </p:cNvPr>
          <p:cNvSpPr txBox="1"/>
          <p:nvPr/>
        </p:nvSpPr>
        <p:spPr>
          <a:xfrm>
            <a:off x="4479624" y="2618373"/>
            <a:ext cx="32506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lang="en-US" sz="1600" dirty="0"/>
              <a:t>Create a Silver table with clearly defined transformation rules and data processing logic.</a:t>
            </a:r>
            <a:endParaRPr lang="en-US" sz="1600" dirty="0">
              <a:solidFill>
                <a:srgbClr val="2C2C2D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19184C0-B924-A449-D57C-54BD022691DB}"/>
              </a:ext>
            </a:extLst>
          </p:cNvPr>
          <p:cNvSpPr txBox="1"/>
          <p:nvPr/>
        </p:nvSpPr>
        <p:spPr>
          <a:xfrm>
            <a:off x="8454784" y="2618373"/>
            <a:ext cx="32506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lang="en-US" sz="1800" dirty="0"/>
              <a:t>Save one Gold sales table. Query daily and product summaries.</a:t>
            </a:r>
            <a:endParaRPr lang="en-US" sz="1600" dirty="0">
              <a:solidFill>
                <a:srgbClr val="2C2C2D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131EFFA7-7422-97FC-A8B7-7F5F02F7B0F3}"/>
              </a:ext>
            </a:extLst>
          </p:cNvPr>
          <p:cNvSpPr/>
          <p:nvPr/>
        </p:nvSpPr>
        <p:spPr>
          <a:xfrm flipH="1">
            <a:off x="405001" y="3808401"/>
            <a:ext cx="11389995" cy="1974333"/>
          </a:xfrm>
          <a:prstGeom prst="roundRect">
            <a:avLst>
              <a:gd name="adj" fmla="val 4815"/>
            </a:avLst>
          </a:prstGeom>
          <a:solidFill>
            <a:schemeClr val="bg1">
              <a:alpha val="2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92CD651-B1B7-2CF8-C05F-AC5F341A6C03}"/>
              </a:ext>
            </a:extLst>
          </p:cNvPr>
          <p:cNvSpPr txBox="1"/>
          <p:nvPr/>
        </p:nvSpPr>
        <p:spPr>
          <a:xfrm>
            <a:off x="499532" y="3980019"/>
            <a:ext cx="102954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lang="en-PH" sz="2800" b="1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D</a:t>
            </a:r>
            <a:r>
              <a:rPr lang="en-US" sz="2800" b="1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EMONSTRATE YOUR SOLUTION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F845D7A-0B20-F7C6-C86E-10CFFCFCFD61}"/>
              </a:ext>
            </a:extLst>
          </p:cNvPr>
          <p:cNvSpPr txBox="1"/>
          <p:nvPr/>
        </p:nvSpPr>
        <p:spPr>
          <a:xfrm>
            <a:off x="499532" y="4485442"/>
            <a:ext cx="1120586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lang="en-US" sz="1400" dirty="0"/>
              <a:t>Prepare the following deliverables:</a:t>
            </a:r>
          </a:p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endParaRPr lang="en-US" sz="1400" dirty="0"/>
          </a:p>
          <a:p>
            <a:pPr marL="119063" indent="-119063">
              <a:buFont typeface="Arial" panose="020B0604020202020204" pitchFamily="34" charset="0"/>
              <a:buChar char="•"/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lang="en-US" sz="1400" b="1" dirty="0"/>
              <a:t>Task Board: </a:t>
            </a:r>
            <a:r>
              <a:rPr lang="en-US" sz="1400" dirty="0"/>
              <a:t>Track your team's tasks, progress, and responsibilities.</a:t>
            </a:r>
          </a:p>
          <a:p>
            <a:pPr marL="119063" indent="-119063">
              <a:buFont typeface="Arial" panose="020B0604020202020204" pitchFamily="34" charset="0"/>
              <a:buChar char="•"/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lang="en-US" sz="1400" b="1" dirty="0"/>
              <a:t>Acceptance Evidence: </a:t>
            </a:r>
            <a:r>
              <a:rPr lang="en-US" sz="1400" dirty="0"/>
              <a:t>Provide evidence that your solution meets the requirements.</a:t>
            </a:r>
          </a:p>
          <a:p>
            <a:pPr marL="119063" indent="-119063">
              <a:buFont typeface="Arial" panose="020B0604020202020204" pitchFamily="34" charset="0"/>
              <a:buChar char="•"/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lang="en-US" sz="1400" b="1" dirty="0"/>
              <a:t>Two-Minute Demo: </a:t>
            </a:r>
            <a:r>
              <a:rPr lang="en-US" sz="1400" dirty="0"/>
              <a:t>Demonstrate your solution, explain the results, and highlight how it addresses the business need.</a:t>
            </a:r>
          </a:p>
        </p:txBody>
      </p:sp>
    </p:spTree>
    <p:extLst>
      <p:ext uri="{BB962C8B-B14F-4D97-AF65-F5344CB8AC3E}">
        <p14:creationId xmlns:p14="http://schemas.microsoft.com/office/powerpoint/2010/main" val="36870781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62722-A589-5960-0ADB-1BA4A61ED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6" descr="People in an office">
            <a:extLst>
              <a:ext uri="{FF2B5EF4-FFF2-40B4-BE49-F238E27FC236}">
                <a16:creationId xmlns:a16="http://schemas.microsoft.com/office/drawing/2014/main" id="{ED6C403B-91F4-CA92-FDE5-586E8D3DD2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59" r="12259"/>
          <a:stretch/>
        </p:blipFill>
        <p:spPr>
          <a:xfrm>
            <a:off x="4427621" y="-5067"/>
            <a:ext cx="7770031" cy="685800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8890856-3EBC-7B00-D027-09F0D9385E6D}"/>
              </a:ext>
            </a:extLst>
          </p:cNvPr>
          <p:cNvSpPr>
            <a:spLocks noGrp="1"/>
          </p:cNvSpPr>
          <p:nvPr>
            <p:ph type="sldNum" idx="16"/>
          </p:nvPr>
        </p:nvSpPr>
        <p:spPr/>
        <p:txBody>
          <a:bodyPr wrap="square"/>
          <a:lstStyle/>
          <a:p>
            <a:r>
              <a:t>9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847F4B-DFED-C563-32A3-72E67178233B}"/>
              </a:ext>
            </a:extLst>
          </p:cNvPr>
          <p:cNvSpPr>
            <a:spLocks noGrp="1"/>
          </p:cNvSpPr>
          <p:nvPr>
            <p:ph type="ftr" idx="15"/>
          </p:nvPr>
        </p:nvSpPr>
        <p:spPr/>
        <p:txBody>
          <a:bodyPr/>
          <a:lstStyle/>
          <a:p>
            <a:r>
              <a:rPr lang="en-US"/>
              <a:t>©2026 3Cloud, Proprietary &amp; Confidential </a:t>
            </a:r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7820874B-69D8-ABC3-5B9D-2DA2C7977E8B}"/>
              </a:ext>
            </a:extLst>
          </p:cNvPr>
          <p:cNvSpPr/>
          <p:nvPr/>
        </p:nvSpPr>
        <p:spPr>
          <a:xfrm rot="5400000" flipH="1">
            <a:off x="335560" y="-335561"/>
            <a:ext cx="6858000" cy="7529120"/>
          </a:xfrm>
          <a:prstGeom prst="round2SameRect">
            <a:avLst>
              <a:gd name="adj1" fmla="val 500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165100" sx="101000" sy="101000" algn="ctr" rotWithShape="0">
              <a:prstClr val="black">
                <a:alpha val="19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1" name="Title 5">
            <a:extLst>
              <a:ext uri="{FF2B5EF4-FFF2-40B4-BE49-F238E27FC236}">
                <a16:creationId xmlns:a16="http://schemas.microsoft.com/office/drawing/2014/main" id="{9E459DCA-DFA7-C83A-F3D6-C985FDE8FFF2}"/>
              </a:ext>
            </a:extLst>
          </p:cNvPr>
          <p:cNvSpPr txBox="1">
            <a:spLocks/>
          </p:cNvSpPr>
          <p:nvPr/>
        </p:nvSpPr>
        <p:spPr>
          <a:xfrm>
            <a:off x="326926" y="339394"/>
            <a:ext cx="5152654" cy="46909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PH" sz="24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Agenda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B085AB2-F2C8-385A-12DA-615F16DE80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4524077"/>
              </p:ext>
            </p:extLst>
          </p:nvPr>
        </p:nvGraphicFramePr>
        <p:xfrm>
          <a:off x="326926" y="962459"/>
          <a:ext cx="6700332" cy="482092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230941">
                  <a:extLst>
                    <a:ext uri="{9D8B030D-6E8A-4147-A177-3AD203B41FA5}">
                      <a16:colId xmlns:a16="http://schemas.microsoft.com/office/drawing/2014/main" val="193253631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1386730687"/>
                    </a:ext>
                  </a:extLst>
                </a:gridCol>
                <a:gridCol w="4478791">
                  <a:extLst>
                    <a:ext uri="{9D8B030D-6E8A-4147-A177-3AD203B41FA5}">
                      <a16:colId xmlns:a16="http://schemas.microsoft.com/office/drawing/2014/main" val="2637073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PH" sz="1400" dirty="0"/>
                        <a:t>Time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sz="1400" dirty="0"/>
                        <a:t>Duration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sz="1400" dirty="0"/>
                        <a:t>Activity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24528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sz="1400" dirty="0"/>
                        <a:t>20 mins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sz="1400" dirty="0"/>
                        <a:t>Welcome, Code of Cooperation &amp; Teams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6916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sz="1400" dirty="0"/>
                        <a:t>25 mins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Business Need, Roles and Ways of Working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4321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sz="1400" dirty="0"/>
                        <a:t>20 mins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sz="1400" dirty="0"/>
                        <a:t>Requirements and Backlog Activity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07506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PH" sz="1400" dirty="0"/>
                        <a:t>10 mins</a:t>
                      </a:r>
                      <a:endParaRPr lang="en-US" sz="1400" dirty="0"/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PH" sz="1400" dirty="0"/>
                        <a:t>Break</a:t>
                      </a:r>
                      <a:endParaRPr lang="en-US" sz="1400" dirty="0"/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38941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PH" sz="1400" dirty="0"/>
                        <a:t>35 mins</a:t>
                      </a:r>
                      <a:endParaRPr lang="en-US" sz="14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PH" sz="1400" dirty="0"/>
                        <a:t>Technical Demo and Story Breakdown, Group 1 Demo</a:t>
                      </a:r>
                      <a:endParaRPr lang="en-US" sz="1400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11665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PH" sz="1400" dirty="0"/>
                        <a:t>25 mins</a:t>
                      </a:r>
                      <a:endParaRPr lang="en-US" sz="14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PH" sz="1400" dirty="0"/>
                        <a:t>Bronze Exercise and Checkpoint</a:t>
                      </a:r>
                      <a:endParaRPr lang="en-US" sz="1400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41692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PH" sz="1400" dirty="0"/>
                        <a:t>10 mins</a:t>
                      </a:r>
                      <a:endParaRPr lang="en-US" sz="1400" dirty="0"/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PH" sz="1400" dirty="0"/>
                        <a:t>Break</a:t>
                      </a:r>
                      <a:endParaRPr lang="en-US" sz="1400" dirty="0"/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32045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PH" sz="1400" dirty="0"/>
                        <a:t>30 mins</a:t>
                      </a:r>
                      <a:endParaRPr lang="en-US" sz="14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PH" sz="1400" dirty="0"/>
                        <a:t>Silver Exercise and Checkpoint, Group 2 Demo</a:t>
                      </a:r>
                      <a:endParaRPr lang="en-US" sz="1400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74406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PH" sz="1400" dirty="0"/>
                        <a:t>25 mins</a:t>
                      </a:r>
                      <a:endParaRPr lang="en-US" sz="14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PH" sz="1400" dirty="0"/>
                        <a:t>Gold Exercise, Group 3 Demo</a:t>
                      </a:r>
                      <a:endParaRPr lang="en-US" sz="1400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31914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PH" sz="1400" dirty="0"/>
                        <a:t>05 mins</a:t>
                      </a:r>
                      <a:endParaRPr lang="en-US" sz="1400" dirty="0"/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PH" sz="1400" dirty="0"/>
                        <a:t>Break</a:t>
                      </a:r>
                      <a:endParaRPr lang="en-US" sz="1400" dirty="0"/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22622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PH" sz="1400" dirty="0"/>
                        <a:t>25 mins</a:t>
                      </a:r>
                      <a:endParaRPr lang="en-US" sz="14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PH" sz="1400" dirty="0"/>
                        <a:t>Group 4 – 10 Demos </a:t>
                      </a:r>
                      <a:endParaRPr lang="en-US" sz="1400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49376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PH" sz="1400" dirty="0"/>
                        <a:t>10 mins</a:t>
                      </a:r>
                      <a:endParaRPr lang="en-US" sz="14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PH" sz="1400" dirty="0"/>
                        <a:t>Retrospective and Closing</a:t>
                      </a:r>
                      <a:endParaRPr lang="en-US" sz="1400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64299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37844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3AD38-0256-57ED-C7ED-5031E3B36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Arrow: Circular 48">
            <a:extLst>
              <a:ext uri="{FF2B5EF4-FFF2-40B4-BE49-F238E27FC236}">
                <a16:creationId xmlns:a16="http://schemas.microsoft.com/office/drawing/2014/main" id="{2070B278-8A52-C9B0-100D-F68DE7633F58}"/>
              </a:ext>
            </a:extLst>
          </p:cNvPr>
          <p:cNvSpPr/>
          <p:nvPr/>
        </p:nvSpPr>
        <p:spPr>
          <a:xfrm rot="4935199" flipV="1">
            <a:off x="3596937" y="4575848"/>
            <a:ext cx="1317013" cy="1318492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6698178"/>
              <a:gd name="adj5" fmla="val 125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7" name="Arrow: Circular 46">
            <a:extLst>
              <a:ext uri="{FF2B5EF4-FFF2-40B4-BE49-F238E27FC236}">
                <a16:creationId xmlns:a16="http://schemas.microsoft.com/office/drawing/2014/main" id="{D23544C1-9A86-5444-A40F-BD652D2474F7}"/>
              </a:ext>
            </a:extLst>
          </p:cNvPr>
          <p:cNvSpPr/>
          <p:nvPr/>
        </p:nvSpPr>
        <p:spPr>
          <a:xfrm rot="4935199" flipV="1">
            <a:off x="2572305" y="3663248"/>
            <a:ext cx="1317013" cy="1318492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6698178"/>
              <a:gd name="adj5" fmla="val 125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5" name="Arrow: Circular 44">
            <a:extLst>
              <a:ext uri="{FF2B5EF4-FFF2-40B4-BE49-F238E27FC236}">
                <a16:creationId xmlns:a16="http://schemas.microsoft.com/office/drawing/2014/main" id="{6AB38198-DB84-7DD8-B929-C1D312C33808}"/>
              </a:ext>
            </a:extLst>
          </p:cNvPr>
          <p:cNvSpPr/>
          <p:nvPr/>
        </p:nvSpPr>
        <p:spPr>
          <a:xfrm rot="4935199" flipV="1">
            <a:off x="1561653" y="2679992"/>
            <a:ext cx="1317013" cy="1318492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6698178"/>
              <a:gd name="adj5" fmla="val 125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7" name="Arrow: Circular 36">
            <a:extLst>
              <a:ext uri="{FF2B5EF4-FFF2-40B4-BE49-F238E27FC236}">
                <a16:creationId xmlns:a16="http://schemas.microsoft.com/office/drawing/2014/main" id="{2EF0796D-B3BD-4358-AADF-68174B5A3592}"/>
              </a:ext>
            </a:extLst>
          </p:cNvPr>
          <p:cNvSpPr/>
          <p:nvPr/>
        </p:nvSpPr>
        <p:spPr>
          <a:xfrm rot="4935199" flipV="1">
            <a:off x="555499" y="1705678"/>
            <a:ext cx="1317013" cy="1318492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6698178"/>
              <a:gd name="adj5" fmla="val 125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ECCB246C-81B5-4E22-6AC4-0481E9819FA6}"/>
              </a:ext>
            </a:extLst>
          </p:cNvPr>
          <p:cNvSpPr>
            <a:spLocks noGrp="1"/>
          </p:cNvSpPr>
          <p:nvPr/>
        </p:nvSpPr>
        <p:spPr>
          <a:xfrm>
            <a:off x="405003" y="276701"/>
            <a:ext cx="1138999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lang="en-PH" sz="3600" b="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How does a Project Start?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C2E565DA-1D0A-01A7-8BFE-CE72787DECD5}"/>
              </a:ext>
            </a:extLst>
          </p:cNvPr>
          <p:cNvSpPr>
            <a:spLocks noGrp="1"/>
          </p:cNvSpPr>
          <p:nvPr/>
        </p:nvSpPr>
        <p:spPr>
          <a:xfrm>
            <a:off x="4027837" y="6534150"/>
            <a:ext cx="411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©2026 3Cloud, Proprietary &amp; Confidential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ECB3538D-4633-679B-0615-73EDF79253C4}"/>
              </a:ext>
            </a:extLst>
          </p:cNvPr>
          <p:cNvSpPr>
            <a:spLocks noGrp="1"/>
          </p:cNvSpPr>
          <p:nvPr/>
        </p:nvSpPr>
        <p:spPr>
          <a:xfrm>
            <a:off x="10953750" y="6534150"/>
            <a:ext cx="85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>
            <a:def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7D714BC-3B20-52ED-57CA-270F90E3E370}"/>
              </a:ext>
            </a:extLst>
          </p:cNvPr>
          <p:cNvSpPr/>
          <p:nvPr/>
        </p:nvSpPr>
        <p:spPr>
          <a:xfrm>
            <a:off x="405003" y="1523982"/>
            <a:ext cx="7397496" cy="762000"/>
          </a:xfrm>
          <a:prstGeom prst="roundRect">
            <a:avLst>
              <a:gd name="adj" fmla="val 26129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 anchorCtr="0"/>
          <a:lstStyle/>
          <a:p>
            <a:r>
              <a:rPr lang="en-PH" sz="2000" dirty="0">
                <a:solidFill>
                  <a:schemeClr val="tx1"/>
                </a:solidFill>
              </a:rPr>
              <a:t>A stakeholder has a problem or decision to make.</a:t>
            </a:r>
            <a:endParaRPr lang="en-PH" sz="1200" b="1" dirty="0">
              <a:solidFill>
                <a:schemeClr val="tx1"/>
              </a:solidFill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8513014F-D470-AF64-2809-648B7D43B36C}"/>
              </a:ext>
            </a:extLst>
          </p:cNvPr>
          <p:cNvSpPr/>
          <p:nvPr/>
        </p:nvSpPr>
        <p:spPr>
          <a:xfrm>
            <a:off x="1349207" y="2483133"/>
            <a:ext cx="7397496" cy="762000"/>
          </a:xfrm>
          <a:prstGeom prst="roundRect">
            <a:avLst>
              <a:gd name="adj" fmla="val 26129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 anchorCtr="0"/>
          <a:lstStyle/>
          <a:p>
            <a:r>
              <a:rPr lang="en-US" sz="2000" dirty="0">
                <a:solidFill>
                  <a:schemeClr val="tx1"/>
                </a:solidFill>
              </a:rPr>
              <a:t>The team clarifies value, scope, data and success measures.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7035702F-CCB0-B555-E4B2-576C3AEE63E3}"/>
              </a:ext>
            </a:extLst>
          </p:cNvPr>
          <p:cNvSpPr/>
          <p:nvPr/>
        </p:nvSpPr>
        <p:spPr>
          <a:xfrm>
            <a:off x="2359859" y="3442284"/>
            <a:ext cx="7397496" cy="762000"/>
          </a:xfrm>
          <a:prstGeom prst="roundRect">
            <a:avLst>
              <a:gd name="adj" fmla="val 26129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 anchorCtr="0"/>
          <a:lstStyle/>
          <a:p>
            <a:r>
              <a:rPr lang="en-US" sz="2000" dirty="0">
                <a:solidFill>
                  <a:schemeClr val="tx1"/>
                </a:solidFill>
              </a:rPr>
              <a:t>The Product Owner helps prioritize the work.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731D5BA3-F70B-91F2-C175-FBDF037301D8}"/>
              </a:ext>
            </a:extLst>
          </p:cNvPr>
          <p:cNvSpPr/>
          <p:nvPr/>
        </p:nvSpPr>
        <p:spPr>
          <a:xfrm>
            <a:off x="3387602" y="4401435"/>
            <a:ext cx="7397496" cy="762000"/>
          </a:xfrm>
          <a:prstGeom prst="roundRect">
            <a:avLst>
              <a:gd name="adj" fmla="val 26129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 anchorCtr="0"/>
          <a:lstStyle/>
          <a:p>
            <a:r>
              <a:rPr lang="en-US" sz="2000" dirty="0">
                <a:solidFill>
                  <a:schemeClr val="tx1"/>
                </a:solidFill>
              </a:rPr>
              <a:t>Engineers investigate access, feasibility and dependencies.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016A1B0F-78D1-BD88-DAC8-D04FAC16D9B4}"/>
              </a:ext>
            </a:extLst>
          </p:cNvPr>
          <p:cNvSpPr/>
          <p:nvPr/>
        </p:nvSpPr>
        <p:spPr>
          <a:xfrm>
            <a:off x="4398917" y="5360586"/>
            <a:ext cx="7396081" cy="762000"/>
          </a:xfrm>
          <a:prstGeom prst="roundRect">
            <a:avLst>
              <a:gd name="adj" fmla="val 26129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 anchorCtr="0"/>
          <a:lstStyle/>
          <a:p>
            <a:r>
              <a:rPr lang="en-US" sz="2000" dirty="0">
                <a:solidFill>
                  <a:schemeClr val="tx1"/>
                </a:solidFill>
              </a:rPr>
              <a:t>The team delivers a small outcome and reviews the evidence.</a:t>
            </a:r>
          </a:p>
        </p:txBody>
      </p:sp>
    </p:spTree>
    <p:extLst>
      <p:ext uri="{BB962C8B-B14F-4D97-AF65-F5344CB8AC3E}">
        <p14:creationId xmlns:p14="http://schemas.microsoft.com/office/powerpoint/2010/main" val="27872106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5A8C4-5CD9-E8D6-C95F-F67A41BE3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D0A97-A9CD-1763-E562-BF952357FB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6528"/>
          <a:stretch>
            <a:fillRect/>
          </a:stretch>
        </p:blipFill>
        <p:spPr>
          <a:xfrm>
            <a:off x="5473700" y="0"/>
            <a:ext cx="6718300" cy="685800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4A14594-2B59-8A20-4492-A1FB4D9A71D6}"/>
              </a:ext>
            </a:extLst>
          </p:cNvPr>
          <p:cNvSpPr>
            <a:spLocks noGrp="1"/>
          </p:cNvSpPr>
          <p:nvPr>
            <p:ph type="sldNum" idx="16"/>
          </p:nvPr>
        </p:nvSpPr>
        <p:spPr/>
        <p:txBody>
          <a:bodyPr wrap="square"/>
          <a:lstStyle/>
          <a:p>
            <a:r>
              <a:t>11</a:t>
            </a:r>
            <a:endParaRPr lang="en-US"/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72CB7C61-EEF9-4471-CB46-0793BC1579B5}"/>
              </a:ext>
            </a:extLst>
          </p:cNvPr>
          <p:cNvSpPr/>
          <p:nvPr/>
        </p:nvSpPr>
        <p:spPr>
          <a:xfrm rot="5400000" flipH="1">
            <a:off x="-444500" y="444499"/>
            <a:ext cx="6858000" cy="5969000"/>
          </a:xfrm>
          <a:prstGeom prst="round2SameRect">
            <a:avLst>
              <a:gd name="adj1" fmla="val 500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165100" sx="101000" sy="101000" algn="ctr" rotWithShape="0">
              <a:prstClr val="black">
                <a:alpha val="19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E1000AF-B6F2-1B96-1153-3765D1A46D48}"/>
              </a:ext>
            </a:extLst>
          </p:cNvPr>
          <p:cNvSpPr txBox="1">
            <a:spLocks/>
          </p:cNvSpPr>
          <p:nvPr/>
        </p:nvSpPr>
        <p:spPr>
          <a:xfrm>
            <a:off x="409128" y="2313361"/>
            <a:ext cx="5146655" cy="2499939"/>
          </a:xfrm>
          <a:prstGeom prst="rect">
            <a:avLst/>
          </a:prstGeom>
        </p:spPr>
        <p:txBody>
          <a:bodyPr wrap="square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As data engineers, students turn sales and product records into trusted reports on bestsellers and store performance.</a:t>
            </a:r>
          </a:p>
          <a:p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/>
            </a:r>
          </a:p>
          <a:p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Seven stores. Three countries. One PHP reporting view using New York dates.</a:t>
            </a:r>
          </a:p>
        </p:txBody>
      </p:sp>
      <p:sp>
        <p:nvSpPr>
          <p:cNvPr id="8" name="Title 5">
            <a:extLst>
              <a:ext uri="{FF2B5EF4-FFF2-40B4-BE49-F238E27FC236}">
                <a16:creationId xmlns:a16="http://schemas.microsoft.com/office/drawing/2014/main" id="{898F112B-3869-E13D-1000-4B3ADF0E3970}"/>
              </a:ext>
            </a:extLst>
          </p:cNvPr>
          <p:cNvSpPr txBox="1">
            <a:spLocks/>
          </p:cNvSpPr>
          <p:nvPr/>
        </p:nvSpPr>
        <p:spPr>
          <a:xfrm>
            <a:off x="403129" y="1554480"/>
            <a:ext cx="5152654" cy="469090"/>
          </a:xfrm>
          <a:prstGeom prst="rect">
            <a:avLst/>
          </a:prstGeom>
        </p:spPr>
        <p:txBody>
          <a:bodyPr wrap="square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PH" sz="2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Our fictional client</a:t>
            </a:r>
          </a:p>
        </p:txBody>
      </p:sp>
      <p:sp>
        <p:nvSpPr>
          <p:cNvPr id="12" name="Title 5">
            <a:extLst>
              <a:ext uri="{FF2B5EF4-FFF2-40B4-BE49-F238E27FC236}">
                <a16:creationId xmlns:a16="http://schemas.microsoft.com/office/drawing/2014/main" id="{BE255D4F-07C9-EA05-A8A7-FC26EA13B956}"/>
              </a:ext>
            </a:extLst>
          </p:cNvPr>
          <p:cNvSpPr txBox="1">
            <a:spLocks/>
          </p:cNvSpPr>
          <p:nvPr/>
        </p:nvSpPr>
        <p:spPr>
          <a:xfrm>
            <a:off x="160523" y="640080"/>
            <a:ext cx="5152654" cy="640080"/>
          </a:xfrm>
          <a:prstGeom prst="rect">
            <a:avLst/>
          </a:prstGeom>
        </p:spPr>
        <p:txBody>
          <a:bodyPr wrap="square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PH" sz="3200" b="0" dirty="0">
                <a:solidFill>
                  <a:schemeClr val="accent1"/>
                </a:solidFill>
                <a:latin typeface="Edwardian Script ITC" panose="030303020407070D0804" pitchFamily="66" charset="0"/>
                <a:ea typeface="+mn-ea"/>
                <a:cs typeface="+mn-cs"/>
              </a:rPr>
              <a:t>Café Enchancia</a:t>
            </a:r>
            <a:endParaRPr lang="en-PH" sz="7200" b="0" dirty="0">
              <a:solidFill>
                <a:schemeClr val="accent1"/>
              </a:solidFill>
              <a:latin typeface="Edwardian Script ITC" panose="030303020407070D0804" pitchFamily="66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60000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85BF0-4ECE-619A-ABA1-1F0D53D15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">
            <a:extLst>
              <a:ext uri="{FF2B5EF4-FFF2-40B4-BE49-F238E27FC236}">
                <a16:creationId xmlns:a16="http://schemas.microsoft.com/office/drawing/2014/main" id="{2119FDA3-6F0D-BA72-079C-C08A4DF1CD48}"/>
              </a:ext>
            </a:extLst>
          </p:cNvPr>
          <p:cNvSpPr>
            <a:spLocks noGrp="1"/>
          </p:cNvSpPr>
          <p:nvPr/>
        </p:nvSpPr>
        <p:spPr>
          <a:xfrm>
            <a:off x="405003" y="276701"/>
            <a:ext cx="1138999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lang="en-US" sz="360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Project Roles: Product and Delivery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6318E16B-511F-D67B-1E40-EE1C8F3D540B}"/>
              </a:ext>
            </a:extLst>
          </p:cNvPr>
          <p:cNvSpPr>
            <a:spLocks noGrp="1"/>
          </p:cNvSpPr>
          <p:nvPr/>
        </p:nvSpPr>
        <p:spPr>
          <a:xfrm>
            <a:off x="4027837" y="6534150"/>
            <a:ext cx="411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©2026 3Cloud, Proprietary &amp; Confidential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5EF89D97-FDD9-E7BA-7861-5DED04A4298B}"/>
              </a:ext>
            </a:extLst>
          </p:cNvPr>
          <p:cNvSpPr>
            <a:spLocks noGrp="1"/>
          </p:cNvSpPr>
          <p:nvPr/>
        </p:nvSpPr>
        <p:spPr>
          <a:xfrm>
            <a:off x="10953750" y="6534150"/>
            <a:ext cx="85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>
            <a:def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E7957204-15A4-3C17-7A9B-A2C730C35F95}"/>
              </a:ext>
            </a:extLst>
          </p:cNvPr>
          <p:cNvGrpSpPr/>
          <p:nvPr/>
        </p:nvGrpSpPr>
        <p:grpSpPr>
          <a:xfrm>
            <a:off x="1430655" y="1420946"/>
            <a:ext cx="9330691" cy="4452051"/>
            <a:chOff x="598835" y="1420946"/>
            <a:chExt cx="9330691" cy="4452051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E94E1FDC-79F9-CD74-264C-4531AF714189}"/>
                </a:ext>
              </a:extLst>
            </p:cNvPr>
            <p:cNvGrpSpPr/>
            <p:nvPr/>
          </p:nvGrpSpPr>
          <p:grpSpPr>
            <a:xfrm>
              <a:off x="598835" y="1420946"/>
              <a:ext cx="4481163" cy="2070314"/>
              <a:chOff x="598837" y="1528232"/>
              <a:chExt cx="4481163" cy="2070314"/>
            </a:xfrm>
          </p:grpSpPr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832F52BE-E0CC-DA82-D625-E46D74E47697}"/>
                  </a:ext>
                </a:extLst>
              </p:cNvPr>
              <p:cNvSpPr/>
              <p:nvPr/>
            </p:nvSpPr>
            <p:spPr>
              <a:xfrm flipH="1">
                <a:off x="598837" y="1528232"/>
                <a:ext cx="4481163" cy="2070314"/>
              </a:xfrm>
              <a:prstGeom prst="roundRect">
                <a:avLst>
                  <a:gd name="adj" fmla="val 1853"/>
                </a:avLst>
              </a:prstGeom>
              <a:solidFill>
                <a:schemeClr val="bg1"/>
              </a:solidFill>
              <a:ln>
                <a:solidFill>
                  <a:schemeClr val="tx1">
                    <a:lumMod val="20000"/>
                    <a:lumOff val="8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H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FA05FA5E-2308-4441-24F6-01251A0D00C8}"/>
                  </a:ext>
                </a:extLst>
              </p:cNvPr>
              <p:cNvGrpSpPr/>
              <p:nvPr/>
            </p:nvGrpSpPr>
            <p:grpSpPr>
              <a:xfrm>
                <a:off x="741370" y="1923007"/>
                <a:ext cx="4196096" cy="1280765"/>
                <a:chOff x="748436" y="1923007"/>
                <a:chExt cx="4196096" cy="1280765"/>
              </a:xfrm>
            </p:grpSpPr>
            <p:pic>
              <p:nvPicPr>
                <p:cNvPr id="15" name="Picture 14" descr="Free User Icon, Symbol. Download in SVG &amp; PNG Formats.">
                  <a:extLst>
                    <a:ext uri="{FF2B5EF4-FFF2-40B4-BE49-F238E27FC236}">
                      <a16:creationId xmlns:a16="http://schemas.microsoft.com/office/drawing/2014/main" id="{766D0C8F-40CE-F91E-A04C-B5B2074CA6C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duotone>
                    <a:schemeClr val="bg2">
                      <a:shade val="45000"/>
                      <a:satMod val="135000"/>
                    </a:schemeClr>
                    <a:prstClr val="white"/>
                  </a:duotone>
                </a:blip>
                <a:stretch>
                  <a:fillRect/>
                </a:stretch>
              </p:blipFill>
              <p:spPr>
                <a:xfrm>
                  <a:off x="748436" y="1923007"/>
                  <a:ext cx="1280765" cy="1280765"/>
                </a:xfrm>
                <a:prstGeom prst="rect">
                  <a:avLst/>
                </a:prstGeom>
              </p:spPr>
            </p:pic>
            <p:grpSp>
              <p:nvGrpSpPr>
                <p:cNvPr id="38" name="Group 37">
                  <a:extLst>
                    <a:ext uri="{FF2B5EF4-FFF2-40B4-BE49-F238E27FC236}">
                      <a16:creationId xmlns:a16="http://schemas.microsoft.com/office/drawing/2014/main" id="{CD1DE19E-A039-844F-5E6F-7B483C82BC8D}"/>
                    </a:ext>
                  </a:extLst>
                </p:cNvPr>
                <p:cNvGrpSpPr/>
                <p:nvPr/>
              </p:nvGrpSpPr>
              <p:grpSpPr>
                <a:xfrm>
                  <a:off x="2029201" y="2034915"/>
                  <a:ext cx="2915331" cy="1056948"/>
                  <a:chOff x="2029201" y="2049733"/>
                  <a:chExt cx="2915331" cy="1056948"/>
                </a:xfrm>
              </p:grpSpPr>
              <p:sp>
                <p:nvSpPr>
                  <p:cNvPr id="21" name="Text Placeholder 6">
                    <a:extLst>
                      <a:ext uri="{FF2B5EF4-FFF2-40B4-BE49-F238E27FC236}">
                        <a16:creationId xmlns:a16="http://schemas.microsoft.com/office/drawing/2014/main" id="{D29CB17F-A873-B6B4-CD96-F27AE03F4D67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2034864" y="2049733"/>
                    <a:ext cx="2909668" cy="434102"/>
                  </a:xfrm>
                  <a:prstGeom prst="rect">
                    <a:avLst/>
                  </a:prstGeom>
                </p:spPr>
                <p:txBody>
                  <a:bodyPr/>
                  <a:lstStyle>
                    <a:lvl1pPr marL="0" indent="0" algn="l" defTabSz="914400" rtl="0" eaLnBrk="1" latinLnBrk="0" hangingPunct="1">
                      <a:lnSpc>
                        <a:spcPct val="90000"/>
                      </a:lnSpc>
                      <a:spcBef>
                        <a:spcPts val="1000"/>
                      </a:spcBef>
                      <a:buFont typeface="Arial" panose="020B0604020202020204" pitchFamily="34" charset="0"/>
                      <a:buNone/>
                      <a:defRPr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indent="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None/>
                      <a:defRPr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indent="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None/>
                      <a:defRPr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indent="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None/>
                      <a:defRPr sz="11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indent="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None/>
                      <a:defRPr sz="11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5146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9718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4290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8862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 typeface="Arial" panose="020B0604020202020204" pitchFamily="34" charset="0"/>
                      <a:buNone/>
                      <a:tabLst/>
                      <a:defRPr/>
                    </a:pPr>
                    <a:r>
                      <a:rPr kumimoji="0" lang="en-US" sz="2800" b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  <a:ea typeface="+mn-ea"/>
                        <a:cs typeface="+mn-cs"/>
                      </a:rPr>
                      <a:t>Product Owner</a:t>
                    </a:r>
                  </a:p>
                </p:txBody>
              </p:sp>
              <p:sp>
                <p:nvSpPr>
                  <p:cNvPr id="29" name="Text Placeholder 6">
                    <a:extLst>
                      <a:ext uri="{FF2B5EF4-FFF2-40B4-BE49-F238E27FC236}">
                        <a16:creationId xmlns:a16="http://schemas.microsoft.com/office/drawing/2014/main" id="{8AB94FD3-2963-D1A9-F7FA-D5AD077A4B00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2034864" y="2483835"/>
                    <a:ext cx="2893247" cy="284765"/>
                  </a:xfrm>
                  <a:prstGeom prst="rect">
                    <a:avLst/>
                  </a:prstGeom>
                </p:spPr>
                <p:txBody>
                  <a:bodyPr/>
                  <a:lstStyle>
                    <a:lvl1pPr marL="0" indent="0" algn="l" defTabSz="914400" rtl="0" eaLnBrk="1" latinLnBrk="0" hangingPunct="1">
                      <a:lnSpc>
                        <a:spcPct val="90000"/>
                      </a:lnSpc>
                      <a:spcBef>
                        <a:spcPts val="1000"/>
                      </a:spcBef>
                      <a:buFont typeface="Arial" panose="020B0604020202020204" pitchFamily="34" charset="0"/>
                      <a:buNone/>
                      <a:defRPr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indent="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None/>
                      <a:defRPr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indent="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None/>
                      <a:defRPr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indent="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None/>
                      <a:defRPr sz="11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indent="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None/>
                      <a:defRPr sz="11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5146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9718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4290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8862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 typeface="Arial" panose="020B0604020202020204" pitchFamily="34" charset="0"/>
                      <a:buNone/>
                      <a:tabLst/>
                      <a:defRPr/>
                    </a:pPr>
                    <a:r>
                      <a:rPr kumimoji="0" lang="en-US" b="0" i="1" strike="noStrike" kern="12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  <a:ea typeface="+mn-ea"/>
                        <a:cs typeface="+mn-cs"/>
                      </a:rPr>
                      <a:t>Clarifies value and orders the backlog</a:t>
                    </a:r>
                  </a:p>
                </p:txBody>
              </p:sp>
              <p:sp>
                <p:nvSpPr>
                  <p:cNvPr id="35" name="Rectangle: Rounded Corners 34">
                    <a:extLst>
                      <a:ext uri="{FF2B5EF4-FFF2-40B4-BE49-F238E27FC236}">
                        <a16:creationId xmlns:a16="http://schemas.microsoft.com/office/drawing/2014/main" id="{7DB7EE2D-4116-7A01-5C0E-1320D2E9F481}"/>
                      </a:ext>
                    </a:extLst>
                  </p:cNvPr>
                  <p:cNvSpPr/>
                  <p:nvPr/>
                </p:nvSpPr>
                <p:spPr>
                  <a:xfrm>
                    <a:off x="2029201" y="2782344"/>
                    <a:ext cx="2767487" cy="324337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3">
                      <a:lumMod val="20000"/>
                      <a:lumOff val="80000"/>
                      <a:alpha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r>
                      <a:rPr lang="en-PH" sz="1100" dirty="0">
                        <a:solidFill>
                          <a:schemeClr val="tx1"/>
                        </a:solidFill>
                      </a:rPr>
                      <a:t>Ex: </a:t>
                    </a:r>
                    <a:r>
                      <a:rPr lang="en-US" sz="1100" dirty="0">
                        <a:solidFill>
                          <a:schemeClr val="tx1"/>
                        </a:solidFill>
                      </a:rPr>
                      <a:t>Confirms which sales measures matter</a:t>
                    </a:r>
                  </a:p>
                </p:txBody>
              </p:sp>
            </p:grpSp>
          </p:grp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3ADD5ED8-B744-A905-64BE-F509D9B72609}"/>
                </a:ext>
              </a:extLst>
            </p:cNvPr>
            <p:cNvGrpSpPr/>
            <p:nvPr/>
          </p:nvGrpSpPr>
          <p:grpSpPr>
            <a:xfrm>
              <a:off x="598836" y="3802683"/>
              <a:ext cx="4481163" cy="2070314"/>
              <a:chOff x="598837" y="1528232"/>
              <a:chExt cx="4481163" cy="2070314"/>
            </a:xfrm>
          </p:grpSpPr>
          <p:sp>
            <p:nvSpPr>
              <p:cNvPr id="52" name="Rectangle: Rounded Corners 51">
                <a:extLst>
                  <a:ext uri="{FF2B5EF4-FFF2-40B4-BE49-F238E27FC236}">
                    <a16:creationId xmlns:a16="http://schemas.microsoft.com/office/drawing/2014/main" id="{DFA7398C-90D1-2D5D-62D0-16FB3525060D}"/>
                  </a:ext>
                </a:extLst>
              </p:cNvPr>
              <p:cNvSpPr/>
              <p:nvPr/>
            </p:nvSpPr>
            <p:spPr>
              <a:xfrm flipH="1">
                <a:off x="598837" y="1528232"/>
                <a:ext cx="4481163" cy="2070314"/>
              </a:xfrm>
              <a:prstGeom prst="roundRect">
                <a:avLst>
                  <a:gd name="adj" fmla="val 1853"/>
                </a:avLst>
              </a:prstGeom>
              <a:solidFill>
                <a:schemeClr val="bg1"/>
              </a:solidFill>
              <a:ln>
                <a:solidFill>
                  <a:schemeClr val="tx1">
                    <a:lumMod val="20000"/>
                    <a:lumOff val="8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H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10A34081-EBF9-CBA1-92AE-0597F5950AD0}"/>
                  </a:ext>
                </a:extLst>
              </p:cNvPr>
              <p:cNvGrpSpPr/>
              <p:nvPr/>
            </p:nvGrpSpPr>
            <p:grpSpPr>
              <a:xfrm>
                <a:off x="741370" y="1923007"/>
                <a:ext cx="4196096" cy="1280765"/>
                <a:chOff x="748436" y="1923007"/>
                <a:chExt cx="4196096" cy="1280765"/>
              </a:xfrm>
            </p:grpSpPr>
            <p:pic>
              <p:nvPicPr>
                <p:cNvPr id="54" name="Picture 53" descr="Free User Icon, Symbol. Download in SVG &amp; PNG Formats.">
                  <a:extLst>
                    <a:ext uri="{FF2B5EF4-FFF2-40B4-BE49-F238E27FC236}">
                      <a16:creationId xmlns:a16="http://schemas.microsoft.com/office/drawing/2014/main" id="{14052C20-E487-F88A-E0FF-E147BF8ED7B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duotone>
                    <a:schemeClr val="bg2">
                      <a:shade val="45000"/>
                      <a:satMod val="135000"/>
                    </a:schemeClr>
                    <a:prstClr val="white"/>
                  </a:duotone>
                </a:blip>
                <a:stretch>
                  <a:fillRect/>
                </a:stretch>
              </p:blipFill>
              <p:spPr>
                <a:xfrm>
                  <a:off x="748436" y="1923007"/>
                  <a:ext cx="1280765" cy="1280765"/>
                </a:xfrm>
                <a:prstGeom prst="rect">
                  <a:avLst/>
                </a:prstGeom>
              </p:spPr>
            </p:pic>
            <p:grpSp>
              <p:nvGrpSpPr>
                <p:cNvPr id="55" name="Group 54">
                  <a:extLst>
                    <a:ext uri="{FF2B5EF4-FFF2-40B4-BE49-F238E27FC236}">
                      <a16:creationId xmlns:a16="http://schemas.microsoft.com/office/drawing/2014/main" id="{D9214065-3BAC-F494-C176-5F843ADCF739}"/>
                    </a:ext>
                  </a:extLst>
                </p:cNvPr>
                <p:cNvGrpSpPr/>
                <p:nvPr/>
              </p:nvGrpSpPr>
              <p:grpSpPr>
                <a:xfrm>
                  <a:off x="2029201" y="2034915"/>
                  <a:ext cx="2915331" cy="1056948"/>
                  <a:chOff x="2029201" y="2049733"/>
                  <a:chExt cx="2915331" cy="1056948"/>
                </a:xfrm>
              </p:grpSpPr>
              <p:sp>
                <p:nvSpPr>
                  <p:cNvPr id="56" name="Text Placeholder 6">
                    <a:extLst>
                      <a:ext uri="{FF2B5EF4-FFF2-40B4-BE49-F238E27FC236}">
                        <a16:creationId xmlns:a16="http://schemas.microsoft.com/office/drawing/2014/main" id="{F5BE4104-8D41-BF77-BCA0-06D82EFB7342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2034864" y="2049733"/>
                    <a:ext cx="2909668" cy="434102"/>
                  </a:xfrm>
                  <a:prstGeom prst="rect">
                    <a:avLst/>
                  </a:prstGeom>
                </p:spPr>
                <p:txBody>
                  <a:bodyPr/>
                  <a:lstStyle>
                    <a:lvl1pPr marL="0" indent="0" algn="l" defTabSz="914400" rtl="0" eaLnBrk="1" latinLnBrk="0" hangingPunct="1">
                      <a:lnSpc>
                        <a:spcPct val="90000"/>
                      </a:lnSpc>
                      <a:spcBef>
                        <a:spcPts val="1000"/>
                      </a:spcBef>
                      <a:buFont typeface="Arial" panose="020B0604020202020204" pitchFamily="34" charset="0"/>
                      <a:buNone/>
                      <a:defRPr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indent="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None/>
                      <a:defRPr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indent="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None/>
                      <a:defRPr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indent="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None/>
                      <a:defRPr sz="11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indent="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None/>
                      <a:defRPr sz="11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5146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9718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4290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8862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 typeface="Arial" panose="020B0604020202020204" pitchFamily="34" charset="0"/>
                      <a:buNone/>
                      <a:tabLst/>
                      <a:defRPr/>
                    </a:pPr>
                    <a:r>
                      <a:rPr kumimoji="0" lang="en-US" sz="2800" b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  <a:ea typeface="+mn-ea"/>
                        <a:cs typeface="+mn-cs"/>
                      </a:rPr>
                      <a:t>Project Manager</a:t>
                    </a:r>
                  </a:p>
                </p:txBody>
              </p:sp>
              <p:sp>
                <p:nvSpPr>
                  <p:cNvPr id="57" name="Text Placeholder 6">
                    <a:extLst>
                      <a:ext uri="{FF2B5EF4-FFF2-40B4-BE49-F238E27FC236}">
                        <a16:creationId xmlns:a16="http://schemas.microsoft.com/office/drawing/2014/main" id="{774255B3-688E-4B98-59E4-B445AB78C7D2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2034864" y="2483835"/>
                    <a:ext cx="2893247" cy="284765"/>
                  </a:xfrm>
                  <a:prstGeom prst="rect">
                    <a:avLst/>
                  </a:prstGeom>
                </p:spPr>
                <p:txBody>
                  <a:bodyPr/>
                  <a:lstStyle>
                    <a:lvl1pPr marL="0" indent="0" algn="l" defTabSz="914400" rtl="0" eaLnBrk="1" latinLnBrk="0" hangingPunct="1">
                      <a:lnSpc>
                        <a:spcPct val="90000"/>
                      </a:lnSpc>
                      <a:spcBef>
                        <a:spcPts val="1000"/>
                      </a:spcBef>
                      <a:buFont typeface="Arial" panose="020B0604020202020204" pitchFamily="34" charset="0"/>
                      <a:buNone/>
                      <a:defRPr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indent="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None/>
                      <a:defRPr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indent="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None/>
                      <a:defRPr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indent="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None/>
                      <a:defRPr sz="11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indent="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None/>
                      <a:defRPr sz="11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5146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9718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4290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8862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 typeface="Arial" panose="020B0604020202020204" pitchFamily="34" charset="0"/>
                      <a:buNone/>
                      <a:tabLst/>
                      <a:defRPr/>
                    </a:pPr>
                    <a:r>
                      <a:rPr kumimoji="0" lang="en-US" b="0" i="1" strike="noStrike" kern="12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  <a:ea typeface="+mn-ea"/>
                        <a:cs typeface="+mn-cs"/>
                      </a:rPr>
                      <a:t>Coordinates schedule, resources and risk</a:t>
                    </a:r>
                  </a:p>
                </p:txBody>
              </p:sp>
              <p:sp>
                <p:nvSpPr>
                  <p:cNvPr id="58" name="Rectangle: Rounded Corners 57">
                    <a:extLst>
                      <a:ext uri="{FF2B5EF4-FFF2-40B4-BE49-F238E27FC236}">
                        <a16:creationId xmlns:a16="http://schemas.microsoft.com/office/drawing/2014/main" id="{BDBC6086-5D49-9893-7B3C-A8EB31FDB397}"/>
                      </a:ext>
                    </a:extLst>
                  </p:cNvPr>
                  <p:cNvSpPr/>
                  <p:nvPr/>
                </p:nvSpPr>
                <p:spPr>
                  <a:xfrm>
                    <a:off x="2029201" y="2782344"/>
                    <a:ext cx="2767487" cy="324337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3">
                      <a:lumMod val="20000"/>
                      <a:lumOff val="80000"/>
                      <a:alpha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r>
                      <a:rPr lang="en-PH" sz="1100" dirty="0">
                        <a:solidFill>
                          <a:schemeClr val="tx1"/>
                        </a:solidFill>
                      </a:rPr>
                      <a:t>Ex: </a:t>
                    </a:r>
                    <a:r>
                      <a:rPr lang="en-US" sz="1100" dirty="0">
                        <a:solidFill>
                          <a:schemeClr val="tx1"/>
                        </a:solidFill>
                      </a:rPr>
                      <a:t>Tracks access dependencies</a:t>
                    </a:r>
                  </a:p>
                </p:txBody>
              </p:sp>
            </p:grpSp>
          </p:grpSp>
        </p:grp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32B0B31C-CA82-A594-02C5-419634CD551C}"/>
                </a:ext>
              </a:extLst>
            </p:cNvPr>
            <p:cNvGrpSpPr/>
            <p:nvPr/>
          </p:nvGrpSpPr>
          <p:grpSpPr>
            <a:xfrm>
              <a:off x="5448363" y="1420946"/>
              <a:ext cx="4481163" cy="2070314"/>
              <a:chOff x="598837" y="1528232"/>
              <a:chExt cx="4481163" cy="2070314"/>
            </a:xfrm>
          </p:grpSpPr>
          <p:sp>
            <p:nvSpPr>
              <p:cNvPr id="60" name="Rectangle: Rounded Corners 59">
                <a:extLst>
                  <a:ext uri="{FF2B5EF4-FFF2-40B4-BE49-F238E27FC236}">
                    <a16:creationId xmlns:a16="http://schemas.microsoft.com/office/drawing/2014/main" id="{FA960E6E-631F-E641-EEF4-7376BF5EB32F}"/>
                  </a:ext>
                </a:extLst>
              </p:cNvPr>
              <p:cNvSpPr/>
              <p:nvPr/>
            </p:nvSpPr>
            <p:spPr>
              <a:xfrm flipH="1">
                <a:off x="598837" y="1528232"/>
                <a:ext cx="4481163" cy="2070314"/>
              </a:xfrm>
              <a:prstGeom prst="roundRect">
                <a:avLst>
                  <a:gd name="adj" fmla="val 1853"/>
                </a:avLst>
              </a:prstGeom>
              <a:solidFill>
                <a:schemeClr val="bg1"/>
              </a:solidFill>
              <a:ln>
                <a:solidFill>
                  <a:schemeClr val="tx1">
                    <a:lumMod val="20000"/>
                    <a:lumOff val="8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H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3852CEAC-0246-1C07-954F-6DDD6F3E6B07}"/>
                  </a:ext>
                </a:extLst>
              </p:cNvPr>
              <p:cNvGrpSpPr/>
              <p:nvPr/>
            </p:nvGrpSpPr>
            <p:grpSpPr>
              <a:xfrm>
                <a:off x="741370" y="1923007"/>
                <a:ext cx="4196096" cy="1280765"/>
                <a:chOff x="748436" y="1923007"/>
                <a:chExt cx="4196096" cy="1280765"/>
              </a:xfrm>
            </p:grpSpPr>
            <p:pic>
              <p:nvPicPr>
                <p:cNvPr id="62" name="Picture 61" descr="Free User Icon, Symbol. Download in SVG &amp; PNG Formats.">
                  <a:extLst>
                    <a:ext uri="{FF2B5EF4-FFF2-40B4-BE49-F238E27FC236}">
                      <a16:creationId xmlns:a16="http://schemas.microsoft.com/office/drawing/2014/main" id="{73250A95-4586-DC82-DFF9-D7F548012E9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duotone>
                    <a:schemeClr val="bg2">
                      <a:shade val="45000"/>
                      <a:satMod val="135000"/>
                    </a:schemeClr>
                    <a:prstClr val="white"/>
                  </a:duotone>
                </a:blip>
                <a:stretch>
                  <a:fillRect/>
                </a:stretch>
              </p:blipFill>
              <p:spPr>
                <a:xfrm>
                  <a:off x="748436" y="1923007"/>
                  <a:ext cx="1280765" cy="1280765"/>
                </a:xfrm>
                <a:prstGeom prst="rect">
                  <a:avLst/>
                </a:prstGeom>
              </p:spPr>
            </p:pic>
            <p:grpSp>
              <p:nvGrpSpPr>
                <p:cNvPr id="63" name="Group 62">
                  <a:extLst>
                    <a:ext uri="{FF2B5EF4-FFF2-40B4-BE49-F238E27FC236}">
                      <a16:creationId xmlns:a16="http://schemas.microsoft.com/office/drawing/2014/main" id="{06D6F97E-B153-270B-3E51-89CD0469B9E8}"/>
                    </a:ext>
                  </a:extLst>
                </p:cNvPr>
                <p:cNvGrpSpPr/>
                <p:nvPr/>
              </p:nvGrpSpPr>
              <p:grpSpPr>
                <a:xfrm>
                  <a:off x="2029201" y="2034915"/>
                  <a:ext cx="2915331" cy="1056948"/>
                  <a:chOff x="2029201" y="2049733"/>
                  <a:chExt cx="2915331" cy="1056948"/>
                </a:xfrm>
              </p:grpSpPr>
              <p:sp>
                <p:nvSpPr>
                  <p:cNvPr id="64" name="Text Placeholder 6">
                    <a:extLst>
                      <a:ext uri="{FF2B5EF4-FFF2-40B4-BE49-F238E27FC236}">
                        <a16:creationId xmlns:a16="http://schemas.microsoft.com/office/drawing/2014/main" id="{E475E68E-26C0-5318-757C-5E70F8B71BA4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2034864" y="2049733"/>
                    <a:ext cx="2909668" cy="434102"/>
                  </a:xfrm>
                  <a:prstGeom prst="rect">
                    <a:avLst/>
                  </a:prstGeom>
                </p:spPr>
                <p:txBody>
                  <a:bodyPr/>
                  <a:lstStyle>
                    <a:lvl1pPr marL="0" indent="0" algn="l" defTabSz="914400" rtl="0" eaLnBrk="1" latinLnBrk="0" hangingPunct="1">
                      <a:lnSpc>
                        <a:spcPct val="90000"/>
                      </a:lnSpc>
                      <a:spcBef>
                        <a:spcPts val="1000"/>
                      </a:spcBef>
                      <a:buFont typeface="Arial" panose="020B0604020202020204" pitchFamily="34" charset="0"/>
                      <a:buNone/>
                      <a:defRPr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indent="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None/>
                      <a:defRPr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indent="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None/>
                      <a:defRPr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indent="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None/>
                      <a:defRPr sz="11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indent="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None/>
                      <a:defRPr sz="11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5146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9718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4290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8862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 typeface="Arial" panose="020B0604020202020204" pitchFamily="34" charset="0"/>
                      <a:buNone/>
                      <a:tabLst/>
                      <a:defRPr/>
                    </a:pPr>
                    <a:r>
                      <a:rPr kumimoji="0" lang="en-US" sz="2800" b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  <a:ea typeface="+mn-ea"/>
                        <a:cs typeface="+mn-cs"/>
                      </a:rPr>
                      <a:t>Scrum Master</a:t>
                    </a:r>
                  </a:p>
                </p:txBody>
              </p:sp>
              <p:sp>
                <p:nvSpPr>
                  <p:cNvPr id="65" name="Text Placeholder 6">
                    <a:extLst>
                      <a:ext uri="{FF2B5EF4-FFF2-40B4-BE49-F238E27FC236}">
                        <a16:creationId xmlns:a16="http://schemas.microsoft.com/office/drawing/2014/main" id="{841F6ECE-DCC8-43B0-B87D-FE7E1CB3CDB5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2034864" y="2483835"/>
                    <a:ext cx="2893247" cy="284765"/>
                  </a:xfrm>
                  <a:prstGeom prst="rect">
                    <a:avLst/>
                  </a:prstGeom>
                </p:spPr>
                <p:txBody>
                  <a:bodyPr/>
                  <a:lstStyle>
                    <a:lvl1pPr marL="0" indent="0" algn="l" defTabSz="914400" rtl="0" eaLnBrk="1" latinLnBrk="0" hangingPunct="1">
                      <a:lnSpc>
                        <a:spcPct val="90000"/>
                      </a:lnSpc>
                      <a:spcBef>
                        <a:spcPts val="1000"/>
                      </a:spcBef>
                      <a:buFont typeface="Arial" panose="020B0604020202020204" pitchFamily="34" charset="0"/>
                      <a:buNone/>
                      <a:defRPr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indent="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None/>
                      <a:defRPr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indent="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None/>
                      <a:defRPr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indent="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None/>
                      <a:defRPr sz="11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indent="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None/>
                      <a:defRPr sz="11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5146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9718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4290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8862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 typeface="Arial" panose="020B0604020202020204" pitchFamily="34" charset="0"/>
                      <a:buNone/>
                      <a:tabLst/>
                      <a:defRPr/>
                    </a:pPr>
                    <a:r>
                      <a:rPr kumimoji="0" lang="en-US" b="0" i="1" strike="noStrike" kern="12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  <a:ea typeface="+mn-ea"/>
                        <a:cs typeface="+mn-cs"/>
                      </a:rPr>
                      <a:t>Supports collaboration and improvement</a:t>
                    </a:r>
                  </a:p>
                </p:txBody>
              </p:sp>
              <p:sp>
                <p:nvSpPr>
                  <p:cNvPr id="66" name="Rectangle: Rounded Corners 65">
                    <a:extLst>
                      <a:ext uri="{FF2B5EF4-FFF2-40B4-BE49-F238E27FC236}">
                        <a16:creationId xmlns:a16="http://schemas.microsoft.com/office/drawing/2014/main" id="{14E2B5CB-4714-4240-0EB2-8BDBD25DED6A}"/>
                      </a:ext>
                    </a:extLst>
                  </p:cNvPr>
                  <p:cNvSpPr/>
                  <p:nvPr/>
                </p:nvSpPr>
                <p:spPr>
                  <a:xfrm>
                    <a:off x="2029201" y="2782344"/>
                    <a:ext cx="2767487" cy="324337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3">
                      <a:lumMod val="20000"/>
                      <a:lumOff val="80000"/>
                      <a:alpha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r>
                      <a:rPr lang="en-PH" sz="1100" dirty="0">
                        <a:solidFill>
                          <a:schemeClr val="tx1"/>
                        </a:solidFill>
                      </a:rPr>
                      <a:t>Ex: </a:t>
                    </a:r>
                    <a:r>
                      <a:rPr lang="en-US" sz="1100" dirty="0">
                        <a:solidFill>
                          <a:schemeClr val="tx1"/>
                        </a:solidFill>
                      </a:rPr>
                      <a:t>Helps remove recurring impediments</a:t>
                    </a:r>
                  </a:p>
                </p:txBody>
              </p:sp>
            </p:grpSp>
          </p:grpSp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76714B4E-4BE4-C8D3-04D9-059B0DF86240}"/>
                </a:ext>
              </a:extLst>
            </p:cNvPr>
            <p:cNvGrpSpPr/>
            <p:nvPr/>
          </p:nvGrpSpPr>
          <p:grpSpPr>
            <a:xfrm>
              <a:off x="5448363" y="3802683"/>
              <a:ext cx="4481163" cy="2070314"/>
              <a:chOff x="598837" y="1528232"/>
              <a:chExt cx="4481163" cy="2070314"/>
            </a:xfrm>
          </p:grpSpPr>
          <p:sp>
            <p:nvSpPr>
              <p:cNvPr id="68" name="Rectangle: Rounded Corners 67">
                <a:extLst>
                  <a:ext uri="{FF2B5EF4-FFF2-40B4-BE49-F238E27FC236}">
                    <a16:creationId xmlns:a16="http://schemas.microsoft.com/office/drawing/2014/main" id="{92EDF465-B598-078D-0919-EF7A1025D6C4}"/>
                  </a:ext>
                </a:extLst>
              </p:cNvPr>
              <p:cNvSpPr/>
              <p:nvPr/>
            </p:nvSpPr>
            <p:spPr>
              <a:xfrm flipH="1">
                <a:off x="598837" y="1528232"/>
                <a:ext cx="4481163" cy="2070314"/>
              </a:xfrm>
              <a:prstGeom prst="roundRect">
                <a:avLst>
                  <a:gd name="adj" fmla="val 1853"/>
                </a:avLst>
              </a:prstGeom>
              <a:solidFill>
                <a:schemeClr val="bg1"/>
              </a:solidFill>
              <a:ln>
                <a:solidFill>
                  <a:schemeClr val="tx1">
                    <a:lumMod val="20000"/>
                    <a:lumOff val="8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H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grpSp>
            <p:nvGrpSpPr>
              <p:cNvPr id="69" name="Group 68">
                <a:extLst>
                  <a:ext uri="{FF2B5EF4-FFF2-40B4-BE49-F238E27FC236}">
                    <a16:creationId xmlns:a16="http://schemas.microsoft.com/office/drawing/2014/main" id="{3A06D5B2-D8B9-AB11-62F7-957624C1E254}"/>
                  </a:ext>
                </a:extLst>
              </p:cNvPr>
              <p:cNvGrpSpPr/>
              <p:nvPr/>
            </p:nvGrpSpPr>
            <p:grpSpPr>
              <a:xfrm>
                <a:off x="741370" y="1923007"/>
                <a:ext cx="4196096" cy="1280765"/>
                <a:chOff x="748436" y="1923007"/>
                <a:chExt cx="4196096" cy="1280765"/>
              </a:xfrm>
            </p:grpSpPr>
            <p:pic>
              <p:nvPicPr>
                <p:cNvPr id="70" name="Picture 69" descr="Free User Icon, Symbol. Download in SVG &amp; PNG Formats.">
                  <a:extLst>
                    <a:ext uri="{FF2B5EF4-FFF2-40B4-BE49-F238E27FC236}">
                      <a16:creationId xmlns:a16="http://schemas.microsoft.com/office/drawing/2014/main" id="{58588E59-FDF9-1117-DD74-1C57EE8BD62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duotone>
                    <a:schemeClr val="bg2">
                      <a:shade val="45000"/>
                      <a:satMod val="135000"/>
                    </a:schemeClr>
                    <a:prstClr val="white"/>
                  </a:duotone>
                </a:blip>
                <a:stretch>
                  <a:fillRect/>
                </a:stretch>
              </p:blipFill>
              <p:spPr>
                <a:xfrm>
                  <a:off x="748436" y="1923007"/>
                  <a:ext cx="1280765" cy="1280765"/>
                </a:xfrm>
                <a:prstGeom prst="rect">
                  <a:avLst/>
                </a:prstGeom>
              </p:spPr>
            </p:pic>
            <p:grpSp>
              <p:nvGrpSpPr>
                <p:cNvPr id="71" name="Group 70">
                  <a:extLst>
                    <a:ext uri="{FF2B5EF4-FFF2-40B4-BE49-F238E27FC236}">
                      <a16:creationId xmlns:a16="http://schemas.microsoft.com/office/drawing/2014/main" id="{3278E946-1DA0-F11A-F9D1-BFB70DE8DDDF}"/>
                    </a:ext>
                  </a:extLst>
                </p:cNvPr>
                <p:cNvGrpSpPr/>
                <p:nvPr/>
              </p:nvGrpSpPr>
              <p:grpSpPr>
                <a:xfrm>
                  <a:off x="2029201" y="2034915"/>
                  <a:ext cx="2915331" cy="1056948"/>
                  <a:chOff x="2029201" y="2049733"/>
                  <a:chExt cx="2915331" cy="1056948"/>
                </a:xfrm>
              </p:grpSpPr>
              <p:sp>
                <p:nvSpPr>
                  <p:cNvPr id="72" name="Text Placeholder 6">
                    <a:extLst>
                      <a:ext uri="{FF2B5EF4-FFF2-40B4-BE49-F238E27FC236}">
                        <a16:creationId xmlns:a16="http://schemas.microsoft.com/office/drawing/2014/main" id="{834D418F-5981-E333-5EAB-4D5CC3AB2F5B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2034864" y="2049733"/>
                    <a:ext cx="2909668" cy="434102"/>
                  </a:xfrm>
                  <a:prstGeom prst="rect">
                    <a:avLst/>
                  </a:prstGeom>
                </p:spPr>
                <p:txBody>
                  <a:bodyPr/>
                  <a:lstStyle>
                    <a:lvl1pPr marL="0" indent="0" algn="l" defTabSz="914400" rtl="0" eaLnBrk="1" latinLnBrk="0" hangingPunct="1">
                      <a:lnSpc>
                        <a:spcPct val="90000"/>
                      </a:lnSpc>
                      <a:spcBef>
                        <a:spcPts val="1000"/>
                      </a:spcBef>
                      <a:buFont typeface="Arial" panose="020B0604020202020204" pitchFamily="34" charset="0"/>
                      <a:buNone/>
                      <a:defRPr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indent="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None/>
                      <a:defRPr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indent="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None/>
                      <a:defRPr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indent="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None/>
                      <a:defRPr sz="11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indent="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None/>
                      <a:defRPr sz="11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5146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9718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4290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8862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 typeface="Arial" panose="020B0604020202020204" pitchFamily="34" charset="0"/>
                      <a:buNone/>
                      <a:tabLst/>
                      <a:defRPr/>
                    </a:pPr>
                    <a:r>
                      <a:rPr kumimoji="0" lang="en-US" sz="2800" b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  <a:ea typeface="+mn-ea"/>
                        <a:cs typeface="+mn-cs"/>
                      </a:rPr>
                      <a:t>Stakeholder</a:t>
                    </a:r>
                  </a:p>
                </p:txBody>
              </p:sp>
              <p:sp>
                <p:nvSpPr>
                  <p:cNvPr id="73" name="Text Placeholder 6">
                    <a:extLst>
                      <a:ext uri="{FF2B5EF4-FFF2-40B4-BE49-F238E27FC236}">
                        <a16:creationId xmlns:a16="http://schemas.microsoft.com/office/drawing/2014/main" id="{2F4FA4F7-263C-A522-F126-44F9B266B2C6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2034864" y="2483835"/>
                    <a:ext cx="2893247" cy="284765"/>
                  </a:xfrm>
                  <a:prstGeom prst="rect">
                    <a:avLst/>
                  </a:prstGeom>
                </p:spPr>
                <p:txBody>
                  <a:bodyPr/>
                  <a:lstStyle>
                    <a:lvl1pPr marL="0" indent="0" algn="l" defTabSz="914400" rtl="0" eaLnBrk="1" latinLnBrk="0" hangingPunct="1">
                      <a:lnSpc>
                        <a:spcPct val="90000"/>
                      </a:lnSpc>
                      <a:spcBef>
                        <a:spcPts val="1000"/>
                      </a:spcBef>
                      <a:buFont typeface="Arial" panose="020B0604020202020204" pitchFamily="34" charset="0"/>
                      <a:buNone/>
                      <a:defRPr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indent="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None/>
                      <a:defRPr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indent="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None/>
                      <a:defRPr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indent="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None/>
                      <a:defRPr sz="11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indent="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None/>
                      <a:defRPr sz="11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5146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9718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4290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8862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 typeface="Arial" panose="020B0604020202020204" pitchFamily="34" charset="0"/>
                      <a:buNone/>
                      <a:tabLst/>
                      <a:defRPr/>
                    </a:pPr>
                    <a:r>
                      <a:rPr kumimoji="0" lang="en-US" b="0" i="1" strike="noStrike" kern="12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  <a:ea typeface="+mn-ea"/>
                        <a:cs typeface="+mn-cs"/>
                      </a:rPr>
                      <a:t>Explains rules and evaluates usefulness</a:t>
                    </a:r>
                  </a:p>
                </p:txBody>
              </p:sp>
              <p:sp>
                <p:nvSpPr>
                  <p:cNvPr id="74" name="Rectangle: Rounded Corners 73">
                    <a:extLst>
                      <a:ext uri="{FF2B5EF4-FFF2-40B4-BE49-F238E27FC236}">
                        <a16:creationId xmlns:a16="http://schemas.microsoft.com/office/drawing/2014/main" id="{D2E73DFC-6D8F-DE5E-FD7A-8780B762EBEC}"/>
                      </a:ext>
                    </a:extLst>
                  </p:cNvPr>
                  <p:cNvSpPr/>
                  <p:nvPr/>
                </p:nvSpPr>
                <p:spPr>
                  <a:xfrm>
                    <a:off x="2029201" y="2782344"/>
                    <a:ext cx="2767487" cy="324337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3">
                      <a:lumMod val="20000"/>
                      <a:lumOff val="80000"/>
                      <a:alpha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r>
                      <a:rPr lang="en-PH" sz="1100" dirty="0">
                        <a:solidFill>
                          <a:schemeClr val="tx1"/>
                        </a:solidFill>
                      </a:rPr>
                      <a:t>Ex: </a:t>
                    </a:r>
                    <a:r>
                      <a:rPr lang="en-US" sz="1100" dirty="0">
                        <a:solidFill>
                          <a:schemeClr val="tx1"/>
                        </a:solidFill>
                      </a:rPr>
                      <a:t>Defines which orders count as sales</a:t>
                    </a:r>
                  </a:p>
                </p:txBody>
              </p:sp>
            </p:grpSp>
          </p:grpSp>
        </p:grpSp>
      </p:grpSp>
    </p:spTree>
    <p:extLst>
      <p:ext uri="{BB962C8B-B14F-4D97-AF65-F5344CB8AC3E}">
        <p14:creationId xmlns:p14="http://schemas.microsoft.com/office/powerpoint/2010/main" val="29550273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115EF-A70D-0728-B6B3-BC2116B8B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">
            <a:extLst>
              <a:ext uri="{FF2B5EF4-FFF2-40B4-BE49-F238E27FC236}">
                <a16:creationId xmlns:a16="http://schemas.microsoft.com/office/drawing/2014/main" id="{7F3E9C01-3253-3AE7-CF5B-CAA2F997F277}"/>
              </a:ext>
            </a:extLst>
          </p:cNvPr>
          <p:cNvSpPr>
            <a:spLocks noGrp="1"/>
          </p:cNvSpPr>
          <p:nvPr/>
        </p:nvSpPr>
        <p:spPr>
          <a:xfrm>
            <a:off x="405003" y="276701"/>
            <a:ext cx="1138999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lang="en-US" sz="360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Project Roles: Engineering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1381BEBD-5C4A-0AE1-0CA8-6DE2E411696E}"/>
              </a:ext>
            </a:extLst>
          </p:cNvPr>
          <p:cNvSpPr>
            <a:spLocks noGrp="1"/>
          </p:cNvSpPr>
          <p:nvPr/>
        </p:nvSpPr>
        <p:spPr>
          <a:xfrm>
            <a:off x="4027837" y="6534150"/>
            <a:ext cx="411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©2026 3Cloud, Proprietary &amp; Confidential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30BB07D7-071C-A325-3E8E-16A957011A0E}"/>
              </a:ext>
            </a:extLst>
          </p:cNvPr>
          <p:cNvSpPr>
            <a:spLocks noGrp="1"/>
          </p:cNvSpPr>
          <p:nvPr/>
        </p:nvSpPr>
        <p:spPr>
          <a:xfrm>
            <a:off x="10953750" y="6534150"/>
            <a:ext cx="85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>
            <a:def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CAE16584-B114-76B5-7AF7-0D9B469A3D16}"/>
              </a:ext>
            </a:extLst>
          </p:cNvPr>
          <p:cNvGrpSpPr/>
          <p:nvPr/>
        </p:nvGrpSpPr>
        <p:grpSpPr>
          <a:xfrm>
            <a:off x="371091" y="1874520"/>
            <a:ext cx="11449816" cy="3108960"/>
            <a:chOff x="371091" y="2267496"/>
            <a:chExt cx="11449816" cy="310896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38D45DCF-877E-B1D4-E5B5-43666AB346A5}"/>
                </a:ext>
              </a:extLst>
            </p:cNvPr>
            <p:cNvSpPr/>
            <p:nvPr/>
          </p:nvSpPr>
          <p:spPr>
            <a:xfrm flipH="1">
              <a:off x="371091" y="2267497"/>
              <a:ext cx="2088053" cy="3108959"/>
            </a:xfrm>
            <a:prstGeom prst="roundRect">
              <a:avLst>
                <a:gd name="adj" fmla="val 1853"/>
              </a:avLst>
            </a:prstGeom>
            <a:solidFill>
              <a:schemeClr val="bg1"/>
            </a:solidFill>
            <a:ln>
              <a:solidFill>
                <a:schemeClr val="tx1">
                  <a:lumMod val="20000"/>
                  <a:lumOff val="8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H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pic>
          <p:nvPicPr>
            <p:cNvPr id="15" name="Picture 14" descr="Free User Icon, Symbol. Download in SVG &amp; PNG Formats.">
              <a:extLst>
                <a:ext uri="{FF2B5EF4-FFF2-40B4-BE49-F238E27FC236}">
                  <a16:creationId xmlns:a16="http://schemas.microsoft.com/office/drawing/2014/main" id="{BA24ED9E-A7DF-05F8-4489-AE0BD149EC3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09038" y="2424866"/>
              <a:ext cx="1031473" cy="1031474"/>
            </a:xfrm>
            <a:prstGeom prst="rect">
              <a:avLst/>
            </a:prstGeom>
          </p:spPr>
        </p:pic>
        <p:sp>
          <p:nvSpPr>
            <p:cNvPr id="21" name="Text Placeholder 6">
              <a:extLst>
                <a:ext uri="{FF2B5EF4-FFF2-40B4-BE49-F238E27FC236}">
                  <a16:creationId xmlns:a16="http://schemas.microsoft.com/office/drawing/2014/main" id="{13A868CA-F025-96E3-F69E-4516EA092DB6}"/>
                </a:ext>
              </a:extLst>
            </p:cNvPr>
            <p:cNvSpPr txBox="1">
              <a:spLocks/>
            </p:cNvSpPr>
            <p:nvPr/>
          </p:nvSpPr>
          <p:spPr>
            <a:xfrm>
              <a:off x="492833" y="3569656"/>
              <a:ext cx="1825261" cy="349607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400" b="1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ea typeface="+mn-ea"/>
                  <a:cs typeface="+mn-cs"/>
                </a:rPr>
                <a:t>Architect / Tech Lead</a:t>
              </a:r>
            </a:p>
          </p:txBody>
        </p:sp>
        <p:sp>
          <p:nvSpPr>
            <p:cNvPr id="29" name="Text Placeholder 6">
              <a:extLst>
                <a:ext uri="{FF2B5EF4-FFF2-40B4-BE49-F238E27FC236}">
                  <a16:creationId xmlns:a16="http://schemas.microsoft.com/office/drawing/2014/main" id="{3FDE120E-060B-74D5-F04E-A64F71F87F4B}"/>
                </a:ext>
              </a:extLst>
            </p:cNvPr>
            <p:cNvSpPr txBox="1">
              <a:spLocks/>
            </p:cNvSpPr>
            <p:nvPr/>
          </p:nvSpPr>
          <p:spPr>
            <a:xfrm>
              <a:off x="512143" y="4172527"/>
              <a:ext cx="1825261" cy="422633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b="0" i="1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+mn-ea"/>
                  <a:cs typeface="+mn-cs"/>
                </a:rPr>
                <a:t>Guides architecture, standards and technical decisions</a:t>
              </a:r>
            </a:p>
          </p:txBody>
        </p:sp>
        <p:sp>
          <p:nvSpPr>
            <p:cNvPr id="147" name="Rectangle: Rounded Corners 146">
              <a:extLst>
                <a:ext uri="{FF2B5EF4-FFF2-40B4-BE49-F238E27FC236}">
                  <a16:creationId xmlns:a16="http://schemas.microsoft.com/office/drawing/2014/main" id="{3D25B856-6433-96B7-CBAD-5AA86B3F8CE9}"/>
                </a:ext>
              </a:extLst>
            </p:cNvPr>
            <p:cNvSpPr/>
            <p:nvPr/>
          </p:nvSpPr>
          <p:spPr>
            <a:xfrm flipH="1">
              <a:off x="9732854" y="2267497"/>
              <a:ext cx="2088053" cy="3108959"/>
            </a:xfrm>
            <a:prstGeom prst="roundRect">
              <a:avLst>
                <a:gd name="adj" fmla="val 1853"/>
              </a:avLst>
            </a:prstGeom>
            <a:solidFill>
              <a:schemeClr val="bg1"/>
            </a:solidFill>
            <a:ln>
              <a:solidFill>
                <a:schemeClr val="tx1">
                  <a:lumMod val="20000"/>
                  <a:lumOff val="8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H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pic>
          <p:nvPicPr>
            <p:cNvPr id="149" name="Picture 148" descr="Free User Icon, Symbol. Download in SVG &amp; PNG Formats.">
              <a:extLst>
                <a:ext uri="{FF2B5EF4-FFF2-40B4-BE49-F238E27FC236}">
                  <a16:creationId xmlns:a16="http://schemas.microsoft.com/office/drawing/2014/main" id="{B079C821-A79A-9E49-E52D-9C4491EBF22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0270801" y="2424866"/>
              <a:ext cx="1031473" cy="1031474"/>
            </a:xfrm>
            <a:prstGeom prst="rect">
              <a:avLst/>
            </a:prstGeom>
          </p:spPr>
        </p:pic>
        <p:sp>
          <p:nvSpPr>
            <p:cNvPr id="151" name="Text Placeholder 6">
              <a:extLst>
                <a:ext uri="{FF2B5EF4-FFF2-40B4-BE49-F238E27FC236}">
                  <a16:creationId xmlns:a16="http://schemas.microsoft.com/office/drawing/2014/main" id="{CDE18202-A276-1FBA-EF3D-3689750E8AF7}"/>
                </a:ext>
              </a:extLst>
            </p:cNvPr>
            <p:cNvSpPr txBox="1">
              <a:spLocks/>
            </p:cNvSpPr>
            <p:nvPr/>
          </p:nvSpPr>
          <p:spPr>
            <a:xfrm>
              <a:off x="9854596" y="3569656"/>
              <a:ext cx="1825261" cy="349607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en-PH" sz="1400" b="1" dirty="0">
                  <a:solidFill>
                    <a:schemeClr val="accent1"/>
                  </a:solidFill>
                </a:rPr>
                <a:t>I</a:t>
              </a:r>
              <a:r>
                <a:rPr lang="en-US" sz="1400" b="1" dirty="0" err="1">
                  <a:solidFill>
                    <a:schemeClr val="accent1"/>
                  </a:solidFill>
                </a:rPr>
                <a:t>ntern</a:t>
              </a:r>
              <a:endParaRPr kumimoji="0" lang="en-US" sz="1400" b="1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52" name="Text Placeholder 6">
              <a:extLst>
                <a:ext uri="{FF2B5EF4-FFF2-40B4-BE49-F238E27FC236}">
                  <a16:creationId xmlns:a16="http://schemas.microsoft.com/office/drawing/2014/main" id="{28D4CEF9-840F-85B4-77B7-8BB0FC577B71}"/>
                </a:ext>
              </a:extLst>
            </p:cNvPr>
            <p:cNvSpPr txBox="1">
              <a:spLocks/>
            </p:cNvSpPr>
            <p:nvPr/>
          </p:nvSpPr>
          <p:spPr>
            <a:xfrm>
              <a:off x="9873906" y="4172527"/>
              <a:ext cx="1825261" cy="422633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b="0" i="1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+mn-ea"/>
                  <a:cs typeface="+mn-cs"/>
                </a:rPr>
                <a:t>Learns through supervised contributions</a:t>
              </a:r>
            </a:p>
          </p:txBody>
        </p:sp>
        <p:sp>
          <p:nvSpPr>
            <p:cNvPr id="154" name="Rectangle: Rounded Corners 153">
              <a:extLst>
                <a:ext uri="{FF2B5EF4-FFF2-40B4-BE49-F238E27FC236}">
                  <a16:creationId xmlns:a16="http://schemas.microsoft.com/office/drawing/2014/main" id="{83308737-7612-2EA8-7ED6-9602950A3BF2}"/>
                </a:ext>
              </a:extLst>
            </p:cNvPr>
            <p:cNvSpPr/>
            <p:nvPr/>
          </p:nvSpPr>
          <p:spPr>
            <a:xfrm flipH="1">
              <a:off x="2711533" y="2267496"/>
              <a:ext cx="2088053" cy="3108960"/>
            </a:xfrm>
            <a:prstGeom prst="roundRect">
              <a:avLst>
                <a:gd name="adj" fmla="val 1853"/>
              </a:avLst>
            </a:prstGeom>
            <a:solidFill>
              <a:schemeClr val="bg1"/>
            </a:solidFill>
            <a:ln>
              <a:solidFill>
                <a:schemeClr val="tx1">
                  <a:lumMod val="20000"/>
                  <a:lumOff val="8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H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pic>
          <p:nvPicPr>
            <p:cNvPr id="156" name="Picture 155" descr="Free User Icon, Symbol. Download in SVG &amp; PNG Formats.">
              <a:extLst>
                <a:ext uri="{FF2B5EF4-FFF2-40B4-BE49-F238E27FC236}">
                  <a16:creationId xmlns:a16="http://schemas.microsoft.com/office/drawing/2014/main" id="{E74EC894-080A-4F0D-D3A0-EB162F3F44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3249479" y="2424866"/>
              <a:ext cx="1031473" cy="1031474"/>
            </a:xfrm>
            <a:prstGeom prst="rect">
              <a:avLst/>
            </a:prstGeom>
          </p:spPr>
        </p:pic>
        <p:sp>
          <p:nvSpPr>
            <p:cNvPr id="158" name="Text Placeholder 6">
              <a:extLst>
                <a:ext uri="{FF2B5EF4-FFF2-40B4-BE49-F238E27FC236}">
                  <a16:creationId xmlns:a16="http://schemas.microsoft.com/office/drawing/2014/main" id="{02A1CBD6-2F14-5C2E-D21A-F51717199E7D}"/>
                </a:ext>
              </a:extLst>
            </p:cNvPr>
            <p:cNvSpPr txBox="1">
              <a:spLocks/>
            </p:cNvSpPr>
            <p:nvPr/>
          </p:nvSpPr>
          <p:spPr>
            <a:xfrm>
              <a:off x="2833274" y="3569656"/>
              <a:ext cx="1825261" cy="602871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400" b="1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ea typeface="+mn-ea"/>
                  <a:cs typeface="+mn-cs"/>
                </a:rPr>
                <a:t>Data / Engineering Manager</a:t>
              </a:r>
            </a:p>
          </p:txBody>
        </p:sp>
        <p:sp>
          <p:nvSpPr>
            <p:cNvPr id="159" name="Text Placeholder 6">
              <a:extLst>
                <a:ext uri="{FF2B5EF4-FFF2-40B4-BE49-F238E27FC236}">
                  <a16:creationId xmlns:a16="http://schemas.microsoft.com/office/drawing/2014/main" id="{B749980B-D3B5-415A-E4C1-A58417B0B712}"/>
                </a:ext>
              </a:extLst>
            </p:cNvPr>
            <p:cNvSpPr txBox="1">
              <a:spLocks/>
            </p:cNvSpPr>
            <p:nvPr/>
          </p:nvSpPr>
          <p:spPr>
            <a:xfrm>
              <a:off x="2852584" y="4172527"/>
              <a:ext cx="1825261" cy="422633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b="0" i="1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+mn-ea"/>
                  <a:cs typeface="+mn-cs"/>
                </a:rPr>
                <a:t>Supports staffing, people and engineering capability</a:t>
              </a:r>
            </a:p>
          </p:txBody>
        </p:sp>
        <p:sp>
          <p:nvSpPr>
            <p:cNvPr id="161" name="Rectangle: Rounded Corners 160">
              <a:extLst>
                <a:ext uri="{FF2B5EF4-FFF2-40B4-BE49-F238E27FC236}">
                  <a16:creationId xmlns:a16="http://schemas.microsoft.com/office/drawing/2014/main" id="{C14C20F0-A83B-369D-D0DD-87684C39B04A}"/>
                </a:ext>
              </a:extLst>
            </p:cNvPr>
            <p:cNvSpPr/>
            <p:nvPr/>
          </p:nvSpPr>
          <p:spPr>
            <a:xfrm flipH="1">
              <a:off x="5051973" y="2267497"/>
              <a:ext cx="2088053" cy="3108959"/>
            </a:xfrm>
            <a:prstGeom prst="roundRect">
              <a:avLst>
                <a:gd name="adj" fmla="val 1853"/>
              </a:avLst>
            </a:prstGeom>
            <a:solidFill>
              <a:schemeClr val="bg1"/>
            </a:solidFill>
            <a:ln>
              <a:solidFill>
                <a:schemeClr val="tx1">
                  <a:lumMod val="20000"/>
                  <a:lumOff val="8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H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pic>
          <p:nvPicPr>
            <p:cNvPr id="163" name="Picture 162" descr="Free User Icon, Symbol. Download in SVG &amp; PNG Formats.">
              <a:extLst>
                <a:ext uri="{FF2B5EF4-FFF2-40B4-BE49-F238E27FC236}">
                  <a16:creationId xmlns:a16="http://schemas.microsoft.com/office/drawing/2014/main" id="{37EBC17E-CC48-6E12-7823-C2CD8A3293F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5589920" y="2424866"/>
              <a:ext cx="1031473" cy="1031474"/>
            </a:xfrm>
            <a:prstGeom prst="rect">
              <a:avLst/>
            </a:prstGeom>
          </p:spPr>
        </p:pic>
        <p:sp>
          <p:nvSpPr>
            <p:cNvPr id="165" name="Text Placeholder 6">
              <a:extLst>
                <a:ext uri="{FF2B5EF4-FFF2-40B4-BE49-F238E27FC236}">
                  <a16:creationId xmlns:a16="http://schemas.microsoft.com/office/drawing/2014/main" id="{084847AF-8ED8-BCEA-6B48-C677B4B79DEA}"/>
                </a:ext>
              </a:extLst>
            </p:cNvPr>
            <p:cNvSpPr txBox="1">
              <a:spLocks/>
            </p:cNvSpPr>
            <p:nvPr/>
          </p:nvSpPr>
          <p:spPr>
            <a:xfrm>
              <a:off x="5173715" y="3569656"/>
              <a:ext cx="1825261" cy="349607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400" b="1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ea typeface="+mn-ea"/>
                  <a:cs typeface="+mn-cs"/>
                </a:rPr>
                <a:t>Senior Data Engineer</a:t>
              </a:r>
            </a:p>
          </p:txBody>
        </p:sp>
        <p:sp>
          <p:nvSpPr>
            <p:cNvPr id="166" name="Text Placeholder 6">
              <a:extLst>
                <a:ext uri="{FF2B5EF4-FFF2-40B4-BE49-F238E27FC236}">
                  <a16:creationId xmlns:a16="http://schemas.microsoft.com/office/drawing/2014/main" id="{FD17B115-545D-E09B-F125-3CA83B59E919}"/>
                </a:ext>
              </a:extLst>
            </p:cNvPr>
            <p:cNvSpPr txBox="1">
              <a:spLocks/>
            </p:cNvSpPr>
            <p:nvPr/>
          </p:nvSpPr>
          <p:spPr>
            <a:xfrm>
              <a:off x="5193025" y="4172527"/>
              <a:ext cx="1825261" cy="422633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b="0" i="1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+mn-ea"/>
                  <a:cs typeface="+mn-cs"/>
                </a:rPr>
                <a:t>Solves complex problems, reviews and mentors</a:t>
              </a:r>
            </a:p>
          </p:txBody>
        </p:sp>
        <p:sp>
          <p:nvSpPr>
            <p:cNvPr id="168" name="Rectangle: Rounded Corners 167">
              <a:extLst>
                <a:ext uri="{FF2B5EF4-FFF2-40B4-BE49-F238E27FC236}">
                  <a16:creationId xmlns:a16="http://schemas.microsoft.com/office/drawing/2014/main" id="{F4A2DBE8-019B-FE96-B037-70B96C5342BB}"/>
                </a:ext>
              </a:extLst>
            </p:cNvPr>
            <p:cNvSpPr/>
            <p:nvPr/>
          </p:nvSpPr>
          <p:spPr>
            <a:xfrm flipH="1">
              <a:off x="7392414" y="2267497"/>
              <a:ext cx="2088053" cy="3108959"/>
            </a:xfrm>
            <a:prstGeom prst="roundRect">
              <a:avLst>
                <a:gd name="adj" fmla="val 1853"/>
              </a:avLst>
            </a:prstGeom>
            <a:solidFill>
              <a:schemeClr val="bg1"/>
            </a:solidFill>
            <a:ln>
              <a:solidFill>
                <a:schemeClr val="tx1">
                  <a:lumMod val="20000"/>
                  <a:lumOff val="8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H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pic>
          <p:nvPicPr>
            <p:cNvPr id="170" name="Picture 169" descr="Free User Icon, Symbol. Download in SVG &amp; PNG Formats.">
              <a:extLst>
                <a:ext uri="{FF2B5EF4-FFF2-40B4-BE49-F238E27FC236}">
                  <a16:creationId xmlns:a16="http://schemas.microsoft.com/office/drawing/2014/main" id="{AAFCF7B0-FC0E-72E0-8525-88508566F3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7930361" y="2424866"/>
              <a:ext cx="1031473" cy="1031474"/>
            </a:xfrm>
            <a:prstGeom prst="rect">
              <a:avLst/>
            </a:prstGeom>
          </p:spPr>
        </p:pic>
        <p:sp>
          <p:nvSpPr>
            <p:cNvPr id="172" name="Text Placeholder 6">
              <a:extLst>
                <a:ext uri="{FF2B5EF4-FFF2-40B4-BE49-F238E27FC236}">
                  <a16:creationId xmlns:a16="http://schemas.microsoft.com/office/drawing/2014/main" id="{A12522BB-2B8E-9A33-A83D-45A7E1447656}"/>
                </a:ext>
              </a:extLst>
            </p:cNvPr>
            <p:cNvSpPr txBox="1">
              <a:spLocks/>
            </p:cNvSpPr>
            <p:nvPr/>
          </p:nvSpPr>
          <p:spPr>
            <a:xfrm>
              <a:off x="7514156" y="3569656"/>
              <a:ext cx="1825261" cy="349607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400" b="1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ea typeface="+mn-ea"/>
                  <a:cs typeface="+mn-cs"/>
                </a:rPr>
                <a:t>Associate / Junior Engineer</a:t>
              </a:r>
            </a:p>
          </p:txBody>
        </p:sp>
        <p:sp>
          <p:nvSpPr>
            <p:cNvPr id="173" name="Text Placeholder 6">
              <a:extLst>
                <a:ext uri="{FF2B5EF4-FFF2-40B4-BE49-F238E27FC236}">
                  <a16:creationId xmlns:a16="http://schemas.microsoft.com/office/drawing/2014/main" id="{FCAB6599-92D2-F5EB-603C-DEAE0A93DB9C}"/>
                </a:ext>
              </a:extLst>
            </p:cNvPr>
            <p:cNvSpPr txBox="1">
              <a:spLocks/>
            </p:cNvSpPr>
            <p:nvPr/>
          </p:nvSpPr>
          <p:spPr>
            <a:xfrm>
              <a:off x="7533466" y="4172527"/>
              <a:ext cx="1825261" cy="422633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b="0" i="1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+mn-ea"/>
                  <a:cs typeface="+mn-cs"/>
                </a:rPr>
                <a:t>Delivers scoped tasks with support and review, Builds, tests and operates pipelines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562608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63FFF-501F-E889-6C8D-19EEBA855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">
            <a:extLst>
              <a:ext uri="{FF2B5EF4-FFF2-40B4-BE49-F238E27FC236}">
                <a16:creationId xmlns:a16="http://schemas.microsoft.com/office/drawing/2014/main" id="{17D59E44-6877-7880-78A4-B0734403B82B}"/>
              </a:ext>
            </a:extLst>
          </p:cNvPr>
          <p:cNvSpPr>
            <a:spLocks noGrp="1"/>
          </p:cNvSpPr>
          <p:nvPr/>
        </p:nvSpPr>
        <p:spPr>
          <a:xfrm>
            <a:off x="405003" y="276701"/>
            <a:ext cx="1138999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lang="en-US" sz="360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Ways of working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C59DC51F-C826-0151-B73D-3A42558D361C}"/>
              </a:ext>
            </a:extLst>
          </p:cNvPr>
          <p:cNvSpPr>
            <a:spLocks noGrp="1"/>
          </p:cNvSpPr>
          <p:nvPr/>
        </p:nvSpPr>
        <p:spPr>
          <a:xfrm>
            <a:off x="4027837" y="6534150"/>
            <a:ext cx="411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©2026 3Cloud, Proprietary &amp; Confidential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83F0020D-BB81-6823-606D-34CD7CA3321D}"/>
              </a:ext>
            </a:extLst>
          </p:cNvPr>
          <p:cNvSpPr>
            <a:spLocks noGrp="1"/>
          </p:cNvSpPr>
          <p:nvPr/>
        </p:nvSpPr>
        <p:spPr>
          <a:xfrm>
            <a:off x="10953750" y="6534150"/>
            <a:ext cx="85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>
            <a:def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3CF8900-74D1-912C-10D2-3DC216E18ACC}"/>
              </a:ext>
            </a:extLst>
          </p:cNvPr>
          <p:cNvGrpSpPr/>
          <p:nvPr/>
        </p:nvGrpSpPr>
        <p:grpSpPr>
          <a:xfrm>
            <a:off x="980736" y="2239793"/>
            <a:ext cx="10268296" cy="2378415"/>
            <a:chOff x="980736" y="2239792"/>
            <a:chExt cx="10268296" cy="2378415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DCADD93B-C3C2-8DFB-8275-046A68A8ED66}"/>
                </a:ext>
              </a:extLst>
            </p:cNvPr>
            <p:cNvGrpSpPr/>
            <p:nvPr/>
          </p:nvGrpSpPr>
          <p:grpSpPr>
            <a:xfrm>
              <a:off x="980736" y="2239792"/>
              <a:ext cx="1827030" cy="2378415"/>
              <a:chOff x="855133" y="1955800"/>
              <a:chExt cx="1827030" cy="2378415"/>
            </a:xfrm>
          </p:grpSpPr>
          <p:pic>
            <p:nvPicPr>
              <p:cNvPr id="6" name="Graphic 5" descr="Bullseye with solid fill">
                <a:extLst>
                  <a:ext uri="{FF2B5EF4-FFF2-40B4-BE49-F238E27FC236}">
                    <a16:creationId xmlns:a16="http://schemas.microsoft.com/office/drawing/2014/main" id="{830E1ED8-6E72-6476-F3A5-EFAA9C4636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855133" y="1955800"/>
                <a:ext cx="914400" cy="914400"/>
              </a:xfrm>
              <a:prstGeom prst="rect">
                <a:avLst/>
              </a:prstGeom>
            </p:spPr>
          </p:pic>
          <p:sp>
            <p:nvSpPr>
              <p:cNvPr id="8" name="Text Placeholder 6">
                <a:extLst>
                  <a:ext uri="{FF2B5EF4-FFF2-40B4-BE49-F238E27FC236}">
                    <a16:creationId xmlns:a16="http://schemas.microsoft.com/office/drawing/2014/main" id="{5F370C4B-CA22-3164-EF90-71BD437A5A9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56902" y="2932166"/>
                <a:ext cx="1825261" cy="1402049"/>
              </a:xfrm>
              <a:prstGeom prst="rect">
                <a:avLst/>
              </a:prstGeom>
            </p:spPr>
            <p:txBody>
              <a:bodyPr/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1" strike="noStrike" kern="1200" cap="none" spc="0" normalizeH="0" baseline="0" noProof="0" dirty="0">
                    <a:ln>
                      <a:noFill/>
                    </a:ln>
                    <a:solidFill>
                      <a:schemeClr val="accent1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Sprint goal</a:t>
                </a:r>
              </a:p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lang="en-US" sz="1400" i="1" dirty="0"/>
                  <a:t>Review progress at each layer checkpoint.</a:t>
                </a:r>
                <a:r>
                  <a:rPr kumimoji="0" lang="en-US" sz="1400" b="0" i="1" strike="noStrike" kern="1200" cap="none" spc="0" normalizeH="0" baseline="0" noProof="0" dirty="0" err="1">
                    <a:ln>
                      <a:noFill/>
                    </a:ln>
                    <a:effectLst/>
                    <a:uLnTx/>
                    <a:uFillTx/>
                    <a:ea typeface="+mn-ea"/>
                    <a:cs typeface="+mn-cs"/>
                  </a:rPr>
                  <a:t/>
                </a:r>
                <a:r>
                  <a:rPr kumimoji="0" lang="en-US" sz="1400" b="0" i="1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ea typeface="+mn-ea"/>
                    <a:cs typeface="+mn-cs"/>
                  </a:rPr>
                  <a:t/>
                </a: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FE62F545-5BA9-F9F1-7446-641B5446AF99}"/>
                </a:ext>
              </a:extLst>
            </p:cNvPr>
            <p:cNvGrpSpPr/>
            <p:nvPr/>
          </p:nvGrpSpPr>
          <p:grpSpPr>
            <a:xfrm>
              <a:off x="3091052" y="2239792"/>
              <a:ext cx="1827030" cy="2378415"/>
              <a:chOff x="855133" y="1955800"/>
              <a:chExt cx="1827030" cy="2378415"/>
            </a:xfrm>
          </p:grpSpPr>
          <p:pic>
            <p:nvPicPr>
              <p:cNvPr id="12" name="Graphic 11" descr="Postit Notes with solid fill">
                <a:extLst>
                  <a:ext uri="{FF2B5EF4-FFF2-40B4-BE49-F238E27FC236}">
                    <a16:creationId xmlns:a16="http://schemas.microsoft.com/office/drawing/2014/main" id="{B8F1BBD5-00E1-4BB6-BACB-D0789C9ABB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/>
              <a:stretch/>
            </p:blipFill>
            <p:spPr>
              <a:xfrm>
                <a:off x="855133" y="1955800"/>
                <a:ext cx="914400" cy="914400"/>
              </a:xfrm>
              <a:prstGeom prst="rect">
                <a:avLst/>
              </a:prstGeom>
            </p:spPr>
          </p:pic>
          <p:sp>
            <p:nvSpPr>
              <p:cNvPr id="13" name="Text Placeholder 6">
                <a:extLst>
                  <a:ext uri="{FF2B5EF4-FFF2-40B4-BE49-F238E27FC236}">
                    <a16:creationId xmlns:a16="http://schemas.microsoft.com/office/drawing/2014/main" id="{1622DC4C-2C4A-8004-85F3-6A686FECAE7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56902" y="2932166"/>
                <a:ext cx="1825261" cy="1402049"/>
              </a:xfrm>
              <a:prstGeom prst="rect">
                <a:avLst/>
              </a:prstGeom>
            </p:spPr>
            <p:txBody>
              <a:bodyPr/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1" strike="noStrike" kern="1200" cap="none" spc="0" normalizeH="0" baseline="0" noProof="0" dirty="0">
                    <a:ln>
                      <a:noFill/>
                    </a:ln>
                    <a:solidFill>
                      <a:schemeClr val="accent1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Create Notes</a:t>
                </a:r>
              </a:p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0" i="1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ea typeface="+mn-ea"/>
                    <a:cs typeface="+mn-cs"/>
                  </a:rPr>
                  <a:t>Track each task using the following statuses: To Do, In Progress, Review, and Done. Record blockers explicitly.</a:t>
                </a: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B0A8008-8CB7-94D0-BF42-4C45EC10685F}"/>
                </a:ext>
              </a:extLst>
            </p:cNvPr>
            <p:cNvGrpSpPr/>
            <p:nvPr/>
          </p:nvGrpSpPr>
          <p:grpSpPr>
            <a:xfrm>
              <a:off x="5201369" y="2239792"/>
              <a:ext cx="1827030" cy="2378415"/>
              <a:chOff x="855133" y="1955800"/>
              <a:chExt cx="1827030" cy="2378415"/>
            </a:xfrm>
          </p:grpSpPr>
          <p:pic>
            <p:nvPicPr>
              <p:cNvPr id="16" name="Graphic 15" descr="User with solid fill">
                <a:extLst>
                  <a:ext uri="{FF2B5EF4-FFF2-40B4-BE49-F238E27FC236}">
                    <a16:creationId xmlns:a16="http://schemas.microsoft.com/office/drawing/2014/main" id="{42475DA3-798E-9F6D-C1E5-E18F81D822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/>
              <a:stretch/>
            </p:blipFill>
            <p:spPr>
              <a:xfrm>
                <a:off x="855133" y="1955800"/>
                <a:ext cx="914400" cy="914400"/>
              </a:xfrm>
              <a:prstGeom prst="rect">
                <a:avLst/>
              </a:prstGeom>
            </p:spPr>
          </p:pic>
          <p:sp>
            <p:nvSpPr>
              <p:cNvPr id="17" name="Text Placeholder 6">
                <a:extLst>
                  <a:ext uri="{FF2B5EF4-FFF2-40B4-BE49-F238E27FC236}">
                    <a16:creationId xmlns:a16="http://schemas.microsoft.com/office/drawing/2014/main" id="{1684B686-DC82-BEB7-EE57-DDF577B419C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56902" y="2932166"/>
                <a:ext cx="1825261" cy="1402049"/>
              </a:xfrm>
              <a:prstGeom prst="rect">
                <a:avLst/>
              </a:prstGeom>
            </p:spPr>
            <p:txBody>
              <a:bodyPr/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1" strike="noStrike" kern="1200" cap="none" spc="0" normalizeH="0" baseline="0" noProof="0" dirty="0">
                    <a:ln>
                      <a:noFill/>
                    </a:ln>
                    <a:solidFill>
                      <a:schemeClr val="accent1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Task Ownership</a:t>
                </a:r>
              </a:p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0" i="1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ea typeface="+mn-ea"/>
                    <a:cs typeface="+mn-cs"/>
                  </a:rPr>
                  <a:t>Every task has a designated owner, and every change has an assigned reviewer.</a:t>
                </a:r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E068A80E-CE40-A19F-DBAA-7E5C1D0566FA}"/>
                </a:ext>
              </a:extLst>
            </p:cNvPr>
            <p:cNvGrpSpPr/>
            <p:nvPr/>
          </p:nvGrpSpPr>
          <p:grpSpPr>
            <a:xfrm>
              <a:off x="7311686" y="2239792"/>
              <a:ext cx="1827030" cy="2378415"/>
              <a:chOff x="855133" y="1955800"/>
              <a:chExt cx="1827030" cy="2378415"/>
            </a:xfrm>
          </p:grpSpPr>
          <p:pic>
            <p:nvPicPr>
              <p:cNvPr id="19" name="Graphic 18" descr="Monthly calendar with solid fill">
                <a:extLst>
                  <a:ext uri="{FF2B5EF4-FFF2-40B4-BE49-F238E27FC236}">
                    <a16:creationId xmlns:a16="http://schemas.microsoft.com/office/drawing/2014/main" id="{018A2D33-6E8A-CCBB-0D55-9DDEDF8DB16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rcRect/>
              <a:stretch/>
            </p:blipFill>
            <p:spPr>
              <a:xfrm>
                <a:off x="855133" y="1955800"/>
                <a:ext cx="914400" cy="914400"/>
              </a:xfrm>
              <a:prstGeom prst="rect">
                <a:avLst/>
              </a:prstGeom>
            </p:spPr>
          </p:pic>
          <p:sp>
            <p:nvSpPr>
              <p:cNvPr id="20" name="Text Placeholder 6">
                <a:extLst>
                  <a:ext uri="{FF2B5EF4-FFF2-40B4-BE49-F238E27FC236}">
                    <a16:creationId xmlns:a16="http://schemas.microsoft.com/office/drawing/2014/main" id="{542CB72A-4B17-9570-AA26-8E5526A6066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56902" y="2932166"/>
                <a:ext cx="1825261" cy="1402049"/>
              </a:xfrm>
              <a:prstGeom prst="rect">
                <a:avLst/>
              </a:prstGeom>
            </p:spPr>
            <p:txBody>
              <a:bodyPr/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1" strike="noStrike" kern="1200" cap="none" spc="0" normalizeH="0" baseline="0" noProof="0" dirty="0">
                    <a:ln>
                      <a:noFill/>
                    </a:ln>
                    <a:solidFill>
                      <a:schemeClr val="accent1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Daily Check-in</a:t>
                </a:r>
              </a:p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0" i="1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ea typeface="+mn-ea"/>
                    <a:cs typeface="+mn-cs"/>
                  </a:rPr>
                  <a:t>Hold a short check-in to cover progress, next actions, and blockers.</a:t>
                </a:r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1907F731-B242-C0E9-57FB-1787A46216D1}"/>
                </a:ext>
              </a:extLst>
            </p:cNvPr>
            <p:cNvGrpSpPr/>
            <p:nvPr/>
          </p:nvGrpSpPr>
          <p:grpSpPr>
            <a:xfrm>
              <a:off x="9422002" y="2239792"/>
              <a:ext cx="1827030" cy="2378415"/>
              <a:chOff x="855133" y="1955800"/>
              <a:chExt cx="1827030" cy="2378415"/>
            </a:xfrm>
          </p:grpSpPr>
          <p:pic>
            <p:nvPicPr>
              <p:cNvPr id="23" name="Graphic 22" descr="List with solid fill">
                <a:extLst>
                  <a:ext uri="{FF2B5EF4-FFF2-40B4-BE49-F238E27FC236}">
                    <a16:creationId xmlns:a16="http://schemas.microsoft.com/office/drawing/2014/main" id="{898F485F-5B86-CCCD-37C0-FCD13498FA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rcRect/>
              <a:stretch/>
            </p:blipFill>
            <p:spPr>
              <a:xfrm>
                <a:off x="855133" y="1955800"/>
                <a:ext cx="914400" cy="914400"/>
              </a:xfrm>
              <a:prstGeom prst="rect">
                <a:avLst/>
              </a:prstGeom>
            </p:spPr>
          </p:pic>
          <p:sp>
            <p:nvSpPr>
              <p:cNvPr id="24" name="Text Placeholder 6">
                <a:extLst>
                  <a:ext uri="{FF2B5EF4-FFF2-40B4-BE49-F238E27FC236}">
                    <a16:creationId xmlns:a16="http://schemas.microsoft.com/office/drawing/2014/main" id="{75CF6045-947A-5E75-D7B9-C42E72F341D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56902" y="2932166"/>
                <a:ext cx="1825261" cy="1402049"/>
              </a:xfrm>
              <a:prstGeom prst="rect">
                <a:avLst/>
              </a:prstGeom>
            </p:spPr>
            <p:txBody>
              <a:bodyPr/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1" strike="noStrike" kern="1200" cap="none" spc="0" normalizeH="0" baseline="0" noProof="0" dirty="0">
                    <a:ln>
                      <a:noFill/>
                    </a:ln>
                    <a:solidFill>
                      <a:schemeClr val="accent1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Acceptance Criteria </a:t>
                </a:r>
                <a:r>
                  <a:rPr kumimoji="0" lang="en-US" sz="1400" b="0" i="1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ea typeface="+mn-ea"/>
                    <a:cs typeface="+mn-cs"/>
                  </a:rPr>
                  <a:t>Define the evidence required to consider each task complete.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853517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">
            <a:extLst>
              <a:ext uri="{FF2B5EF4-FFF2-40B4-BE49-F238E27FC236}">
                <a16:creationId xmlns:a16="http://schemas.microsoft.com/office/drawing/2014/main" id="{041C5F81-ACBF-43F7-B73C-5DFBA2596135}"/>
              </a:ext>
            </a:extLst>
          </p:cNvPr>
          <p:cNvSpPr>
            <a:spLocks noGrp="1"/>
          </p:cNvSpPr>
          <p:nvPr/>
        </p:nvSpPr>
        <p:spPr>
          <a:xfrm>
            <a:off x="405003" y="276701"/>
            <a:ext cx="1138999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4400" b="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Ways of working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AAA39AD1-F1CD-4CB4-B72C-57043823FCBD}"/>
              </a:ext>
            </a:extLst>
          </p:cNvPr>
          <p:cNvSpPr>
            <a:spLocks noGrp="1"/>
          </p:cNvSpPr>
          <p:nvPr/>
        </p:nvSpPr>
        <p:spPr>
          <a:xfrm>
            <a:off x="4027837" y="6534150"/>
            <a:ext cx="411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©2026 3Cloud, Proprietary &amp; Confidential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F705A498-73CA-49AC-B73F-E0318CCE66C2}"/>
              </a:ext>
            </a:extLst>
          </p:cNvPr>
          <p:cNvSpPr>
            <a:spLocks noGrp="1"/>
          </p:cNvSpPr>
          <p:nvPr/>
        </p:nvSpPr>
        <p:spPr>
          <a:xfrm>
            <a:off x="10953750" y="6534150"/>
            <a:ext cx="85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>
            <a:def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D7CB1F97-8F07-4490-9CF9-3444C3BD2936}"/>
              </a:ext>
            </a:extLst>
          </p:cNvPr>
          <p:cNvSpPr>
            <a:spLocks noGrp="1"/>
          </p:cNvSpPr>
          <p:nvPr/>
        </p:nvSpPr>
        <p:spPr>
          <a:xfrm>
            <a:off x="590550" y="1381125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Workshop goal: trusted sales reporting from the supplied seven-day batch.</a:t>
            </a:r>
            <a:endParaRPr sz="2400" b="0" dirty="0">
              <a:solidFill>
                <a:srgbClr val="2C2C2D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4CB1874F-793D-49FB-A347-551F67EDCC42}"/>
              </a:ext>
            </a:extLst>
          </p:cNvPr>
          <p:cNvSpPr>
            <a:spLocks noGrp="1"/>
          </p:cNvSpPr>
          <p:nvPr/>
        </p:nvSpPr>
        <p:spPr>
          <a:xfrm>
            <a:off x="590550" y="2247900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lang="en-PH" sz="2400" b="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Track tasks as To Do, In Progress, Review and Done. Record blockers.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22AFA72B-6BE5-42E4-AD58-FC37DFEB6AA7}"/>
              </a:ext>
            </a:extLst>
          </p:cNvPr>
          <p:cNvSpPr>
            <a:spLocks noGrp="1"/>
          </p:cNvSpPr>
          <p:nvPr/>
        </p:nvSpPr>
        <p:spPr>
          <a:xfrm>
            <a:off x="590550" y="3114675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Each task has an owner. Each change has a reviewer.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6054B9EC-C33B-403B-920B-236B09DFBDCD}"/>
              </a:ext>
            </a:extLst>
          </p:cNvPr>
          <p:cNvSpPr>
            <a:spLocks noGrp="1"/>
          </p:cNvSpPr>
          <p:nvPr/>
        </p:nvSpPr>
        <p:spPr>
          <a:xfrm>
            <a:off x="590550" y="3981450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Use short classroom iterations and check in at each layer checkpoint.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A0EE196E-56D9-4180-85FE-3BFD8DEAD08D}"/>
              </a:ext>
            </a:extLst>
          </p:cNvPr>
          <p:cNvSpPr>
            <a:spLocks noGrp="1"/>
          </p:cNvSpPr>
          <p:nvPr/>
        </p:nvSpPr>
        <p:spPr>
          <a:xfrm>
            <a:off x="590550" y="4848225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Acceptance criteria define the evidence required for completion.</a:t>
            </a:r>
          </a:p>
        </p:txBody>
      </p:sp>
    </p:spTree>
    <p:extLst>
      <p:ext uri="{BB962C8B-B14F-4D97-AF65-F5344CB8AC3E}">
        <p14:creationId xmlns:p14="http://schemas.microsoft.com/office/powerpoint/2010/main" val="12208777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">
            <a:extLst>
              <a:ext uri="{FF2B5EF4-FFF2-40B4-BE49-F238E27FC236}">
                <a16:creationId xmlns:a16="http://schemas.microsoft.com/office/drawing/2014/main" id="{D8D462DE-C4B3-4B53-BE80-D3F63D3B28FE}"/>
              </a:ext>
            </a:extLst>
          </p:cNvPr>
          <p:cNvSpPr>
            <a:spLocks noGrp="1"/>
          </p:cNvSpPr>
          <p:nvPr/>
        </p:nvSpPr>
        <p:spPr>
          <a:xfrm>
            <a:off x="405003" y="276701"/>
            <a:ext cx="1138999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30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Epic, user story and task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EDCE0354-1C7E-43A7-93BB-754EE9F7D4AD}"/>
              </a:ext>
            </a:extLst>
          </p:cNvPr>
          <p:cNvSpPr>
            <a:spLocks noGrp="1"/>
          </p:cNvSpPr>
          <p:nvPr/>
        </p:nvSpPr>
        <p:spPr>
          <a:xfrm>
            <a:off x="4027837" y="6534150"/>
            <a:ext cx="411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©2026 3Cloud, Proprietary &amp; Confidential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AA7777B2-6094-4589-8EEA-C27BB3F0EA48}"/>
              </a:ext>
            </a:extLst>
          </p:cNvPr>
          <p:cNvSpPr>
            <a:spLocks noGrp="1"/>
          </p:cNvSpPr>
          <p:nvPr/>
        </p:nvSpPr>
        <p:spPr>
          <a:xfrm>
            <a:off x="10953750" y="6534150"/>
            <a:ext cx="85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>
            <a:def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C2EC179-A3BD-4299-89C5-1D671B04118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18418238"/>
              </p:ext>
            </p:extLst>
          </p:nvPr>
        </p:nvGraphicFramePr>
        <p:xfrm>
          <a:off x="476250" y="1381125"/>
          <a:ext cx="11239500" cy="4407408"/>
        </p:xfrm>
        <a:graphic>
          <a:graphicData uri="http://schemas.openxmlformats.org/drawingml/2006/table">
            <a:tbl>
              <a:tblPr/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6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7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700" b="1">
                          <a:solidFill>
                            <a:srgbClr val="FFFFFF"/>
                          </a:solidFill>
                        </a:rPr>
                        <a:t>Level</a:t>
                      </a:r>
                    </a:p>
                  </a:txBody>
                  <a:tcPr anchor="ctr" marT="54864" marB="54864">
                    <a:lnL w="9525">
                      <a:solidFill>
                        <a:srgbClr val="D9E4EB"/>
                      </a:solidFill>
                      <a:prstDash val="solid"/>
                    </a:lnL>
                    <a:lnR w="9525">
                      <a:solidFill>
                        <a:srgbClr val="D9E4EB"/>
                      </a:solidFill>
                      <a:prstDash val="solid"/>
                    </a:lnR>
                    <a:lnT w="9525">
                      <a:solidFill>
                        <a:srgbClr val="D9E4EB"/>
                      </a:solidFill>
                      <a:prstDash val="solid"/>
                    </a:lnT>
                    <a:lnB w="9525">
                      <a:solidFill>
                        <a:srgbClr val="D9E4EB"/>
                      </a:solidFill>
                      <a:prstDash val="solid"/>
                    </a:lnB>
                    <a:solidFill>
                      <a:srgbClr val="00518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700" b="1">
                          <a:solidFill>
                            <a:srgbClr val="FFFFFF"/>
                          </a:solidFill>
                        </a:rPr>
                        <a:t>Purpose</a:t>
                      </a:r>
                    </a:p>
                  </a:txBody>
                  <a:tcPr anchor="ctr" marT="54864" marB="54864">
                    <a:lnL w="9525" cap="flat" cmpd="sng" algn="ctr">
                      <a:solidFill>
                        <a:srgbClr val="D9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4EB"/>
                      </a:solidFill>
                      <a:prstDash val="solid"/>
                    </a:lnR>
                    <a:lnT w="9525">
                      <a:solidFill>
                        <a:srgbClr val="D9E4EB"/>
                      </a:solidFill>
                      <a:prstDash val="solid"/>
                    </a:lnT>
                    <a:lnB w="9525">
                      <a:solidFill>
                        <a:srgbClr val="D9E4EB"/>
                      </a:solidFill>
                      <a:prstDash val="solid"/>
                    </a:lnB>
                    <a:solidFill>
                      <a:srgbClr val="00518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700" b="1">
                          <a:solidFill>
                            <a:srgbClr val="FFFFFF"/>
                          </a:solidFill>
                        </a:rPr>
                        <a:t>Workshop example</a:t>
                      </a:r>
                    </a:p>
                  </a:txBody>
                  <a:tcPr anchor="ctr" marT="54864" marB="54864">
                    <a:lnL w="9525" cap="flat" cmpd="sng" algn="ctr">
                      <a:solidFill>
                        <a:srgbClr val="D9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4EB"/>
                      </a:solidFill>
                      <a:prstDash val="solid"/>
                    </a:lnR>
                    <a:lnT w="9525">
                      <a:solidFill>
                        <a:srgbClr val="D9E4EB"/>
                      </a:solidFill>
                      <a:prstDash val="solid"/>
                    </a:lnT>
                    <a:lnB w="9525">
                      <a:solidFill>
                        <a:srgbClr val="D9E4EB"/>
                      </a:solidFill>
                      <a:prstDash val="solid"/>
                    </a:lnB>
                    <a:solidFill>
                      <a:srgbClr val="0051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b="1" sz="1700"/>
                        <a:t>Epic</a:t>
                      </a:r>
                      <a:endParaRPr lang="en-PH"/>
                    </a:p>
                  </a:txBody>
                  <a:tcPr anchor="ctr" marT="54864" marB="54864">
                    <a:lnL w="9525">
                      <a:solidFill>
                        <a:srgbClr val="D9E4EB"/>
                      </a:solidFill>
                      <a:prstDash val="solid"/>
                    </a:lnL>
                    <a:lnR w="9525">
                      <a:solidFill>
                        <a:srgbClr val="D9E4EB"/>
                      </a:solidFill>
                      <a:prstDash val="solid"/>
                    </a:lnR>
                    <a:lnT w="9525" cap="flat" cmpd="sng" algn="ctr">
                      <a:solidFill>
                        <a:srgbClr val="D9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4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700"/>
                        <a:t>Business outcome</a:t>
                      </a:r>
                    </a:p>
                  </a:txBody>
                  <a:tcPr anchor="ctr" marT="54864" marB="54864">
                    <a:lnL w="9525" cap="flat" cmpd="sng" algn="ctr">
                      <a:solidFill>
                        <a:srgbClr val="D9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4EB"/>
                      </a:solidFill>
                      <a:prstDash val="solid"/>
                    </a:lnR>
                    <a:lnT w="9525" cap="flat" cmpd="sng" algn="ctr">
                      <a:solidFill>
                        <a:srgbClr val="D9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4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700"/>
                        <a:t>Trusted sales reporting for Café Enchancia.</a:t>
                      </a:r>
                    </a:p>
                  </a:txBody>
                  <a:tcPr anchor="ctr" marT="54864" marB="54864">
                    <a:lnL w="9525" cap="flat" cmpd="sng" algn="ctr">
                      <a:solidFill>
                        <a:srgbClr val="D9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4EB"/>
                      </a:solidFill>
                      <a:prstDash val="solid"/>
                    </a:lnR>
                    <a:lnT w="9525" cap="flat" cmpd="sng" algn="ctr">
                      <a:solidFill>
                        <a:srgbClr val="D9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4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5840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b="1" sz="1700"/>
                        <a:t>User story</a:t>
                      </a:r>
                      <a:endParaRPr lang="en-PH"/>
                    </a:p>
                  </a:txBody>
                  <a:tcPr anchor="ctr" marT="54864" marB="54864">
                    <a:lnL w="9525">
                      <a:solidFill>
                        <a:srgbClr val="D9E4EB"/>
                      </a:solidFill>
                      <a:prstDash val="solid"/>
                    </a:lnL>
                    <a:lnR w="9525">
                      <a:solidFill>
                        <a:srgbClr val="D9E4EB"/>
                      </a:solidFill>
                      <a:prstDash val="solid"/>
                    </a:lnR>
                    <a:lnT w="9525" cap="flat" cmpd="sng" algn="ctr">
                      <a:solidFill>
                        <a:srgbClr val="D9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4EB"/>
                      </a:solidFill>
                      <a:prstDash val="solid"/>
                    </a:lnB>
                    <a:solidFill>
                      <a:srgbClr val="EE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dirty="0" sz="1700"/>
                        <a:t>Who benefits and why</a:t>
                      </a:r>
                    </a:p>
                  </a:txBody>
                  <a:tcPr anchor="ctr" marT="54864" marB="54864">
                    <a:lnL w="9525" cap="flat" cmpd="sng" algn="ctr">
                      <a:solidFill>
                        <a:srgbClr val="D9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4EB"/>
                      </a:solidFill>
                      <a:prstDash val="solid"/>
                    </a:lnR>
                    <a:lnT w="9525" cap="flat" cmpd="sng" algn="ctr">
                      <a:solidFill>
                        <a:srgbClr val="D9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4EB"/>
                      </a:solidFill>
                      <a:prstDash val="solid"/>
                    </a:lnB>
                    <a:solidFill>
                      <a:srgbClr val="EE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b="1" sz="1700"/>
                        <a:t>Bronze: trace source records.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PH" b="1" sz="1700"/>
                        <a:t>Silver: compare typed orders in PHP and New York dates.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PH" b="1" sz="1700"/>
                        <a:t>Gold: analyze all selected stores in one sales table.</a:t>
                      </a:r>
                    </a:p>
                  </a:txBody>
                  <a:tcPr anchor="ctr" marT="54864" marB="54864">
                    <a:lnL w="9525" cap="flat" cmpd="sng" algn="ctr">
                      <a:solidFill>
                        <a:srgbClr val="D9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4EB"/>
                      </a:solidFill>
                      <a:prstDash val="solid"/>
                    </a:lnR>
                    <a:lnT w="9525" cap="flat" cmpd="sng" algn="ctr">
                      <a:solidFill>
                        <a:srgbClr val="D9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4EB"/>
                      </a:solidFill>
                      <a:prstDash val="solid"/>
                    </a:lnB>
                    <a:solidFill>
                      <a:srgbClr val="EE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5840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b="1" sz="1700"/>
                        <a:t>Acceptance criteria</a:t>
                      </a:r>
                      <a:endParaRPr lang="en-PH"/>
                    </a:p>
                  </a:txBody>
                  <a:tcPr anchor="ctr" marT="54864" marB="54864">
                    <a:lnL w="9525">
                      <a:solidFill>
                        <a:srgbClr val="D9E4EB"/>
                      </a:solidFill>
                      <a:prstDash val="solid"/>
                    </a:lnL>
                    <a:lnR w="9525">
                      <a:solidFill>
                        <a:srgbClr val="D9E4EB"/>
                      </a:solidFill>
                      <a:prstDash val="solid"/>
                    </a:lnR>
                    <a:lnT w="9525" cap="flat" cmpd="sng" algn="ctr">
                      <a:solidFill>
                        <a:srgbClr val="D9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4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700"/>
                        <a:t>Observable proof</a:t>
                      </a:r>
                    </a:p>
                  </a:txBody>
                  <a:tcPr anchor="ctr" marT="54864" marB="54864">
                    <a:lnL w="9525" cap="flat" cmpd="sng" algn="ctr">
                      <a:solidFill>
                        <a:srgbClr val="D9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4EB"/>
                      </a:solidFill>
                      <a:prstDash val="solid"/>
                    </a:lnR>
                    <a:lnT w="9525" cap="flat" cmpd="sng" algn="ctr">
                      <a:solidFill>
                        <a:srgbClr val="D9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4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b="1" sz="1700"/>
                        <a:t>Bronze: source values and counts match.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PH" b="1" sz="1700"/>
                        <a:t>Silver: valid types, unique keys, correct FX and dates.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PH" b="1" sz="1700"/>
                        <a:t>Gold: one table; counts and totals reconcile.</a:t>
                      </a:r>
                    </a:p>
                  </a:txBody>
                  <a:tcPr anchor="ctr" marT="54864" marB="54864">
                    <a:lnL w="9525" cap="flat" cmpd="sng" algn="ctr">
                      <a:solidFill>
                        <a:srgbClr val="D9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4EB"/>
                      </a:solidFill>
                      <a:prstDash val="solid"/>
                    </a:lnR>
                    <a:lnT w="9525" cap="flat" cmpd="sng" algn="ctr">
                      <a:solidFill>
                        <a:srgbClr val="D9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4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b="1" sz="1700"/>
                        <a:t>Task</a:t>
                      </a:r>
                      <a:endParaRPr lang="en-PH"/>
                    </a:p>
                  </a:txBody>
                  <a:tcPr anchor="ctr" marT="54864" marB="54864">
                    <a:lnL w="9525">
                      <a:solidFill>
                        <a:srgbClr val="D9E4EB"/>
                      </a:solidFill>
                      <a:prstDash val="solid"/>
                    </a:lnL>
                    <a:lnR w="9525">
                      <a:solidFill>
                        <a:srgbClr val="D9E4EB"/>
                      </a:solidFill>
                      <a:prstDash val="solid"/>
                    </a:lnR>
                    <a:lnT w="9525" cap="flat" cmpd="sng" algn="ctr">
                      <a:solidFill>
                        <a:srgbClr val="D9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4EB"/>
                      </a:solidFill>
                      <a:prstDash val="solid"/>
                    </a:lnB>
                    <a:solidFill>
                      <a:srgbClr val="EE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700"/>
                        <a:t>Implementation work</a:t>
                      </a:r>
                    </a:p>
                  </a:txBody>
                  <a:tcPr anchor="ctr" marT="54864" marB="54864">
                    <a:lnL w="9525" cap="flat" cmpd="sng" algn="ctr">
                      <a:solidFill>
                        <a:srgbClr val="D9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4EB"/>
                      </a:solidFill>
                      <a:prstDash val="solid"/>
                    </a:lnR>
                    <a:lnT w="9525" cap="flat" cmpd="sng" algn="ctr">
                      <a:solidFill>
                        <a:srgbClr val="D9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4EB"/>
                      </a:solidFill>
                      <a:prstDash val="solid"/>
                    </a:lnB>
                    <a:solidFill>
                      <a:srgbClr val="EE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700"/>
                        <a:t>Read CSVs, validate and convert fields, union store records, verify outputs.</a:t>
                      </a:r>
                    </a:p>
                  </a:txBody>
                  <a:tcPr anchor="ctr" marT="54864" marB="54864">
                    <a:lnL w="9525" cap="flat" cmpd="sng" algn="ctr">
                      <a:solidFill>
                        <a:srgbClr val="D9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4EB"/>
                      </a:solidFill>
                      <a:prstDash val="solid"/>
                    </a:lnR>
                    <a:lnT w="9525" cap="flat" cmpd="sng" algn="ctr">
                      <a:solidFill>
                        <a:srgbClr val="D9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4EB"/>
                      </a:solidFill>
                      <a:prstDash val="solid"/>
                    </a:lnB>
                    <a:solidFill>
                      <a:srgbClr val="EE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b="1" sz="1700"/>
                        <a:t>Definition of Done</a:t>
                      </a:r>
                      <a:endParaRPr lang="en-PH"/>
                    </a:p>
                  </a:txBody>
                  <a:tcPr anchor="ctr" marT="54864" marB="54864">
                    <a:lnL w="9525">
                      <a:solidFill>
                        <a:srgbClr val="D9E4EB"/>
                      </a:solidFill>
                      <a:prstDash val="solid"/>
                    </a:lnL>
                    <a:lnR w="9525">
                      <a:solidFill>
                        <a:srgbClr val="D9E4EB"/>
                      </a:solidFill>
                      <a:prstDash val="solid"/>
                    </a:lnR>
                    <a:lnT w="9525" cap="flat" cmpd="sng" algn="ctr">
                      <a:solidFill>
                        <a:srgbClr val="D9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4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700"/>
                        <a:t>Shared quality standard</a:t>
                      </a:r>
                    </a:p>
                  </a:txBody>
                  <a:tcPr anchor="ctr" marT="54864" marB="54864">
                    <a:lnL w="9525" cap="flat" cmpd="sng" algn="ctr">
                      <a:solidFill>
                        <a:srgbClr val="D9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4EB"/>
                      </a:solidFill>
                      <a:prstDash val="solid"/>
                    </a:lnR>
                    <a:lnT w="9525" cap="flat" cmpd="sng" algn="ctr">
                      <a:solidFill>
                        <a:srgbClr val="D9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4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dirty="0" sz="1700"/>
                        <a:t>Code reviewed, checks passed, acceptance evidence captured, notes updated.</a:t>
                      </a:r>
                    </a:p>
                  </a:txBody>
                  <a:tcPr anchor="ctr" marT="54864" marB="54864">
                    <a:lnL w="9525" cap="flat" cmpd="sng" algn="ctr">
                      <a:solidFill>
                        <a:srgbClr val="D9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4EB"/>
                      </a:solidFill>
                      <a:prstDash val="solid"/>
                    </a:lnR>
                    <a:lnT w="9525" cap="flat" cmpd="sng" algn="ctr">
                      <a:solidFill>
                        <a:srgbClr val="D9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4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80500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">
            <a:extLst>
              <a:ext uri="{FF2B5EF4-FFF2-40B4-BE49-F238E27FC236}">
                <a16:creationId xmlns:a16="http://schemas.microsoft.com/office/drawing/2014/main" id="{A9DFEE3B-D515-4BD9-AAAE-28B5B0CEED4C}"/>
              </a:ext>
            </a:extLst>
          </p:cNvPr>
          <p:cNvSpPr>
            <a:spLocks noGrp="1"/>
          </p:cNvSpPr>
          <p:nvPr/>
        </p:nvSpPr>
        <p:spPr>
          <a:xfrm>
            <a:off x="405003" y="276701"/>
            <a:ext cx="1138999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4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Who shapes the backlog?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00F14A2A-0F7C-4D2D-8A45-9BCB40F88321}"/>
              </a:ext>
            </a:extLst>
          </p:cNvPr>
          <p:cNvSpPr>
            <a:spLocks noGrp="1"/>
          </p:cNvSpPr>
          <p:nvPr/>
        </p:nvSpPr>
        <p:spPr>
          <a:xfrm>
            <a:off x="4027837" y="6534150"/>
            <a:ext cx="411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©2026 3Cloud, Proprietary &amp; Confidential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D04C1CFA-B77B-421B-82C2-A4BC52E544E2}"/>
              </a:ext>
            </a:extLst>
          </p:cNvPr>
          <p:cNvSpPr>
            <a:spLocks noGrp="1"/>
          </p:cNvSpPr>
          <p:nvPr/>
        </p:nvSpPr>
        <p:spPr>
          <a:xfrm>
            <a:off x="10953750" y="6534150"/>
            <a:ext cx="85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>
            <a:def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17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B58914BB-B7D4-4698-BA87-2E6F678E392A}"/>
              </a:ext>
            </a:extLst>
          </p:cNvPr>
          <p:cNvSpPr>
            <a:spLocks noGrp="1"/>
          </p:cNvSpPr>
          <p:nvPr/>
        </p:nvSpPr>
        <p:spPr>
          <a:xfrm>
            <a:off x="590550" y="1381125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Stakeholder and Product Owner clarify the need and priority.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3D747C9F-3F4F-4ED5-A33D-53096EB8CD78}"/>
              </a:ext>
            </a:extLst>
          </p:cNvPr>
          <p:cNvSpPr>
            <a:spLocks noGrp="1"/>
          </p:cNvSpPr>
          <p:nvPr/>
        </p:nvSpPr>
        <p:spPr>
          <a:xfrm>
            <a:off x="590550" y="2247900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Tech Lead and engineers identify design choices and dependencies.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00FBC347-D363-438F-9FAF-BCFCF4B8DD7E}"/>
              </a:ext>
            </a:extLst>
          </p:cNvPr>
          <p:cNvSpPr>
            <a:spLocks noGrp="1"/>
          </p:cNvSpPr>
          <p:nvPr/>
        </p:nvSpPr>
        <p:spPr>
          <a:xfrm>
            <a:off x="590550" y="3114675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Engineers and QA make acceptance criteria testable.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2DED183C-F4F3-49BA-9D5F-A70C18ABD242}"/>
              </a:ext>
            </a:extLst>
          </p:cNvPr>
          <p:cNvSpPr>
            <a:spLocks noGrp="1"/>
          </p:cNvSpPr>
          <p:nvPr/>
        </p:nvSpPr>
        <p:spPr>
          <a:xfrm>
            <a:off x="590550" y="3981450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The team refines and estimates the work together.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FE5EABF4-DE67-4206-B1B3-0A5626A84FF0}"/>
              </a:ext>
            </a:extLst>
          </p:cNvPr>
          <p:cNvSpPr>
            <a:spLocks noGrp="1"/>
          </p:cNvSpPr>
          <p:nvPr/>
        </p:nvSpPr>
        <p:spPr>
          <a:xfrm>
            <a:off x="590550" y="4848225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Open questions become visible decisions or blockers.</a:t>
            </a:r>
          </a:p>
        </p:txBody>
      </p:sp>
    </p:spTree>
    <p:extLst>
      <p:ext uri="{BB962C8B-B14F-4D97-AF65-F5344CB8AC3E}">
        <p14:creationId xmlns:p14="http://schemas.microsoft.com/office/powerpoint/2010/main" val="10037791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">
            <a:extLst>
              <a:ext uri="{FF2B5EF4-FFF2-40B4-BE49-F238E27FC236}">
                <a16:creationId xmlns:a16="http://schemas.microsoft.com/office/drawing/2014/main" id="{65B0A2F0-C5F6-44B8-9A99-E38DF5ED532E}"/>
              </a:ext>
            </a:extLst>
          </p:cNvPr>
          <p:cNvSpPr>
            <a:spLocks noGrp="1"/>
          </p:cNvSpPr>
          <p:nvPr/>
        </p:nvSpPr>
        <p:spPr>
          <a:xfrm>
            <a:off x="405003" y="276701"/>
            <a:ext cx="1138999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4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Requirements activity: 20 minutes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AA91B551-BE4D-4F04-B028-057A70E249B9}"/>
              </a:ext>
            </a:extLst>
          </p:cNvPr>
          <p:cNvSpPr>
            <a:spLocks noGrp="1"/>
          </p:cNvSpPr>
          <p:nvPr/>
        </p:nvSpPr>
        <p:spPr>
          <a:xfrm>
            <a:off x="4027837" y="6534150"/>
            <a:ext cx="411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©2026 3Cloud, Proprietary &amp; Confidential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545BF0C4-9FAE-437D-A696-C7935BEE5CE9}"/>
              </a:ext>
            </a:extLst>
          </p:cNvPr>
          <p:cNvSpPr>
            <a:spLocks noGrp="1"/>
          </p:cNvSpPr>
          <p:nvPr/>
        </p:nvSpPr>
        <p:spPr>
          <a:xfrm>
            <a:off x="10953750" y="6534150"/>
            <a:ext cx="85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>
            <a:def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18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D67409AD-1CBA-4DA0-818E-418E3C46FDB9}"/>
              </a:ext>
            </a:extLst>
          </p:cNvPr>
          <p:cNvSpPr>
            <a:spLocks noGrp="1"/>
          </p:cNvSpPr>
          <p:nvPr/>
        </p:nvSpPr>
        <p:spPr>
          <a:xfrm>
            <a:off x="590550" y="1381125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Read Discovery_Call.md: 8 minutes. The transcript is a separate file.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892F58B6-56BE-45B6-AA27-6FAA0DE1DC22}"/>
              </a:ext>
            </a:extLst>
          </p:cNvPr>
          <p:cNvSpPr>
            <a:spLocks noGrp="1"/>
          </p:cNvSpPr>
          <p:nvPr/>
        </p:nvSpPr>
        <p:spPr>
          <a:xfrm>
            <a:off x="590550" y="2247900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Record the problem, reporting outputs, source access and confirmed rules.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269002CB-82AD-4214-8D74-2D32DF92EFDA}"/>
              </a:ext>
            </a:extLst>
          </p:cNvPr>
          <p:cNvSpPr>
            <a:spLocks noGrp="1"/>
          </p:cNvSpPr>
          <p:nvPr/>
        </p:nvSpPr>
        <p:spPr>
          <a:xfrm>
            <a:off x="590550" y="3114675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Use 8 minutes to draft one epic and the Bronze, Silver and Gold stories.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57CA5F36-7BD2-43FB-8DBC-6DF8F522BD0F}"/>
              </a:ext>
            </a:extLst>
          </p:cNvPr>
          <p:cNvSpPr>
            <a:spLocks noGrp="1"/>
          </p:cNvSpPr>
          <p:nvPr/>
        </p:nvSpPr>
        <p:spPr>
          <a:xfrm>
            <a:off x="590550" y="3981450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Use the final 4 minutes for three open questions and an access request.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3220BB6C-789C-4EB9-A218-8464832264EC}"/>
              </a:ext>
            </a:extLst>
          </p:cNvPr>
          <p:cNvSpPr>
            <a:spLocks noGrp="1"/>
          </p:cNvSpPr>
          <p:nvPr/>
        </p:nvSpPr>
        <p:spPr>
          <a:xfrm>
            <a:off x="590550" y="4848225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Nominate one contact email. The instructor assigns your schema and store.</a:t>
            </a:r>
          </a:p>
        </p:txBody>
      </p:sp>
    </p:spTree>
    <p:extLst>
      <p:ext uri="{BB962C8B-B14F-4D97-AF65-F5344CB8AC3E}">
        <p14:creationId xmlns:p14="http://schemas.microsoft.com/office/powerpoint/2010/main" val="15429704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">
            <a:extLst>
              <a:ext uri="{FF2B5EF4-FFF2-40B4-BE49-F238E27FC236}">
                <a16:creationId xmlns:a16="http://schemas.microsoft.com/office/drawing/2014/main" id="{0719AA3B-3337-4A18-9E8E-38B5D4BBCB39}"/>
              </a:ext>
            </a:extLst>
          </p:cNvPr>
          <p:cNvSpPr>
            <a:spLocks noGrp="1"/>
          </p:cNvSpPr>
          <p:nvPr/>
        </p:nvSpPr>
        <p:spPr>
          <a:xfrm>
            <a:off x="405003" y="276701"/>
            <a:ext cx="1138999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4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Epic and core stories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84BE9986-6F8E-4026-BAD4-F6CB96E6ACE0}"/>
              </a:ext>
            </a:extLst>
          </p:cNvPr>
          <p:cNvSpPr>
            <a:spLocks noGrp="1"/>
          </p:cNvSpPr>
          <p:nvPr/>
        </p:nvSpPr>
        <p:spPr>
          <a:xfrm>
            <a:off x="4027837" y="6534150"/>
            <a:ext cx="411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©2026 3Cloud, Proprietary &amp; Confidential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AD69CDC8-2527-40AB-B0E3-49F8BE43900D}"/>
              </a:ext>
            </a:extLst>
          </p:cNvPr>
          <p:cNvSpPr>
            <a:spLocks noGrp="1"/>
          </p:cNvSpPr>
          <p:nvPr/>
        </p:nvSpPr>
        <p:spPr>
          <a:xfrm>
            <a:off x="10953750" y="6534150"/>
            <a:ext cx="85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>
            <a:def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19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533B9BEB-FCD9-41FA-AA5B-E5A3648A8146}"/>
              </a:ext>
            </a:extLst>
          </p:cNvPr>
          <p:cNvSpPr>
            <a:spLocks noGrp="1"/>
          </p:cNvSpPr>
          <p:nvPr/>
        </p:nvSpPr>
        <p:spPr>
          <a:xfrm>
            <a:off x="590550" y="1381125"/>
            <a:ext cx="1095375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Epic E01: Trusted sales reporting for Café Enchancia across seven stores.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3F7198A0-66A9-4815-BD84-0B2BBCA07451}"/>
              </a:ext>
            </a:extLst>
          </p:cNvPr>
          <p:cNvSpPr>
            <a:spLocks noGrp="1"/>
          </p:cNvSpPr>
          <p:nvPr/>
        </p:nvSpPr>
        <p:spPr>
          <a:xfrm>
            <a:off x="590550" y="2447925"/>
            <a:ext cx="1095375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B01: As an engineer, I need raw store records preserved for traceability.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F987D297-6D76-422D-8ED1-8AA4EC46247C}"/>
              </a:ext>
            </a:extLst>
          </p:cNvPr>
          <p:cNvSpPr>
            <a:spLocks noGrp="1"/>
          </p:cNvSpPr>
          <p:nvPr/>
        </p:nvSpPr>
        <p:spPr>
          <a:xfrm>
            <a:off x="590550" y="3514725"/>
            <a:ext cx="1095375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S01: As an analyst, I need validated orders with PHP sales and New York dates.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6572EE4D-67B1-4409-B13A-E85E61F0F3FF}"/>
              </a:ext>
            </a:extLst>
          </p:cNvPr>
          <p:cNvSpPr>
            <a:spLocks noGrp="1"/>
          </p:cNvSpPr>
          <p:nvPr/>
        </p:nvSpPr>
        <p:spPr>
          <a:xfrm>
            <a:off x="590550" y="4581525"/>
            <a:ext cx="1095375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G01: As the owner, I need one sales table to compare stores and products.</a:t>
            </a:r>
          </a:p>
        </p:txBody>
      </p:sp>
    </p:spTree>
    <p:extLst>
      <p:ext uri="{BB962C8B-B14F-4D97-AF65-F5344CB8AC3E}">
        <p14:creationId xmlns:p14="http://schemas.microsoft.com/office/powerpoint/2010/main" val="2844752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">
            <a:extLst>
              <a:ext uri="{FF2B5EF4-FFF2-40B4-BE49-F238E27FC236}">
                <a16:creationId xmlns:a16="http://schemas.microsoft.com/office/drawing/2014/main" id="{CE173633-5C88-40C2-A968-A68F1E3AEC66}"/>
              </a:ext>
            </a:extLst>
          </p:cNvPr>
          <p:cNvSpPr>
            <a:spLocks noGrp="1"/>
          </p:cNvSpPr>
          <p:nvPr/>
        </p:nvSpPr>
        <p:spPr>
          <a:xfrm>
            <a:off x="405003" y="276701"/>
            <a:ext cx="1138999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4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Break: 10 minutes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C537DBAD-284A-4DBF-A8B8-BB4CA6842453}"/>
              </a:ext>
            </a:extLst>
          </p:cNvPr>
          <p:cNvSpPr>
            <a:spLocks noGrp="1"/>
          </p:cNvSpPr>
          <p:nvPr/>
        </p:nvSpPr>
        <p:spPr>
          <a:xfrm>
            <a:off x="4027837" y="6534150"/>
            <a:ext cx="411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©2026 3Cloud, Proprietary &amp; Confidential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5ED229E8-E88D-4721-A9D7-A5CCFA369FCC}"/>
              </a:ext>
            </a:extLst>
          </p:cNvPr>
          <p:cNvSpPr>
            <a:spLocks noGrp="1"/>
          </p:cNvSpPr>
          <p:nvPr/>
        </p:nvSpPr>
        <p:spPr>
          <a:xfrm>
            <a:off x="10953750" y="6534150"/>
            <a:ext cx="85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>
            <a:def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20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E381E581-B21D-48C8-A5E4-8361EA25D907}"/>
              </a:ext>
            </a:extLst>
          </p:cNvPr>
          <p:cNvSpPr>
            <a:spLocks noGrp="1"/>
          </p:cNvSpPr>
          <p:nvPr/>
        </p:nvSpPr>
        <p:spPr>
          <a:xfrm>
            <a:off x="857250" y="1571625"/>
            <a:ext cx="104775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27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defPPr>
            <a:lvl1pPr>
              <a:defRPr sz="27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1pPr>
            <a:lvl2pPr>
              <a:defRPr sz="27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2pPr>
            <a:lvl3pPr>
              <a:defRPr sz="27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3pPr>
            <a:lvl4pPr>
              <a:defRPr sz="27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4pPr>
            <a:lvl5pPr>
              <a:defRPr sz="27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5pPr>
            <a:lvl6pPr>
              <a:defRPr sz="27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6pPr>
            <a:lvl7pPr>
              <a:defRPr sz="27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7pPr>
            <a:lvl8pPr>
              <a:defRPr sz="27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8pPr>
            <a:lvl9pPr>
              <a:defRPr sz="27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7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005185"/>
                </a:solidFill>
                <a:latin typeface="Calibri"/>
                <a:ea typeface="Calibri"/>
                <a:cs typeface="Calibri"/>
              </a:rPr>
              <a:t>When you return: access check and Tech Lead demonstration.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F27CCE56-1F3F-40DE-ACA3-0CD1A9B17338}"/>
              </a:ext>
            </a:extLst>
          </p:cNvPr>
          <p:cNvSpPr>
            <a:spLocks noGrp="1"/>
          </p:cNvSpPr>
          <p:nvPr/>
        </p:nvSpPr>
        <p:spPr>
          <a:xfrm>
            <a:off x="857250" y="2667000"/>
            <a:ext cx="104775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27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7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7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7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7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7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7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7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7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7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7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7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Keep your requirements notes and group number ready.</a:t>
            </a:r>
          </a:p>
        </p:txBody>
      </p:sp>
    </p:spTree>
    <p:extLst>
      <p:ext uri="{BB962C8B-B14F-4D97-AF65-F5344CB8AC3E}">
        <p14:creationId xmlns:p14="http://schemas.microsoft.com/office/powerpoint/2010/main" val="17945465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">
            <a:extLst>
              <a:ext uri="{FF2B5EF4-FFF2-40B4-BE49-F238E27FC236}">
                <a16:creationId xmlns:a16="http://schemas.microsoft.com/office/drawing/2014/main" id="{D5B0A632-CDFF-4456-8C63-2CB59D2DF84C}"/>
              </a:ext>
            </a:extLst>
          </p:cNvPr>
          <p:cNvSpPr>
            <a:spLocks noGrp="1"/>
          </p:cNvSpPr>
          <p:nvPr/>
        </p:nvSpPr>
        <p:spPr>
          <a:xfrm>
            <a:off x="405003" y="276701"/>
            <a:ext cx="1138999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4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Technical foundation demo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767FFA59-864C-41E5-A3F0-D9A783F2A34C}"/>
              </a:ext>
            </a:extLst>
          </p:cNvPr>
          <p:cNvSpPr>
            <a:spLocks noGrp="1"/>
          </p:cNvSpPr>
          <p:nvPr/>
        </p:nvSpPr>
        <p:spPr>
          <a:xfrm>
            <a:off x="4027837" y="6534150"/>
            <a:ext cx="411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©2026 3Cloud, Proprietary &amp; Confidential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6EA9D0E1-BE85-4BDE-AF08-10DB2F348D9C}"/>
              </a:ext>
            </a:extLst>
          </p:cNvPr>
          <p:cNvSpPr>
            <a:spLocks noGrp="1"/>
          </p:cNvSpPr>
          <p:nvPr/>
        </p:nvSpPr>
        <p:spPr>
          <a:xfrm>
            <a:off x="10953750" y="6534150"/>
            <a:ext cx="85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>
            <a:def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21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26242A99-ECE6-40BA-B85D-160F34CB03A1}"/>
              </a:ext>
            </a:extLst>
          </p:cNvPr>
          <p:cNvSpPr>
            <a:spLocks noGrp="1"/>
          </p:cNvSpPr>
          <p:nvPr/>
        </p:nvSpPr>
        <p:spPr>
          <a:xfrm>
            <a:off x="590550" y="1381125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Show the CSV contract, assigned store, source Volume and target schema.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2FB0511C-89F6-4E84-8D96-829071067387}"/>
              </a:ext>
            </a:extLst>
          </p:cNvPr>
          <p:cNvSpPr>
            <a:spLocks noGrp="1"/>
          </p:cNvSpPr>
          <p:nvPr/>
        </p:nvSpPr>
        <p:spPr>
          <a:xfrm>
            <a:off x="590550" y="2247900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Explain per-store Bronze and Silver tables, then one consolidated Gold table.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EA6187DF-3789-41C9-B420-A89AFC97D76C}"/>
              </a:ext>
            </a:extLst>
          </p:cNvPr>
          <p:cNvSpPr>
            <a:spLocks noGrp="1"/>
          </p:cNvSpPr>
          <p:nvPr/>
        </p:nvSpPr>
        <p:spPr>
          <a:xfrm>
            <a:off x="590550" y="3114675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Select Spark compute. Confirm Volume access and target-table permissions.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58F343BB-D6A7-48E2-88FE-A78AEF2E9937}"/>
              </a:ext>
            </a:extLst>
          </p:cNvPr>
          <p:cNvSpPr>
            <a:spLocks noGrp="1"/>
          </p:cNvSpPr>
          <p:nvPr/>
        </p:nvSpPr>
        <p:spPr>
          <a:xfrm>
            <a:off x="590550" y="3981450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Set store and target_schema. Bronze adds the country folder to source_path.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FD5ADED4-25FA-4B91-83E8-2A646C2D7332}"/>
              </a:ext>
            </a:extLst>
          </p:cNvPr>
          <p:cNvSpPr>
            <a:spLocks noGrp="1"/>
          </p:cNvSpPr>
          <p:nvPr/>
        </p:nvSpPr>
        <p:spPr>
          <a:xfrm>
            <a:off x="590550" y="4848225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Run Bronze, Silver and Gold in order. Git and secret retrieval are optional follow-up topics.</a:t>
            </a:r>
          </a:p>
        </p:txBody>
      </p:sp>
    </p:spTree>
    <p:extLst>
      <p:ext uri="{BB962C8B-B14F-4D97-AF65-F5344CB8AC3E}">
        <p14:creationId xmlns:p14="http://schemas.microsoft.com/office/powerpoint/2010/main" val="19202616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80E81-4396-2573-0E4D-F404C3AB9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lang="en-PH" dirty="0" sz="3000"/>
              <a:t>Workshop architecture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989799-632E-6412-2644-8DF7F735D3FE}"/>
              </a:ext>
            </a:extLst>
          </p:cNvPr>
          <p:cNvSpPr>
            <a:spLocks noGrp="1"/>
          </p:cNvSpPr>
          <p:nvPr>
            <p:ph type="sldNum" idx="16"/>
          </p:nvPr>
        </p:nvSpPr>
        <p:spPr/>
        <p:txBody>
          <a:bodyPr wrap="square"/>
          <a:lstStyle/>
          <a:p>
            <a:r>
              <a:t>22</a:t>
            </a:r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C37888-B7A4-9E20-E150-90A70B736699}"/>
              </a:ext>
            </a:extLst>
          </p:cNvPr>
          <p:cNvSpPr>
            <a:spLocks noGrp="1"/>
          </p:cNvSpPr>
          <p:nvPr>
            <p:ph type="ftr" idx="15"/>
          </p:nvPr>
        </p:nvSpPr>
        <p:spPr/>
        <p:txBody>
          <a:bodyPr/>
          <a:lstStyle/>
          <a:p>
            <a:r>
              <a:rPr lang="en-PH"/>
              <a:t>©2026 3Cloud, Proprietary &amp; Confidential 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463040"/>
            <a:ext cx="10972800" cy="640080"/>
          </a:xfrm>
          <a:prstGeom prst="rect">
            <a:avLst/>
          </a:prstGeom>
          <a:solidFill>
            <a:srgbClr val="E8F3F8"/>
          </a:solidFill>
          <a:ln>
            <a:solidFill>
              <a:srgbClr val="0873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100">
                <a:solidFill>
                  <a:srgbClr val="153B50"/>
                </a:solidFill>
                <a:latin typeface="Aptos"/>
              </a:rPr>
              <a:t>Business delivery: CSV by email or network drive. Direct POS access is unavailable.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743200"/>
            <a:ext cx="2468880" cy="1371600"/>
          </a:xfrm>
          <a:prstGeom prst="rect">
            <a:avLst/>
          </a:prstGeom>
          <a:solidFill>
            <a:srgbClr val="E8F3F8"/>
          </a:solidFill>
          <a:ln>
            <a:solidFill>
              <a:srgbClr val="0873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100">
                <a:solidFill>
                  <a:srgbClr val="153B50"/>
                </a:solidFill>
                <a:latin typeface="Aptos"/>
              </a:rPr>
              <a:t>Volume staging</a:t>
            </a:r>
          </a:p>
          <a:p>
            <a:r>
              <a:rPr sz="2100">
                <a:solidFill>
                  <a:srgbClr val="153B50"/>
                </a:solidFill>
                <a:latin typeface="Aptos"/>
              </a:rPr>
              <a:t>Instructor uploads</a:t>
            </a:r>
          </a:p>
          <a:p>
            <a:r>
              <a:rPr sz="2100">
                <a:solidFill>
                  <a:srgbClr val="153B50"/>
                </a:solidFill>
                <a:latin typeface="Aptos"/>
              </a:rPr>
              <a:t>7 store CSVs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32004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/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2743200"/>
            <a:ext cx="2468880" cy="1371600"/>
          </a:xfrm>
          <a:prstGeom prst="rect">
            <a:avLst/>
          </a:prstGeom>
          <a:solidFill>
            <a:srgbClr val="E8F3F8"/>
          </a:solidFill>
          <a:ln>
            <a:solidFill>
              <a:srgbClr val="0873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100">
                <a:solidFill>
                  <a:srgbClr val="153B50"/>
                </a:solidFill>
                <a:latin typeface="Aptos"/>
              </a:rPr>
              <a:t>Bronze</a:t>
            </a:r>
          </a:p>
          <a:p>
            <a:r>
              <a:rPr sz="2100">
                <a:solidFill>
                  <a:srgbClr val="153B50"/>
                </a:solidFill>
                <a:latin typeface="Aptos"/>
              </a:rPr>
              <a:t>Raw strings</a:t>
            </a:r>
          </a:p>
          <a:p>
            <a:r>
              <a:rPr sz="2100">
                <a:solidFill>
                  <a:srgbClr val="153B50"/>
                </a:solidFill>
                <a:latin typeface="Aptos"/>
              </a:rPr>
              <a:t>One table per store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32004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/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743200"/>
            <a:ext cx="2468880" cy="1371600"/>
          </a:xfrm>
          <a:prstGeom prst="rect">
            <a:avLst/>
          </a:prstGeom>
          <a:solidFill>
            <a:srgbClr val="E8F3F8"/>
          </a:solidFill>
          <a:ln>
            <a:solidFill>
              <a:srgbClr val="0873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100">
                <a:solidFill>
                  <a:srgbClr val="153B50"/>
                </a:solidFill>
                <a:latin typeface="Aptos"/>
              </a:rPr>
              <a:t>Silver</a:t>
            </a:r>
          </a:p>
          <a:p>
            <a:r>
              <a:rPr sz="2100">
                <a:solidFill>
                  <a:srgbClr val="153B50"/>
                </a:solidFill>
                <a:latin typeface="Aptos"/>
              </a:rPr>
              <a:t>Typed records</a:t>
            </a:r>
          </a:p>
          <a:p>
            <a:r>
              <a:rPr sz="2100">
                <a:solidFill>
                  <a:srgbClr val="153B50"/>
                </a:solidFill>
                <a:latin typeface="Aptos"/>
              </a:rPr>
              <a:t>PHP sales + NY 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32004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/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52560" y="2743200"/>
            <a:ext cx="2468880" cy="1371600"/>
          </a:xfrm>
          <a:prstGeom prst="rect">
            <a:avLst/>
          </a:prstGeom>
          <a:solidFill>
            <a:srgbClr val="E8F3F8"/>
          </a:solidFill>
          <a:ln>
            <a:solidFill>
              <a:srgbClr val="0873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100">
                <a:solidFill>
                  <a:srgbClr val="153B50"/>
                </a:solidFill>
                <a:latin typeface="Aptos"/>
              </a:rPr>
              <a:t>Gold</a:t>
            </a:r>
          </a:p>
          <a:p>
            <a:r>
              <a:rPr sz="2100">
                <a:solidFill>
                  <a:srgbClr val="153B50"/>
                </a:solidFill>
                <a:latin typeface="Aptos"/>
              </a:rPr>
              <a:t>One detail table</a:t>
            </a:r>
          </a:p>
          <a:p>
            <a:r>
              <a:rPr sz="2100">
                <a:solidFill>
                  <a:srgbClr val="153B50"/>
                </a:solidFill>
                <a:latin typeface="Aptos"/>
              </a:rPr>
              <a:t>Summary queries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663440"/>
            <a:ext cx="10972800" cy="914400"/>
          </a:xfrm>
          <a:prstGeom prst="rect">
            <a:avLst/>
          </a:prstGeom>
          <a:solidFill>
            <a:srgbClr val="E8F3F8"/>
          </a:solidFill>
          <a:ln>
            <a:solidFill>
              <a:srgbClr val="0873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>
                <a:solidFill>
                  <a:srgbClr val="153B50"/>
                </a:solidFill>
                <a:latin typeface="Aptos"/>
              </a:rPr>
              <a:t>One-store group: 3 tables. Instructor all-store schema: 7 Bronze + 7 Silver + 1 Gold.</a:t>
            </a:r>
          </a:p>
          <a:p>
            <a:r>
              <a:rPr sz="2000">
                <a:solidFill>
                  <a:srgbClr val="153B50"/>
                </a:solidFill>
                <a:latin typeface="Aptos"/>
              </a:rPr>
              <a:t>Students query the Gold table; a published dashboard is follow-up work.</a:t>
            </a:r>
          </a:p>
        </p:txBody>
      </p:sp>
    </p:spTree>
    <p:extLst>
      <p:ext uri="{BB962C8B-B14F-4D97-AF65-F5344CB8AC3E}">
        <p14:creationId xmlns:p14="http://schemas.microsoft.com/office/powerpoint/2010/main" val="430464536"/>
      </p:ext>
    </p:extLst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" name="text">
            <a:extLst>
              <a:ext uri="{FF2B5EF4-FFF2-40B4-BE49-F238E27FC236}">
                <a16:creationId xmlns:a16="http://schemas.microsoft.com/office/drawing/2014/main" id="{116F58EF-6F35-4727-B213-7380AE9A97B3}"/>
              </a:ext>
            </a:extLst>
          </p:cNvPr>
          <p:cNvSpPr>
            <a:spLocks noGrp="1"/>
          </p:cNvSpPr>
          <p:nvPr/>
        </p:nvSpPr>
        <p:spPr>
          <a:xfrm>
            <a:off x="405003" y="276701"/>
            <a:ext cx="1138999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>
            <a:def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30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Sales rules and expected results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4CA9E2DC-AE51-4C5D-BB14-D5990C903F42}"/>
              </a:ext>
            </a:extLst>
          </p:cNvPr>
          <p:cNvSpPr>
            <a:spLocks noGrp="1"/>
          </p:cNvSpPr>
          <p:nvPr/>
        </p:nvSpPr>
        <p:spPr>
          <a:xfrm>
            <a:off x="4027837" y="6534150"/>
            <a:ext cx="411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©2026 3Cloud, Proprietary &amp; Confidential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5DD38DE3-6715-47D9-8ED5-81CC30B2BD79}"/>
              </a:ext>
            </a:extLst>
          </p:cNvPr>
          <p:cNvSpPr>
            <a:spLocks noGrp="1"/>
          </p:cNvSpPr>
          <p:nvPr/>
        </p:nvSpPr>
        <p:spPr>
          <a:xfrm>
            <a:off x="10953750" y="6534150"/>
            <a:ext cx="85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>
            <a:def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23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95E70924-017E-4C9B-8B7C-DE3CC3B2B833}"/>
              </a:ext>
            </a:extLst>
          </p:cNvPr>
          <p:cNvSpPr>
            <a:spLocks noGrp="1"/>
          </p:cNvSpPr>
          <p:nvPr/>
        </p:nvSpPr>
        <p:spPr>
          <a:xfrm>
            <a:off x="590550" y="1381125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One row is one single-product order. Keep COMPLETED and CANCELLED records.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ED9A8ABC-C484-487C-969A-1000177A0BCF}"/>
              </a:ext>
            </a:extLst>
          </p:cNvPr>
          <p:cNvSpPr>
            <a:spLocks noGrp="1"/>
          </p:cNvSpPr>
          <p:nvPr/>
        </p:nvSpPr>
        <p:spPr>
          <a:xfrm>
            <a:off x="590550" y="2247900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Completed local sales = quantity × unit_price − whole-order discount.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6F2B24AE-FF89-4192-AFEE-F187BC188EE1}"/>
              </a:ext>
            </a:extLst>
          </p:cNvPr>
          <p:cNvSpPr>
            <a:spLocks noGrp="1"/>
          </p:cNvSpPr>
          <p:nvPr/>
        </p:nvSpPr>
        <p:spPr>
          <a:xfrm>
            <a:off x="590550" y="3114675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PHP sales = local net sales × fixed FX rate, rounded to two decimals per order.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ECB0332F-25DC-4D3C-825E-13E78DFF4682}"/>
              </a:ext>
            </a:extLst>
          </p:cNvPr>
          <p:cNvSpPr>
            <a:spLocks noGrp="1"/>
          </p:cNvSpPr>
          <p:nvPr/>
        </p:nvSpPr>
        <p:spPr>
          <a:xfrm>
            <a:off x="590550" y="3981450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FX to PHP: PHP 1; USD 60; KRW 0.04. Tax is excluded; refunds are not supplied.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E90B9D95-F3CF-45CF-8561-5AC14D35BF19}"/>
              </a:ext>
            </a:extLst>
          </p:cNvPr>
          <p:cNvSpPr>
            <a:spLocks noGrp="1"/>
          </p:cNvSpPr>
          <p:nvPr/>
        </p:nvSpPr>
        <p:spPr>
          <a:xfrm>
            <a:off x="590550" y="4848225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All-store archive: 25,824 orders; 24,747 completed; PHP 16,618,027.50 net sales.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" name="text">
            <a:extLst>
              <a:ext uri="{FF2B5EF4-FFF2-40B4-BE49-F238E27FC236}">
                <a16:creationId xmlns:a16="http://schemas.microsoft.com/office/drawing/2014/main" id="{18B77D79-FFFF-47B8-9165-4DB2CED4D695}"/>
              </a:ext>
            </a:extLst>
          </p:cNvPr>
          <p:cNvSpPr>
            <a:spLocks noGrp="1"/>
          </p:cNvSpPr>
          <p:nvPr/>
        </p:nvSpPr>
        <p:spPr>
          <a:xfrm>
            <a:off x="405003" y="276701"/>
            <a:ext cx="1138999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>
            <a:def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30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Workshop scope and reporting limits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41D05318-3A27-40E0-B48C-DC4BE90370F0}"/>
              </a:ext>
            </a:extLst>
          </p:cNvPr>
          <p:cNvSpPr>
            <a:spLocks noGrp="1"/>
          </p:cNvSpPr>
          <p:nvPr/>
        </p:nvSpPr>
        <p:spPr>
          <a:xfrm>
            <a:off x="4027837" y="6534150"/>
            <a:ext cx="411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©2026 3Cloud, Proprietary &amp; Confidential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9DDB7649-F65D-44C5-8D3E-F69687CA3227}"/>
              </a:ext>
            </a:extLst>
          </p:cNvPr>
          <p:cNvSpPr>
            <a:spLocks noGrp="1"/>
          </p:cNvSpPr>
          <p:nvPr/>
        </p:nvSpPr>
        <p:spPr>
          <a:xfrm>
            <a:off x="10953750" y="6534150"/>
            <a:ext cx="85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>
            <a:def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24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497BCAB4-698C-4C24-88A2-0477F3096EE9}"/>
              </a:ext>
            </a:extLst>
          </p:cNvPr>
          <p:cNvSpPr>
            <a:spLocks noGrp="1"/>
          </p:cNvSpPr>
          <p:nvPr/>
        </p:nvSpPr>
        <p:spPr>
          <a:xfrm>
            <a:off x="590550" y="1381125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Today: a fixed seven-day archive. Data is already clean; validate it before writing.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6BC5496C-66FF-4117-933B-3B111543CC85}"/>
              </a:ext>
            </a:extLst>
          </p:cNvPr>
          <p:cNvSpPr>
            <a:spLocks noGrp="1"/>
          </p:cNvSpPr>
          <p:nvPr/>
        </p:nvSpPr>
        <p:spPr>
          <a:xfrm>
            <a:off x="590550" y="2247900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At 8 a.m. New York, the previous day is provisional under Asian midnight exports.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E8301D52-64DE-47AE-B370-B788071F6764}"/>
              </a:ext>
            </a:extLst>
          </p:cNvPr>
          <p:cNvSpPr>
            <a:spLocks noGrp="1"/>
          </p:cNvSpPr>
          <p:nvPr/>
        </p:nvSpPr>
        <p:spPr>
          <a:xfrm>
            <a:off x="590550" y="3114675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In this archive, October 19–24 have complete global New York date coverage.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4EFE5561-42C0-4D92-9769-1D45EBD2D365}"/>
              </a:ext>
            </a:extLst>
          </p:cNvPr>
          <p:cNvSpPr>
            <a:spLocks noGrp="1"/>
          </p:cNvSpPr>
          <p:nvPr/>
        </p:nvSpPr>
        <p:spPr>
          <a:xfrm>
            <a:off x="590550" y="3981450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Backlog: scheduled delivery, completeness flags, alerts and incremental history.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9D5594A5-F3AC-4CB2-B372-F2BF57685587}"/>
              </a:ext>
            </a:extLst>
          </p:cNvPr>
          <p:cNvSpPr>
            <a:spLocks noGrp="1"/>
          </p:cNvSpPr>
          <p:nvPr/>
        </p:nvSpPr>
        <p:spPr>
          <a:xfrm>
            <a:off x="590550" y="4848225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Backlog: corrected files, refunds, real tax rules, approved FX and a dashboard.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">
            <a:extLst>
              <a:ext uri="{FF2B5EF4-FFF2-40B4-BE49-F238E27FC236}">
                <a16:creationId xmlns:a16="http://schemas.microsoft.com/office/drawing/2014/main" id="{FF8FADDF-A5D2-4C94-882D-0F964DEAA561}"/>
              </a:ext>
            </a:extLst>
          </p:cNvPr>
          <p:cNvSpPr>
            <a:spLocks noGrp="1"/>
          </p:cNvSpPr>
          <p:nvPr/>
        </p:nvSpPr>
        <p:spPr>
          <a:xfrm>
            <a:off x="405003" y="276701"/>
            <a:ext cx="1138999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4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Engineering habits during the lab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D0BBA691-BA6F-4DC2-B12C-0E0FB779AF4C}"/>
              </a:ext>
            </a:extLst>
          </p:cNvPr>
          <p:cNvSpPr>
            <a:spLocks noGrp="1"/>
          </p:cNvSpPr>
          <p:nvPr/>
        </p:nvSpPr>
        <p:spPr>
          <a:xfrm>
            <a:off x="4027837" y="6534150"/>
            <a:ext cx="411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©2026 3Cloud, Proprietary &amp; Confidential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CB6BF6F9-220B-4D37-8C24-5B9306C8FA59}"/>
              </a:ext>
            </a:extLst>
          </p:cNvPr>
          <p:cNvSpPr>
            <a:spLocks noGrp="1"/>
          </p:cNvSpPr>
          <p:nvPr/>
        </p:nvSpPr>
        <p:spPr>
          <a:xfrm>
            <a:off x="10953750" y="6534150"/>
            <a:ext cx="85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>
            <a:def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25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C94EE4B3-BBA8-427F-B195-BA36F6C7F9F8}"/>
              </a:ext>
            </a:extLst>
          </p:cNvPr>
          <p:cNvSpPr>
            <a:spLocks noGrp="1"/>
          </p:cNvSpPr>
          <p:nvPr/>
        </p:nvSpPr>
        <p:spPr>
          <a:xfrm>
            <a:off x="590550" y="1381125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KISS: use the simplest logic that satisfies the requirement.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DF6A0F37-A2D2-4DCA-A04B-2EA5726096C2}"/>
              </a:ext>
            </a:extLst>
          </p:cNvPr>
          <p:cNvSpPr>
            <a:spLocks noGrp="1"/>
          </p:cNvSpPr>
          <p:nvPr/>
        </p:nvSpPr>
        <p:spPr>
          <a:xfrm>
            <a:off x="590550" y="2247900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Give variables, tables and functions clear names.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1A8A971F-6521-4C9B-A7EB-BA6EDD3AD678}"/>
              </a:ext>
            </a:extLst>
          </p:cNvPr>
          <p:cNvSpPr>
            <a:spLocks noGrp="1"/>
          </p:cNvSpPr>
          <p:nvPr/>
        </p:nvSpPr>
        <p:spPr>
          <a:xfrm>
            <a:off x="590550" y="3114675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Keep source paths and table names in configuration.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266EAD61-F38D-4010-A4C6-4F48615C9F72}"/>
              </a:ext>
            </a:extLst>
          </p:cNvPr>
          <p:cNvSpPr>
            <a:spLocks noGrp="1"/>
          </p:cNvSpPr>
          <p:nvPr/>
        </p:nvSpPr>
        <p:spPr>
          <a:xfrm>
            <a:off x="590550" y="3981450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Extract repeated logic into a small function when useful.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D623F099-26B8-46EE-8F62-8182B9C4D159}"/>
              </a:ext>
            </a:extLst>
          </p:cNvPr>
          <p:cNvSpPr>
            <a:spLocks noGrp="1"/>
          </p:cNvSpPr>
          <p:nvPr/>
        </p:nvSpPr>
        <p:spPr>
          <a:xfrm>
            <a:off x="590550" y="4848225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Review generated code and explain every transformation.</a:t>
            </a:r>
          </a:p>
        </p:txBody>
      </p:sp>
    </p:spTree>
    <p:extLst>
      <p:ext uri="{BB962C8B-B14F-4D97-AF65-F5344CB8AC3E}">
        <p14:creationId xmlns:p14="http://schemas.microsoft.com/office/powerpoint/2010/main" val="14760790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">
            <a:extLst>
              <a:ext uri="{FF2B5EF4-FFF2-40B4-BE49-F238E27FC236}">
                <a16:creationId xmlns:a16="http://schemas.microsoft.com/office/drawing/2014/main" id="{116F58EF-6F35-4727-B213-7380AE9A97B3}"/>
              </a:ext>
            </a:extLst>
          </p:cNvPr>
          <p:cNvSpPr>
            <a:spLocks noGrp="1"/>
          </p:cNvSpPr>
          <p:nvPr/>
        </p:nvSpPr>
        <p:spPr>
          <a:xfrm>
            <a:off x="405003" y="276701"/>
            <a:ext cx="1138999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4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User story breakdown activity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4CA9E2DC-AE51-4C5D-BB14-D5990C903F42}"/>
              </a:ext>
            </a:extLst>
          </p:cNvPr>
          <p:cNvSpPr>
            <a:spLocks noGrp="1"/>
          </p:cNvSpPr>
          <p:nvPr/>
        </p:nvSpPr>
        <p:spPr>
          <a:xfrm>
            <a:off x="4027837" y="6534150"/>
            <a:ext cx="411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©2026 3Cloud, Proprietary &amp; Confidential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5DD38DE3-6715-47D9-8ED5-81CC30B2BD79}"/>
              </a:ext>
            </a:extLst>
          </p:cNvPr>
          <p:cNvSpPr>
            <a:spLocks noGrp="1"/>
          </p:cNvSpPr>
          <p:nvPr/>
        </p:nvSpPr>
        <p:spPr>
          <a:xfrm>
            <a:off x="10953750" y="6534150"/>
            <a:ext cx="85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>
            <a:def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26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95E70924-017E-4C9B-8B7C-DE3CC3B2B833}"/>
              </a:ext>
            </a:extLst>
          </p:cNvPr>
          <p:cNvSpPr>
            <a:spLocks noGrp="1"/>
          </p:cNvSpPr>
          <p:nvPr/>
        </p:nvSpPr>
        <p:spPr>
          <a:xfrm>
            <a:off x="590550" y="1381125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Break B01 into tasks with a clear owner and output.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ED9A8ABC-C484-487C-969A-1000177A0BCF}"/>
              </a:ext>
            </a:extLst>
          </p:cNvPr>
          <p:cNvSpPr>
            <a:spLocks noGrp="1"/>
          </p:cNvSpPr>
          <p:nvPr/>
        </p:nvSpPr>
        <p:spPr>
          <a:xfrm>
            <a:off x="590550" y="2247900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Include access checks, implementation, validation and review.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6F2B24AE-FF89-4192-AFEE-F187BC188EE1}"/>
              </a:ext>
            </a:extLst>
          </p:cNvPr>
          <p:cNvSpPr>
            <a:spLocks noGrp="1"/>
          </p:cNvSpPr>
          <p:nvPr/>
        </p:nvSpPr>
        <p:spPr>
          <a:xfrm>
            <a:off x="590550" y="3114675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Identify what could block each task.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ECB0332F-25DC-4D3C-825E-13E78DFF4682}"/>
              </a:ext>
            </a:extLst>
          </p:cNvPr>
          <p:cNvSpPr>
            <a:spLocks noGrp="1"/>
          </p:cNvSpPr>
          <p:nvPr/>
        </p:nvSpPr>
        <p:spPr>
          <a:xfrm>
            <a:off x="590550" y="3981450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One group presents its breakdown in two minutes.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E90B9D95-F3CF-45CF-8561-5AC14D35BF19}"/>
              </a:ext>
            </a:extLst>
          </p:cNvPr>
          <p:cNvSpPr>
            <a:spLocks noGrp="1"/>
          </p:cNvSpPr>
          <p:nvPr/>
        </p:nvSpPr>
        <p:spPr>
          <a:xfrm>
            <a:off x="590550" y="4848225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The room checks whether every acceptance criterion has a task.</a:t>
            </a:r>
          </a:p>
        </p:txBody>
      </p:sp>
    </p:spTree>
    <p:extLst>
      <p:ext uri="{BB962C8B-B14F-4D97-AF65-F5344CB8AC3E}">
        <p14:creationId xmlns:p14="http://schemas.microsoft.com/office/powerpoint/2010/main" val="10231840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">
            <a:extLst>
              <a:ext uri="{FF2B5EF4-FFF2-40B4-BE49-F238E27FC236}">
                <a16:creationId xmlns:a16="http://schemas.microsoft.com/office/drawing/2014/main" id="{18B77D79-FFFF-47B8-9165-4DB2CED4D695}"/>
              </a:ext>
            </a:extLst>
          </p:cNvPr>
          <p:cNvSpPr>
            <a:spLocks noGrp="1"/>
          </p:cNvSpPr>
          <p:nvPr/>
        </p:nvSpPr>
        <p:spPr>
          <a:xfrm>
            <a:off x="405003" y="276701"/>
            <a:ext cx="1138999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4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B01: Bronze acceptance criteria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41D05318-3A27-40E0-B48C-DC4BE90370F0}"/>
              </a:ext>
            </a:extLst>
          </p:cNvPr>
          <p:cNvSpPr>
            <a:spLocks noGrp="1"/>
          </p:cNvSpPr>
          <p:nvPr/>
        </p:nvSpPr>
        <p:spPr>
          <a:xfrm>
            <a:off x="4027837" y="6534150"/>
            <a:ext cx="411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©2026 3Cloud, Proprietary &amp; Confidential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9DDB7649-F65D-44C5-8D3E-F69687CA3227}"/>
              </a:ext>
            </a:extLst>
          </p:cNvPr>
          <p:cNvSpPr>
            <a:spLocks noGrp="1"/>
          </p:cNvSpPr>
          <p:nvPr/>
        </p:nvSpPr>
        <p:spPr>
          <a:xfrm>
            <a:off x="10953750" y="6534150"/>
            <a:ext cx="85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>
            <a:def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27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497BCAB4-698C-4C24-88A2-0477F3096EE9}"/>
              </a:ext>
            </a:extLst>
          </p:cNvPr>
          <p:cNvSpPr>
            <a:spLocks noGrp="1"/>
          </p:cNvSpPr>
          <p:nvPr/>
        </p:nvSpPr>
        <p:spPr>
          <a:xfrm>
            <a:off x="590550" y="1381125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All 14 expected source columns exist in the supplied order.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6BC5496C-66FF-4117-933B-3B111543CC85}"/>
              </a:ext>
            </a:extLst>
          </p:cNvPr>
          <p:cNvSpPr>
            <a:spLocks noGrp="1"/>
          </p:cNvSpPr>
          <p:nvPr/>
        </p:nvSpPr>
        <p:spPr>
          <a:xfrm>
            <a:off x="590550" y="2247900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Preserve every selected store row. The seven-store total is 25,824.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E8301D52-64DE-47AE-B370-B788071F6764}"/>
              </a:ext>
            </a:extLst>
          </p:cNvPr>
          <p:cNvSpPr>
            <a:spLocks noGrp="1"/>
          </p:cNvSpPr>
          <p:nvPr/>
        </p:nvSpPr>
        <p:spPr>
          <a:xfrm>
            <a:off x="590550" y="3114675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Keep raw business fields as strings, including local amounts and timestamps.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4EFE5561-42C0-4D92-9769-1D45EBD2D365}"/>
              </a:ext>
            </a:extLst>
          </p:cNvPr>
          <p:cNvSpPr>
            <a:spLocks noGrp="1"/>
          </p:cNvSpPr>
          <p:nvPr/>
        </p:nvSpPr>
        <p:spPr>
          <a:xfrm>
            <a:off x="590550" y="3981450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Add source_file, source_path and ingested_at_utc to every row.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9D5594A5-F3AC-4CB2-B372-F2BF57685587}"/>
              </a:ext>
            </a:extLst>
          </p:cNvPr>
          <p:cNvSpPr>
            <a:spLocks noGrp="1"/>
          </p:cNvSpPr>
          <p:nvPr/>
        </p:nvSpPr>
        <p:spPr>
          <a:xfrm>
            <a:off x="590550" y="4848225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Rerunning the same batch preserves the selected store count without duplication.</a:t>
            </a:r>
          </a:p>
        </p:txBody>
      </p:sp>
    </p:spTree>
    <p:extLst>
      <p:ext uri="{BB962C8B-B14F-4D97-AF65-F5344CB8AC3E}">
        <p14:creationId xmlns:p14="http://schemas.microsoft.com/office/powerpoint/2010/main" val="1495025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">
            <a:extLst>
              <a:ext uri="{FF2B5EF4-FFF2-40B4-BE49-F238E27FC236}">
                <a16:creationId xmlns:a16="http://schemas.microsoft.com/office/drawing/2014/main" id="{17D62A9A-3915-4666-81EB-DC07B28A0C43}"/>
              </a:ext>
            </a:extLst>
          </p:cNvPr>
          <p:cNvSpPr>
            <a:spLocks noGrp="1"/>
          </p:cNvSpPr>
          <p:nvPr/>
        </p:nvSpPr>
        <p:spPr>
          <a:xfrm>
            <a:off x="405003" y="276701"/>
            <a:ext cx="1138999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4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Bronze lab: 25 minutes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95159C75-C991-4960-8A57-DCA4FB9F8B21}"/>
              </a:ext>
            </a:extLst>
          </p:cNvPr>
          <p:cNvSpPr>
            <a:spLocks noGrp="1"/>
          </p:cNvSpPr>
          <p:nvPr/>
        </p:nvSpPr>
        <p:spPr>
          <a:xfrm>
            <a:off x="4027837" y="6534150"/>
            <a:ext cx="411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©2026 3Cloud, Proprietary &amp; Confidential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36695E33-707B-4DA9-9E51-CB36A4DE6695}"/>
              </a:ext>
            </a:extLst>
          </p:cNvPr>
          <p:cNvSpPr>
            <a:spLocks noGrp="1"/>
          </p:cNvSpPr>
          <p:nvPr/>
        </p:nvSpPr>
        <p:spPr>
          <a:xfrm>
            <a:off x="10953750" y="6534150"/>
            <a:ext cx="85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>
            <a:def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28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00B0524C-8A0D-4A78-A593-512D91561406}"/>
              </a:ext>
            </a:extLst>
          </p:cNvPr>
          <p:cNvSpPr>
            <a:spLocks noGrp="1"/>
          </p:cNvSpPr>
          <p:nvPr/>
        </p:nvSpPr>
        <p:spPr>
          <a:xfrm>
            <a:off x="590550" y="1381125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Set store and target_schema. Read the CSV from the shared source Volume.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0F21AA23-C6A7-445A-93E9-47905D5DF592}"/>
              </a:ext>
            </a:extLst>
          </p:cNvPr>
          <p:cNvSpPr>
            <a:spLocks noGrp="1"/>
          </p:cNvSpPr>
          <p:nvPr/>
        </p:nvSpPr>
        <p:spPr>
          <a:xfrm>
            <a:off x="590550" y="2247900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Check the 14 column names against the source contract.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A0C5DFF9-63E9-4295-8382-7CECC9EE966F}"/>
              </a:ext>
            </a:extLst>
          </p:cNvPr>
          <p:cNvSpPr>
            <a:spLocks noGrp="1"/>
          </p:cNvSpPr>
          <p:nvPr/>
        </p:nvSpPr>
        <p:spPr>
          <a:xfrm>
            <a:off x="590550" y="3114675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Add source_file, source_path and ingested_at_utc without changing values.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FF4F2A6C-11A9-44D9-B9B5-CB237D5AF042}"/>
              </a:ext>
            </a:extLst>
          </p:cNvPr>
          <p:cNvSpPr>
            <a:spLocks noGrp="1"/>
          </p:cNvSpPr>
          <p:nvPr/>
        </p:nvSpPr>
        <p:spPr>
          <a:xfrm>
            <a:off x="590550" y="3981450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Write ec_bronze_&lt;store&gt; in your assigned group schema.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EB8724E5-F58E-48DD-A72A-F95D7D0FFDA0}"/>
              </a:ext>
            </a:extLst>
          </p:cNvPr>
          <p:cNvSpPr>
            <a:spLocks noGrp="1"/>
          </p:cNvSpPr>
          <p:nvPr/>
        </p:nvSpPr>
        <p:spPr>
          <a:xfrm>
            <a:off x="590550" y="4848225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Compare source values and counts. Capture evidence before and after rerun.</a:t>
            </a:r>
          </a:p>
        </p:txBody>
      </p:sp>
    </p:spTree>
    <p:extLst>
      <p:ext uri="{BB962C8B-B14F-4D97-AF65-F5344CB8AC3E}">
        <p14:creationId xmlns:p14="http://schemas.microsoft.com/office/powerpoint/2010/main" val="9225477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">
            <a:extLst>
              <a:ext uri="{FF2B5EF4-FFF2-40B4-BE49-F238E27FC236}">
                <a16:creationId xmlns:a16="http://schemas.microsoft.com/office/drawing/2014/main" id="{37DF929C-F959-4DA8-9098-D9BEDC7EB7C2}"/>
              </a:ext>
            </a:extLst>
          </p:cNvPr>
          <p:cNvSpPr>
            <a:spLocks noGrp="1"/>
          </p:cNvSpPr>
          <p:nvPr/>
        </p:nvSpPr>
        <p:spPr>
          <a:xfrm>
            <a:off x="405003" y="276701"/>
            <a:ext cx="1138999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4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Break: 10 minutes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FE9935AA-9317-4D28-B23F-6A355B68E26D}"/>
              </a:ext>
            </a:extLst>
          </p:cNvPr>
          <p:cNvSpPr>
            <a:spLocks noGrp="1"/>
          </p:cNvSpPr>
          <p:nvPr/>
        </p:nvSpPr>
        <p:spPr>
          <a:xfrm>
            <a:off x="4027837" y="6534150"/>
            <a:ext cx="411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©2026 3Cloud, Proprietary &amp; Confidential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402586AA-4FF6-4635-A946-5EF5781336CE}"/>
              </a:ext>
            </a:extLst>
          </p:cNvPr>
          <p:cNvSpPr>
            <a:spLocks noGrp="1"/>
          </p:cNvSpPr>
          <p:nvPr/>
        </p:nvSpPr>
        <p:spPr>
          <a:xfrm>
            <a:off x="10953750" y="6534150"/>
            <a:ext cx="85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>
            <a:def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29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6B2BF8C0-F914-4BAC-9576-0396F28846EB}"/>
              </a:ext>
            </a:extLst>
          </p:cNvPr>
          <p:cNvSpPr>
            <a:spLocks noGrp="1"/>
          </p:cNvSpPr>
          <p:nvPr/>
        </p:nvSpPr>
        <p:spPr>
          <a:xfrm>
            <a:off x="857250" y="1571625"/>
            <a:ext cx="104775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>
            <a:defPPr>
              <a:defRPr sz="27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defPPr>
            <a:lvl1pPr>
              <a:defRPr sz="27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1pPr>
            <a:lvl2pPr>
              <a:defRPr sz="27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2pPr>
            <a:lvl3pPr>
              <a:defRPr sz="27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3pPr>
            <a:lvl4pPr>
              <a:defRPr sz="27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4pPr>
            <a:lvl5pPr>
              <a:defRPr sz="27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5pPr>
            <a:lvl6pPr>
              <a:defRPr sz="27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6pPr>
            <a:lvl7pPr>
              <a:defRPr sz="27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7pPr>
            <a:lvl8pPr>
              <a:defRPr sz="27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8pPr>
            <a:lvl9pPr>
              <a:defRPr sz="27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7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pPr>
            <a:r>
              <a:rPr sz="2800" b="1">
                <a:solidFill>
                  <a:srgbClr val="005185"/>
                </a:solidFill>
                <a:latin typeface="Calibri"/>
                <a:ea typeface="Calibri"/>
                <a:cs typeface="Calibri"/>
              </a:rPr>
              <a:t>Next: type validation, New York reporting dates and PHP conversion.</a:t>
            </a:r>
          </a:p>
        </p:txBody>
      </p:sp>
    </p:spTree>
    <p:extLst>
      <p:ext uri="{BB962C8B-B14F-4D97-AF65-F5344CB8AC3E}">
        <p14:creationId xmlns:p14="http://schemas.microsoft.com/office/powerpoint/2010/main" val="9215666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">
            <a:extLst>
              <a:ext uri="{FF2B5EF4-FFF2-40B4-BE49-F238E27FC236}">
                <a16:creationId xmlns:a16="http://schemas.microsoft.com/office/drawing/2014/main" id="{72B6C423-5937-4962-831D-B6B78E2A8353}"/>
              </a:ext>
            </a:extLst>
          </p:cNvPr>
          <p:cNvSpPr>
            <a:spLocks noGrp="1"/>
          </p:cNvSpPr>
          <p:nvPr/>
        </p:nvSpPr>
        <p:spPr>
          <a:xfrm>
            <a:off x="405003" y="276701"/>
            <a:ext cx="1138999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4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S01: Silver acceptance criteria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80ABB094-3163-4AB5-A72B-ADE2D0D45347}"/>
              </a:ext>
            </a:extLst>
          </p:cNvPr>
          <p:cNvSpPr>
            <a:spLocks noGrp="1"/>
          </p:cNvSpPr>
          <p:nvPr/>
        </p:nvSpPr>
        <p:spPr>
          <a:xfrm>
            <a:off x="4027837" y="6534150"/>
            <a:ext cx="411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©2026 3Cloud, Proprietary &amp; Confidential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790C0A28-4ADD-4CEA-A7EC-DD131247320C}"/>
              </a:ext>
            </a:extLst>
          </p:cNvPr>
          <p:cNvSpPr>
            <a:spLocks noGrp="1"/>
          </p:cNvSpPr>
          <p:nvPr/>
        </p:nvSpPr>
        <p:spPr>
          <a:xfrm>
            <a:off x="10953750" y="6534150"/>
            <a:ext cx="85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>
            <a:def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30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EDFE0D6B-A21E-4EBE-8F06-E9371B1D681A}"/>
              </a:ext>
            </a:extLst>
          </p:cNvPr>
          <p:cNvSpPr>
            <a:spLocks noGrp="1"/>
          </p:cNvSpPr>
          <p:nvPr/>
        </p:nvSpPr>
        <p:spPr>
          <a:xfrm>
            <a:off x="590550" y="1381125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Preserve the Bronze count and require unique transaction IDs.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46BC24B9-1755-4646-942D-9C30FE6B2EBF}"/>
              </a:ext>
            </a:extLst>
          </p:cNvPr>
          <p:cNvSpPr>
            <a:spLocks noGrp="1"/>
          </p:cNvSpPr>
          <p:nvPr/>
        </p:nvSpPr>
        <p:spPr>
          <a:xfrm>
            <a:off x="590550" y="2247900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Validate required fields, types, dates, quantities, discounts and statuses.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83A1E9CD-078F-4D4A-A528-3CC8404578CE}"/>
              </a:ext>
            </a:extLst>
          </p:cNvPr>
          <p:cNvSpPr>
            <a:spLocks noGrp="1"/>
          </p:cNvSpPr>
          <p:nvPr/>
        </p:nvSpPr>
        <p:spPr>
          <a:xfrm>
            <a:off x="590550" y="3114675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Retain local values. Derive UTC timestamps and New York reporting dates.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34B2D568-7902-4BB4-80E2-B95CBB32296A}"/>
              </a:ext>
            </a:extLst>
          </p:cNvPr>
          <p:cNvSpPr>
            <a:spLocks noGrp="1"/>
          </p:cNvSpPr>
          <p:nvPr/>
        </p:nvSpPr>
        <p:spPr>
          <a:xfrm>
            <a:off x="590550" y="3981450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Calculate net sales after discounts, convert to PHP and round per order.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79F3EB4E-2A1D-42BA-A094-5390AD77F2BA}"/>
              </a:ext>
            </a:extLst>
          </p:cNvPr>
          <p:cNvSpPr>
            <a:spLocks noGrp="1"/>
          </p:cNvSpPr>
          <p:nvPr/>
        </p:nvSpPr>
        <p:spPr>
          <a:xfrm>
            <a:off x="590550" y="4848225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Keep cancellations with zero sales. Fail before writing if validation fails.</a:t>
            </a:r>
          </a:p>
        </p:txBody>
      </p:sp>
    </p:spTree>
    <p:extLst>
      <p:ext uri="{BB962C8B-B14F-4D97-AF65-F5344CB8AC3E}">
        <p14:creationId xmlns:p14="http://schemas.microsoft.com/office/powerpoint/2010/main" val="15895710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">
            <a:extLst>
              <a:ext uri="{FF2B5EF4-FFF2-40B4-BE49-F238E27FC236}">
                <a16:creationId xmlns:a16="http://schemas.microsoft.com/office/drawing/2014/main" id="{E6A019AA-07B2-49AE-A8BA-0A684A25DB92}"/>
              </a:ext>
            </a:extLst>
          </p:cNvPr>
          <p:cNvSpPr>
            <a:spLocks noGrp="1"/>
          </p:cNvSpPr>
          <p:nvPr/>
        </p:nvSpPr>
        <p:spPr>
          <a:xfrm>
            <a:off x="405003" y="276701"/>
            <a:ext cx="1138999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4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Silver lab: 30 minutes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67F0BDFB-6DFA-48A0-81EA-55C847D6D94A}"/>
              </a:ext>
            </a:extLst>
          </p:cNvPr>
          <p:cNvSpPr>
            <a:spLocks noGrp="1"/>
          </p:cNvSpPr>
          <p:nvPr/>
        </p:nvSpPr>
        <p:spPr>
          <a:xfrm>
            <a:off x="4027837" y="6534150"/>
            <a:ext cx="411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©2026 3Cloud, Proprietary &amp; Confidential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D32D3265-E70C-4E7A-ACAE-B0796DADC195}"/>
              </a:ext>
            </a:extLst>
          </p:cNvPr>
          <p:cNvSpPr>
            <a:spLocks noGrp="1"/>
          </p:cNvSpPr>
          <p:nvPr/>
        </p:nvSpPr>
        <p:spPr>
          <a:xfrm>
            <a:off x="10953750" y="6534150"/>
            <a:ext cx="85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>
            <a:def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31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99923944-9770-45B7-8ED5-262BDB72F4EC}"/>
              </a:ext>
            </a:extLst>
          </p:cNvPr>
          <p:cNvSpPr>
            <a:spLocks noGrp="1"/>
          </p:cNvSpPr>
          <p:nvPr/>
        </p:nvSpPr>
        <p:spPr>
          <a:xfrm>
            <a:off x="590550" y="1381125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Read ec_bronze_&lt;store&gt;; validate the source contract and selected store.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28B11CE6-2233-4C2C-9CA3-B662DD7E920A}"/>
              </a:ext>
            </a:extLst>
          </p:cNvPr>
          <p:cNvSpPr>
            <a:spLocks noGrp="1"/>
          </p:cNvSpPr>
          <p:nvPr/>
        </p:nvSpPr>
        <p:spPr>
          <a:xfrm>
            <a:off x="590550" y="2247900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Convert dates, quantity, unit_price and discount_amount to agreed types.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1E596C1B-D0C7-4E74-9E2D-596DAD75D9E6}"/>
              </a:ext>
            </a:extLst>
          </p:cNvPr>
          <p:cNvSpPr>
            <a:spLocks noGrp="1"/>
          </p:cNvSpPr>
          <p:nvPr/>
        </p:nvSpPr>
        <p:spPr>
          <a:xfrm>
            <a:off x="590550" y="3114675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Derive timestamp_utc and report_date_ny using the store time zone.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F14E3906-E485-430B-BC71-B03478E5C724}"/>
              </a:ext>
            </a:extLst>
          </p:cNvPr>
          <p:cNvSpPr>
            <a:spLocks noGrp="1"/>
          </p:cNvSpPr>
          <p:nvPr/>
        </p:nvSpPr>
        <p:spPr>
          <a:xfrm>
            <a:off x="590550" y="3981450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Calculate net_sales_php with fixed FX rates; cancellations contribute zero.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4806AEE8-04DC-4D8F-B30A-AE947CC4B684}"/>
              </a:ext>
            </a:extLst>
          </p:cNvPr>
          <p:cNvSpPr>
            <a:spLocks noGrp="1"/>
          </p:cNvSpPr>
          <p:nvPr/>
        </p:nvSpPr>
        <p:spPr>
          <a:xfrm>
            <a:off x="590550" y="4848225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Write ec_silver_&lt;store&gt;. Check counts, keys, conversions and saved values.</a:t>
            </a:r>
          </a:p>
        </p:txBody>
      </p:sp>
    </p:spTree>
    <p:extLst>
      <p:ext uri="{BB962C8B-B14F-4D97-AF65-F5344CB8AC3E}">
        <p14:creationId xmlns:p14="http://schemas.microsoft.com/office/powerpoint/2010/main" val="8398977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">
            <a:extLst>
              <a:ext uri="{FF2B5EF4-FFF2-40B4-BE49-F238E27FC236}">
                <a16:creationId xmlns:a16="http://schemas.microsoft.com/office/drawing/2014/main" id="{6EA2015F-E5B0-4CCE-A09C-4B984F1A90FF}"/>
              </a:ext>
            </a:extLst>
          </p:cNvPr>
          <p:cNvSpPr>
            <a:spLocks noGrp="1"/>
          </p:cNvSpPr>
          <p:nvPr/>
        </p:nvSpPr>
        <p:spPr>
          <a:xfrm>
            <a:off x="405003" y="276701"/>
            <a:ext cx="1138999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4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G01: Gold acceptance criteria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1FCC8339-FBD6-4658-B4D2-FCA92066519E}"/>
              </a:ext>
            </a:extLst>
          </p:cNvPr>
          <p:cNvSpPr>
            <a:spLocks noGrp="1"/>
          </p:cNvSpPr>
          <p:nvPr/>
        </p:nvSpPr>
        <p:spPr>
          <a:xfrm>
            <a:off x="4027837" y="6534150"/>
            <a:ext cx="411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©2026 3Cloud, Proprietary &amp; Confidential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73E584CC-B997-4F79-B55A-2C75021C5BAB}"/>
              </a:ext>
            </a:extLst>
          </p:cNvPr>
          <p:cNvSpPr>
            <a:spLocks noGrp="1"/>
          </p:cNvSpPr>
          <p:nvPr/>
        </p:nvSpPr>
        <p:spPr>
          <a:xfrm>
            <a:off x="10953750" y="6534150"/>
            <a:ext cx="85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>
            <a:def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32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42CD0824-AE44-481E-81FD-4B09BA6A2834}"/>
              </a:ext>
            </a:extLst>
          </p:cNvPr>
          <p:cNvSpPr>
            <a:spLocks noGrp="1"/>
          </p:cNvSpPr>
          <p:nvPr/>
        </p:nvSpPr>
        <p:spPr>
          <a:xfrm>
            <a:off x="590550" y="1381125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Save ONE ec_gold_sales table at store_id + transaction_id grain.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280AF13F-C846-4F55-9281-3385C10F8E13}"/>
              </a:ext>
            </a:extLst>
          </p:cNvPr>
          <p:cNvSpPr>
            <a:spLocks noGrp="1"/>
          </p:cNvSpPr>
          <p:nvPr/>
        </p:nvSpPr>
        <p:spPr>
          <a:xfrm>
            <a:off x="590550" y="2247900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Retain all selected Silver rows, including cancelled orders.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5B2C4D00-0475-46AE-82DE-F57767E25C4E}"/>
              </a:ext>
            </a:extLst>
          </p:cNvPr>
          <p:cNvSpPr>
            <a:spLocks noGrp="1"/>
          </p:cNvSpPr>
          <p:nvPr/>
        </p:nvSpPr>
        <p:spPr>
          <a:xfrm>
            <a:off x="590550" y="3114675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Use net_sales_php. Add units_sold, completed_orders and cancelled_orders.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F39FDA1E-B1E4-4430-99DA-2F8E3E1FABEA}"/>
              </a:ext>
            </a:extLst>
          </p:cNvPr>
          <p:cNvSpPr>
            <a:spLocks noGrp="1"/>
          </p:cNvSpPr>
          <p:nvPr/>
        </p:nvSpPr>
        <p:spPr>
          <a:xfrm>
            <a:off x="590550" y="3981450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Cancellations contribute zero sales, sold units and completed-order counts.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40CFCE4B-A7EC-4C75-A41E-7D1D4D36773E}"/>
              </a:ext>
            </a:extLst>
          </p:cNvPr>
          <p:cNvSpPr>
            <a:spLocks noGrp="1"/>
          </p:cNvSpPr>
          <p:nvPr/>
        </p:nvSpPr>
        <p:spPr>
          <a:xfrm>
            <a:off x="590550" y="4848225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Reconcile counts and totals with Silver; reruns preserve business results.</a:t>
            </a:r>
          </a:p>
        </p:txBody>
      </p:sp>
    </p:spTree>
    <p:extLst>
      <p:ext uri="{BB962C8B-B14F-4D97-AF65-F5344CB8AC3E}">
        <p14:creationId xmlns:p14="http://schemas.microsoft.com/office/powerpoint/2010/main" val="16273607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">
            <a:extLst>
              <a:ext uri="{FF2B5EF4-FFF2-40B4-BE49-F238E27FC236}">
                <a16:creationId xmlns:a16="http://schemas.microsoft.com/office/drawing/2014/main" id="{AE5FE8CF-FD84-4F50-8E73-CC20472E3197}"/>
              </a:ext>
            </a:extLst>
          </p:cNvPr>
          <p:cNvSpPr>
            <a:spLocks noGrp="1"/>
          </p:cNvSpPr>
          <p:nvPr/>
        </p:nvSpPr>
        <p:spPr>
          <a:xfrm>
            <a:off x="405003" y="276701"/>
            <a:ext cx="1138999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4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Gold lab: 25 minutes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3F72EA82-82FD-4A56-A8F9-4C08A14B5E10}"/>
              </a:ext>
            </a:extLst>
          </p:cNvPr>
          <p:cNvSpPr>
            <a:spLocks noGrp="1"/>
          </p:cNvSpPr>
          <p:nvPr/>
        </p:nvSpPr>
        <p:spPr>
          <a:xfrm>
            <a:off x="4027837" y="6534150"/>
            <a:ext cx="411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©2026 3Cloud, Proprietary &amp; Confidential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98ED431D-739E-46F6-84F8-257251F964CE}"/>
              </a:ext>
            </a:extLst>
          </p:cNvPr>
          <p:cNvSpPr>
            <a:spLocks noGrp="1"/>
          </p:cNvSpPr>
          <p:nvPr/>
        </p:nvSpPr>
        <p:spPr>
          <a:xfrm>
            <a:off x="10953750" y="6534150"/>
            <a:ext cx="85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>
            <a:def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33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9D83A466-7739-4204-8042-3A0279F2E0F3}"/>
              </a:ext>
            </a:extLst>
          </p:cNvPr>
          <p:cNvSpPr>
            <a:spLocks noGrp="1"/>
          </p:cNvSpPr>
          <p:nvPr/>
        </p:nvSpPr>
        <p:spPr>
          <a:xfrm>
            <a:off x="590550" y="1381125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Select your assigned store. ALL requires seven Silver tables in one schema.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1513330E-91EB-4A71-9266-C85A346F344E}"/>
              </a:ext>
            </a:extLst>
          </p:cNvPr>
          <p:cNvSpPr>
            <a:spLocks noGrp="1"/>
          </p:cNvSpPr>
          <p:nvPr/>
        </p:nvSpPr>
        <p:spPr>
          <a:xfrm>
            <a:off x="590550" y="2247900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Combine selected Silver tables and add reporting measures. Do not reconvert FX.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59AA8910-0DC0-4E72-B8B7-12ED009D57DB}"/>
              </a:ext>
            </a:extLst>
          </p:cNvPr>
          <p:cNvSpPr>
            <a:spLocks noGrp="1"/>
          </p:cNvSpPr>
          <p:nvPr/>
        </p:nvSpPr>
        <p:spPr>
          <a:xfrm>
            <a:off x="590550" y="3114675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Write one Gold table. A single-store refresh replaces only that store.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46AC5313-2029-40FE-A299-E55574CCF925}"/>
              </a:ext>
            </a:extLst>
          </p:cNvPr>
          <p:cNvSpPr>
            <a:spLocks noGrp="1"/>
          </p:cNvSpPr>
          <p:nvPr/>
        </p:nvSpPr>
        <p:spPr>
          <a:xfrm>
            <a:off x="590550" y="3981450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Query sales by New York day, store, country and product. No extra tables.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23DF3B97-561C-46B5-AD22-3B64132CFF13}"/>
              </a:ext>
            </a:extLst>
          </p:cNvPr>
          <p:cNvSpPr>
            <a:spLocks noGrp="1"/>
          </p:cNvSpPr>
          <p:nvPr/>
        </p:nvSpPr>
        <p:spPr>
          <a:xfrm>
            <a:off x="590550" y="4848225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Compare with VALIDATION.md. Capture reconciliation and rerun evidence.</a:t>
            </a:r>
          </a:p>
        </p:txBody>
      </p:sp>
    </p:spTree>
    <p:extLst>
      <p:ext uri="{BB962C8B-B14F-4D97-AF65-F5344CB8AC3E}">
        <p14:creationId xmlns:p14="http://schemas.microsoft.com/office/powerpoint/2010/main" val="13603328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">
            <a:extLst>
              <a:ext uri="{FF2B5EF4-FFF2-40B4-BE49-F238E27FC236}">
                <a16:creationId xmlns:a16="http://schemas.microsoft.com/office/drawing/2014/main" id="{0E45726C-B536-417C-85ED-07C50C872171}"/>
              </a:ext>
            </a:extLst>
          </p:cNvPr>
          <p:cNvSpPr>
            <a:spLocks noGrp="1"/>
          </p:cNvSpPr>
          <p:nvPr/>
        </p:nvSpPr>
        <p:spPr>
          <a:xfrm>
            <a:off x="405003" y="276701"/>
            <a:ext cx="1138999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4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Quality checks across the layers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9F6A86D3-0048-4907-8F4E-10B11CB580AC}"/>
              </a:ext>
            </a:extLst>
          </p:cNvPr>
          <p:cNvSpPr>
            <a:spLocks noGrp="1"/>
          </p:cNvSpPr>
          <p:nvPr/>
        </p:nvSpPr>
        <p:spPr>
          <a:xfrm>
            <a:off x="4027837" y="6534150"/>
            <a:ext cx="411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©2026 3Cloud, Proprietary &amp; Confidential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1DB61E7C-6F67-4382-A176-31FB4B59CF83}"/>
              </a:ext>
            </a:extLst>
          </p:cNvPr>
          <p:cNvSpPr>
            <a:spLocks noGrp="1"/>
          </p:cNvSpPr>
          <p:nvPr/>
        </p:nvSpPr>
        <p:spPr>
          <a:xfrm>
            <a:off x="10953750" y="6534150"/>
            <a:ext cx="85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>
            <a:def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34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61CE2933-6C38-4F9C-BEFE-47166724BB02}"/>
              </a:ext>
            </a:extLst>
          </p:cNvPr>
          <p:cNvSpPr>
            <a:spLocks noGrp="1"/>
          </p:cNvSpPr>
          <p:nvPr/>
        </p:nvSpPr>
        <p:spPr>
          <a:xfrm>
            <a:off x="590550" y="1381125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Bronze: schema, source traceability and complete record counts.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6A8B6512-AFBD-4ACE-BEA8-0A49EEC58B50}"/>
              </a:ext>
            </a:extLst>
          </p:cNvPr>
          <p:cNvSpPr>
            <a:spLocks noGrp="1"/>
          </p:cNvSpPr>
          <p:nvPr/>
        </p:nvSpPr>
        <p:spPr>
          <a:xfrm>
            <a:off x="590550" y="2247900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Silver: valid types, business rules and unique keys.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0C7202B4-F556-4CA2-935E-7E07881DEA12}"/>
              </a:ext>
            </a:extLst>
          </p:cNvPr>
          <p:cNvSpPr>
            <a:spLocks noGrp="1"/>
          </p:cNvSpPr>
          <p:nvPr/>
        </p:nvSpPr>
        <p:spPr>
          <a:xfrm>
            <a:off x="590550" y="3114675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Gold: correct grain, metric definition and reconciled totals.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136F4CB6-7FEA-4810-93F5-88E49661EA35}"/>
              </a:ext>
            </a:extLst>
          </p:cNvPr>
          <p:cNvSpPr>
            <a:spLocks noGrp="1"/>
          </p:cNvSpPr>
          <p:nvPr/>
        </p:nvSpPr>
        <p:spPr>
          <a:xfrm>
            <a:off x="590550" y="3981450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Pipeline: failure visibility and safe reruns.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6B655BDB-E9E0-4AAF-88CD-012EE600D7FD}"/>
              </a:ext>
            </a:extLst>
          </p:cNvPr>
          <p:cNvSpPr>
            <a:spLocks noGrp="1"/>
          </p:cNvSpPr>
          <p:nvPr/>
        </p:nvSpPr>
        <p:spPr>
          <a:xfrm>
            <a:off x="590550" y="4848225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A passing cell is useful evidence only when it tests the requirement.</a:t>
            </a:r>
          </a:p>
        </p:txBody>
      </p:sp>
    </p:spTree>
    <p:extLst>
      <p:ext uri="{BB962C8B-B14F-4D97-AF65-F5344CB8AC3E}">
        <p14:creationId xmlns:p14="http://schemas.microsoft.com/office/powerpoint/2010/main" val="141232535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">
            <a:extLst>
              <a:ext uri="{FF2B5EF4-FFF2-40B4-BE49-F238E27FC236}">
                <a16:creationId xmlns:a16="http://schemas.microsoft.com/office/drawing/2014/main" id="{8D817718-CD99-45A4-ADDD-D96473A2E8B5}"/>
              </a:ext>
            </a:extLst>
          </p:cNvPr>
          <p:cNvSpPr>
            <a:spLocks noGrp="1"/>
          </p:cNvSpPr>
          <p:nvPr/>
        </p:nvSpPr>
        <p:spPr>
          <a:xfrm>
            <a:off x="405003" y="276701"/>
            <a:ext cx="1138999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4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Break: 5 minutes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87462683-61FD-481F-9598-BAF580E09CCC}"/>
              </a:ext>
            </a:extLst>
          </p:cNvPr>
          <p:cNvSpPr>
            <a:spLocks noGrp="1"/>
          </p:cNvSpPr>
          <p:nvPr/>
        </p:nvSpPr>
        <p:spPr>
          <a:xfrm>
            <a:off x="4027837" y="6534150"/>
            <a:ext cx="411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©2026 3Cloud, Proprietary &amp; Confidential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CE40EF87-92A5-4B75-BC41-C21666B77F3F}"/>
              </a:ext>
            </a:extLst>
          </p:cNvPr>
          <p:cNvSpPr>
            <a:spLocks noGrp="1"/>
          </p:cNvSpPr>
          <p:nvPr/>
        </p:nvSpPr>
        <p:spPr>
          <a:xfrm>
            <a:off x="10953750" y="6534150"/>
            <a:ext cx="85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>
            <a:def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35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F6584A66-DFDE-4F04-BA45-EC69FC265AC7}"/>
              </a:ext>
            </a:extLst>
          </p:cNvPr>
          <p:cNvSpPr>
            <a:spLocks noGrp="1"/>
          </p:cNvSpPr>
          <p:nvPr/>
        </p:nvSpPr>
        <p:spPr>
          <a:xfrm>
            <a:off x="857250" y="1571625"/>
            <a:ext cx="104775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27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defPPr>
            <a:lvl1pPr>
              <a:defRPr sz="27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1pPr>
            <a:lvl2pPr>
              <a:defRPr sz="27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2pPr>
            <a:lvl3pPr>
              <a:defRPr sz="27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3pPr>
            <a:lvl4pPr>
              <a:defRPr sz="27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4pPr>
            <a:lvl5pPr>
              <a:defRPr sz="27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5pPr>
            <a:lvl6pPr>
              <a:defRPr sz="27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6pPr>
            <a:lvl7pPr>
              <a:defRPr sz="27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7pPr>
            <a:lvl8pPr>
              <a:defRPr sz="27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8pPr>
            <a:lvl9pPr>
              <a:defRPr sz="27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7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005185"/>
                </a:solidFill>
                <a:latin typeface="Calibri"/>
                <a:ea typeface="Calibri"/>
                <a:cs typeface="Calibri"/>
              </a:rPr>
              <a:t>Prepare a two-minute demonstration with your group.</a:t>
            </a:r>
          </a:p>
        </p:txBody>
      </p:sp>
    </p:spTree>
    <p:extLst>
      <p:ext uri="{BB962C8B-B14F-4D97-AF65-F5344CB8AC3E}">
        <p14:creationId xmlns:p14="http://schemas.microsoft.com/office/powerpoint/2010/main" val="199479715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">
            <a:extLst>
              <a:ext uri="{FF2B5EF4-FFF2-40B4-BE49-F238E27FC236}">
                <a16:creationId xmlns:a16="http://schemas.microsoft.com/office/drawing/2014/main" id="{9D147436-248F-46B9-A1A8-826C33DAF0C5}"/>
              </a:ext>
            </a:extLst>
          </p:cNvPr>
          <p:cNvSpPr>
            <a:spLocks noGrp="1"/>
          </p:cNvSpPr>
          <p:nvPr/>
        </p:nvSpPr>
        <p:spPr>
          <a:xfrm>
            <a:off x="405003" y="276701"/>
            <a:ext cx="1138999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4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Retrospective and next steps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5933AF3D-B811-47AC-AB2F-73B0D0A7089E}"/>
              </a:ext>
            </a:extLst>
          </p:cNvPr>
          <p:cNvSpPr>
            <a:spLocks noGrp="1"/>
          </p:cNvSpPr>
          <p:nvPr/>
        </p:nvSpPr>
        <p:spPr>
          <a:xfrm>
            <a:off x="4027837" y="6534150"/>
            <a:ext cx="411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©2026 3Cloud, Proprietary &amp; Confidential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83202A22-1417-4D1F-9022-8D09BC8AB79B}"/>
              </a:ext>
            </a:extLst>
          </p:cNvPr>
          <p:cNvSpPr>
            <a:spLocks noGrp="1"/>
          </p:cNvSpPr>
          <p:nvPr/>
        </p:nvSpPr>
        <p:spPr>
          <a:xfrm>
            <a:off x="10953750" y="6534150"/>
            <a:ext cx="85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>
            <a:def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36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A713927C-007D-462D-A45C-07DDF3A0E032}"/>
              </a:ext>
            </a:extLst>
          </p:cNvPr>
          <p:cNvSpPr>
            <a:spLocks noGrp="1"/>
          </p:cNvSpPr>
          <p:nvPr/>
        </p:nvSpPr>
        <p:spPr>
          <a:xfrm>
            <a:off x="590550" y="1381125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What requirement changed the way you wrote the code?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383E2F41-64A8-4ED3-8077-8681A88967A9}"/>
              </a:ext>
            </a:extLst>
          </p:cNvPr>
          <p:cNvSpPr>
            <a:spLocks noGrp="1"/>
          </p:cNvSpPr>
          <p:nvPr/>
        </p:nvSpPr>
        <p:spPr>
          <a:xfrm>
            <a:off x="590550" y="2247900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Which check gave you the most confidence?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73E2F4A5-4C09-4D0F-87D1-073A45F81583}"/>
              </a:ext>
            </a:extLst>
          </p:cNvPr>
          <p:cNvSpPr>
            <a:spLocks noGrp="1"/>
          </p:cNvSpPr>
          <p:nvPr/>
        </p:nvSpPr>
        <p:spPr>
          <a:xfrm>
            <a:off x="590550" y="3114675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What would you improve before scheduling this pipeline?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268EC0F2-5C61-4881-A5CB-2751406AC734}"/>
              </a:ext>
            </a:extLst>
          </p:cNvPr>
          <p:cNvSpPr>
            <a:spLocks noGrp="1"/>
          </p:cNvSpPr>
          <p:nvPr/>
        </p:nvSpPr>
        <p:spPr>
          <a:xfrm>
            <a:off x="590550" y="3981450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Next practice: add one new rule and its validation check.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9860AF8B-8D2E-4E4E-9F34-8C4C6DDE8354}"/>
              </a:ext>
            </a:extLst>
          </p:cNvPr>
          <p:cNvSpPr>
            <a:spLocks noGrp="1"/>
          </p:cNvSpPr>
          <p:nvPr/>
        </p:nvSpPr>
        <p:spPr>
          <a:xfrm>
            <a:off x="590550" y="4848225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Confidence comes from preparation and repeated practice.</a:t>
            </a:r>
          </a:p>
        </p:txBody>
      </p:sp>
    </p:spTree>
    <p:extLst>
      <p:ext uri="{BB962C8B-B14F-4D97-AF65-F5344CB8AC3E}">
        <p14:creationId xmlns:p14="http://schemas.microsoft.com/office/powerpoint/2010/main" val="50187386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">
            <a:extLst>
              <a:ext uri="{FF2B5EF4-FFF2-40B4-BE49-F238E27FC236}">
                <a16:creationId xmlns:a16="http://schemas.microsoft.com/office/drawing/2014/main" id="{2A69FA4B-0D48-4DF5-A171-085760D76904}"/>
              </a:ext>
            </a:extLst>
          </p:cNvPr>
          <p:cNvSpPr>
            <a:spLocks noGrp="1"/>
          </p:cNvSpPr>
          <p:nvPr/>
        </p:nvSpPr>
        <p:spPr>
          <a:xfrm>
            <a:off x="405003" y="276701"/>
            <a:ext cx="1138999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4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Thank you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7CC85563-81B9-457F-A77B-4EFE68717B13}"/>
              </a:ext>
            </a:extLst>
          </p:cNvPr>
          <p:cNvSpPr>
            <a:spLocks noGrp="1"/>
          </p:cNvSpPr>
          <p:nvPr/>
        </p:nvSpPr>
        <p:spPr>
          <a:xfrm>
            <a:off x="4027837" y="6534150"/>
            <a:ext cx="411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©2026 3Cloud, Proprietary &amp; Confidential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B834103F-3DC2-479B-A8C0-23F46E5F57F5}"/>
              </a:ext>
            </a:extLst>
          </p:cNvPr>
          <p:cNvSpPr>
            <a:spLocks noGrp="1"/>
          </p:cNvSpPr>
          <p:nvPr/>
        </p:nvSpPr>
        <p:spPr>
          <a:xfrm>
            <a:off x="10953750" y="6534150"/>
            <a:ext cx="85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wrap="square"/>
          <a:lstStyle>
            <a:def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37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3A0091B0-BB59-45FB-8B3B-52D4E0853B15}"/>
              </a:ext>
            </a:extLst>
          </p:cNvPr>
          <p:cNvSpPr>
            <a:spLocks noGrp="1"/>
          </p:cNvSpPr>
          <p:nvPr/>
        </p:nvSpPr>
        <p:spPr>
          <a:xfrm>
            <a:off x="857250" y="1571625"/>
            <a:ext cx="104775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27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defPPr>
            <a:lvl1pPr>
              <a:defRPr sz="27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1pPr>
            <a:lvl2pPr>
              <a:defRPr sz="27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2pPr>
            <a:lvl3pPr>
              <a:defRPr sz="27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3pPr>
            <a:lvl4pPr>
              <a:defRPr sz="27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4pPr>
            <a:lvl5pPr>
              <a:defRPr sz="27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5pPr>
            <a:lvl6pPr>
              <a:defRPr sz="27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6pPr>
            <a:lvl7pPr>
              <a:defRPr sz="27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7pPr>
            <a:lvl8pPr>
              <a:defRPr sz="27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8pPr>
            <a:lvl9pPr>
              <a:defRPr sz="27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7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005185"/>
                </a:solidFill>
                <a:latin typeface="Calibri"/>
                <a:ea typeface="Calibri"/>
                <a:cs typeface="Calibri"/>
              </a:rPr>
              <a:t>Day 1 is the beginning.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76C4BFE8-C9D0-4C86-95BB-4890D2809FED}"/>
              </a:ext>
            </a:extLst>
          </p:cNvPr>
          <p:cNvSpPr>
            <a:spLocks noGrp="1"/>
          </p:cNvSpPr>
          <p:nvPr/>
        </p:nvSpPr>
        <p:spPr>
          <a:xfrm>
            <a:off x="857250" y="2667000"/>
            <a:ext cx="104775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27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7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7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7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7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7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7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7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7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7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7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7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You can build, question and improve the systems you work with.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BE25CD43-D704-47F6-B29F-61A7DC76B269}"/>
              </a:ext>
            </a:extLst>
          </p:cNvPr>
          <p:cNvSpPr>
            <a:spLocks noGrp="1"/>
          </p:cNvSpPr>
          <p:nvPr/>
        </p:nvSpPr>
        <p:spPr>
          <a:xfrm>
            <a:off x="857250" y="3762375"/>
            <a:ext cx="104775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27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7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7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7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7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7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7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7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7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7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7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7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Christian Alcaria</a:t>
            </a:r>
          </a:p>
        </p:txBody>
      </p:sp>
    </p:spTree>
    <p:extLst>
      <p:ext uri="{BB962C8B-B14F-4D97-AF65-F5344CB8AC3E}">
        <p14:creationId xmlns:p14="http://schemas.microsoft.com/office/powerpoint/2010/main" val="5224635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2023 3Cloud">
      <a:dk1>
        <a:srgbClr val="58585B"/>
      </a:dk1>
      <a:lt1>
        <a:srgbClr val="FFFFFF"/>
      </a:lt1>
      <a:dk2>
        <a:srgbClr val="808285"/>
      </a:dk2>
      <a:lt2>
        <a:srgbClr val="E7E6E6"/>
      </a:lt2>
      <a:accent1>
        <a:srgbClr val="005185"/>
      </a:accent1>
      <a:accent2>
        <a:srgbClr val="008EB9"/>
      </a:accent2>
      <a:accent3>
        <a:srgbClr val="6BB7D0"/>
      </a:accent3>
      <a:accent4>
        <a:srgbClr val="739B2C"/>
      </a:accent4>
      <a:accent5>
        <a:srgbClr val="F36E44"/>
      </a:accent5>
      <a:accent6>
        <a:srgbClr val="C3235C"/>
      </a:accent6>
      <a:hlink>
        <a:srgbClr val="F36E44"/>
      </a:hlink>
      <a:folHlink>
        <a:srgbClr val="F36D44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2023 3Cloud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2023 3Cloud">
      <a:dk1>
        <a:srgbClr val="58585B"/>
      </a:dk1>
      <a:lt1>
        <a:srgbClr val="FFFFFF"/>
      </a:lt1>
      <a:dk2>
        <a:srgbClr val="808285"/>
      </a:dk2>
      <a:lt2>
        <a:srgbClr val="E7E6E6"/>
      </a:lt2>
      <a:accent1>
        <a:srgbClr val="005185"/>
      </a:accent1>
      <a:accent2>
        <a:srgbClr val="008EB9"/>
      </a:accent2>
      <a:accent3>
        <a:srgbClr val="6BB7D0"/>
      </a:accent3>
      <a:accent4>
        <a:srgbClr val="739B2C"/>
      </a:accent4>
      <a:accent5>
        <a:srgbClr val="F36E44"/>
      </a:accent5>
      <a:accent6>
        <a:srgbClr val="C3235C"/>
      </a:accent6>
      <a:hlink>
        <a:srgbClr val="F36E44"/>
      </a:hlink>
      <a:folHlink>
        <a:srgbClr val="F36D44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2023 3Cloud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1342</TotalTime>
  <Words>3259</Words>
  <Application>Microsoft Office PowerPoint</Application>
  <DocSecurity>0</DocSecurity>
  <PresentationFormat>Widescreen</PresentationFormat>
  <Paragraphs>422</Paragraphs>
  <Slides>34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Arial</vt:lpstr>
      <vt:lpstr>Calibri</vt:lpstr>
      <vt:lpstr>Calibri Light</vt:lpstr>
      <vt:lpstr>Edwardian Script ITC</vt:lpstr>
      <vt:lpstr>Office Theme</vt:lpstr>
      <vt:lpstr>Day One: Welcome to Data Engineering</vt:lpstr>
      <vt:lpstr>Your Facilitator</vt:lpstr>
      <vt:lpstr>Your Facilitator – Outside of Work</vt:lpstr>
      <vt:lpstr>About 3Cloud – A Cognizant Company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High Level Architecture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Christian Alcaria</cp:lastModifiedBy>
  <cp:revision>76</cp:revision>
  <dcterms:created xsi:type="dcterms:W3CDTF">2026-10-24T15:25:57Z</dcterms:created>
  <dcterms:modified xsi:type="dcterms:W3CDTF">2026-10-27T01:27:30Z</dcterms:modified>
</cp:coreProperties>
</file>